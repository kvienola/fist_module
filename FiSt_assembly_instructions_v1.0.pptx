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3" r:id="rId2"/>
    <p:sldId id="313" r:id="rId3"/>
    <p:sldId id="314" r:id="rId4"/>
    <p:sldId id="315" r:id="rId5"/>
    <p:sldId id="316" r:id="rId6"/>
    <p:sldId id="317" r:id="rId7"/>
    <p:sldId id="320" r:id="rId8"/>
    <p:sldId id="321" r:id="rId9"/>
    <p:sldId id="319" r:id="rId10"/>
    <p:sldId id="318"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6" r:id="rId24"/>
    <p:sldId id="334" r:id="rId25"/>
    <p:sldId id="335" r:id="rId26"/>
    <p:sldId id="337" r:id="rId27"/>
    <p:sldId id="346" r:id="rId28"/>
    <p:sldId id="340" r:id="rId29"/>
    <p:sldId id="339" r:id="rId30"/>
    <p:sldId id="341" r:id="rId31"/>
    <p:sldId id="342" r:id="rId32"/>
    <p:sldId id="343" r:id="rId33"/>
    <p:sldId id="345" r:id="rId34"/>
    <p:sldId id="347" r:id="rId35"/>
    <p:sldId id="349" r:id="rId36"/>
    <p:sldId id="350" r:id="rId37"/>
    <p:sldId id="348" r:id="rId38"/>
    <p:sldId id="351" r:id="rId39"/>
    <p:sldId id="352" r:id="rId40"/>
    <p:sldId id="353" r:id="rId41"/>
    <p:sldId id="354" r:id="rId42"/>
    <p:sldId id="355" r:id="rId43"/>
    <p:sldId id="357" r:id="rId44"/>
    <p:sldId id="358" r:id="rId45"/>
    <p:sldId id="359" r:id="rId46"/>
    <p:sldId id="360" r:id="rId47"/>
    <p:sldId id="361" r:id="rId48"/>
    <p:sldId id="365" r:id="rId49"/>
    <p:sldId id="366" r:id="rId50"/>
    <p:sldId id="368" r:id="rId51"/>
    <p:sldId id="369" r:id="rId52"/>
    <p:sldId id="367" r:id="rId53"/>
    <p:sldId id="370" r:id="rId54"/>
    <p:sldId id="364" r:id="rId55"/>
    <p:sldId id="371" r:id="rId56"/>
    <p:sldId id="373" r:id="rId57"/>
    <p:sldId id="374" r:id="rId58"/>
    <p:sldId id="375" r:id="rId59"/>
    <p:sldId id="372" r:id="rId60"/>
    <p:sldId id="376" r:id="rId61"/>
    <p:sldId id="377" r:id="rId62"/>
    <p:sldId id="378" r:id="rId63"/>
    <p:sldId id="379" r:id="rId64"/>
    <p:sldId id="380" r:id="rId65"/>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MB" initials="M" lastIdx="1" clrIdx="0">
    <p:extLst>
      <p:ext uri="{19B8F6BF-5375-455C-9EA6-DF929625EA0E}">
        <p15:presenceInfo xmlns:p15="http://schemas.microsoft.com/office/powerpoint/2012/main" userId="MMB"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9" d="100"/>
          <a:sy n="159" d="100"/>
        </p:scale>
        <p:origin x="30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l-P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l-PL"/>
          </a:p>
        </p:txBody>
      </p:sp>
      <p:sp>
        <p:nvSpPr>
          <p:cNvPr id="4" name="Date Placeholder 3"/>
          <p:cNvSpPr>
            <a:spLocks noGrp="1"/>
          </p:cNvSpPr>
          <p:nvPr>
            <p:ph type="dt" sz="half" idx="10"/>
          </p:nvPr>
        </p:nvSpPr>
        <p:spPr/>
        <p:txBody>
          <a:bodyPr/>
          <a:lstStyle/>
          <a:p>
            <a:fld id="{7D36FEDB-EF10-4C0C-9941-ADEBE3A95ECD}" type="datetimeFigureOut">
              <a:rPr lang="pl-PL" smtClean="0"/>
              <a:t>14.09.2026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885754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7D36FEDB-EF10-4C0C-9941-ADEBE3A95ECD}" type="datetimeFigureOut">
              <a:rPr lang="pl-PL" smtClean="0"/>
              <a:t>14.09.2026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2770192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l-P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D36FEDB-EF10-4C0C-9941-ADEBE3A95ECD}" type="datetimeFigureOut">
              <a:rPr lang="pl-PL" smtClean="0"/>
              <a:t>14.09.2026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574908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Date Placeholder 4"/>
          <p:cNvSpPr>
            <a:spLocks noGrp="1"/>
          </p:cNvSpPr>
          <p:nvPr>
            <p:ph type="dt" sz="half" idx="10"/>
          </p:nvPr>
        </p:nvSpPr>
        <p:spPr/>
        <p:txBody>
          <a:bodyPr/>
          <a:lstStyle/>
          <a:p>
            <a:fld id="{7D36FEDB-EF10-4C0C-9941-ADEBE3A95ECD}" type="datetimeFigureOut">
              <a:rPr lang="pl-PL" smtClean="0"/>
              <a:t>14.09.2026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218519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pl-P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7" name="Date Placeholder 6"/>
          <p:cNvSpPr>
            <a:spLocks noGrp="1"/>
          </p:cNvSpPr>
          <p:nvPr>
            <p:ph type="dt" sz="half" idx="10"/>
          </p:nvPr>
        </p:nvSpPr>
        <p:spPr/>
        <p:txBody>
          <a:bodyPr/>
          <a:lstStyle/>
          <a:p>
            <a:fld id="{7D36FEDB-EF10-4C0C-9941-ADEBE3A95ECD}" type="datetimeFigureOut">
              <a:rPr lang="pl-PL" smtClean="0"/>
              <a:t>14.09.2026</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1401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Date Placeholder 2"/>
          <p:cNvSpPr>
            <a:spLocks noGrp="1"/>
          </p:cNvSpPr>
          <p:nvPr>
            <p:ph type="dt" sz="half" idx="10"/>
          </p:nvPr>
        </p:nvSpPr>
        <p:spPr/>
        <p:txBody>
          <a:bodyPr/>
          <a:lstStyle/>
          <a:p>
            <a:fld id="{7D36FEDB-EF10-4C0C-9941-ADEBE3A95ECD}" type="datetimeFigureOut">
              <a:rPr lang="pl-PL" smtClean="0"/>
              <a:t>14.09.2026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712150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36FEDB-EF10-4C0C-9941-ADEBE3A95ECD}" type="datetimeFigureOut">
              <a:rPr lang="pl-PL" smtClean="0"/>
              <a:t>14.09.2026</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108845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36FEDB-EF10-4C0C-9941-ADEBE3A95ECD}" type="datetimeFigureOut">
              <a:rPr lang="pl-PL" smtClean="0"/>
              <a:t>14.09.2026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379987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36FEDB-EF10-4C0C-9941-ADEBE3A95ECD}" type="datetimeFigureOut">
              <a:rPr lang="pl-PL" smtClean="0"/>
              <a:t>14.09.2026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2750161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7D36FEDB-EF10-4C0C-9941-ADEBE3A95ECD}" type="datetimeFigureOut">
              <a:rPr lang="pl-PL" smtClean="0"/>
              <a:t>14.09.2026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3527262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pl-P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7D36FEDB-EF10-4C0C-9941-ADEBE3A95ECD}" type="datetimeFigureOut">
              <a:rPr lang="pl-PL" smtClean="0"/>
              <a:t>14.09.2026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37F810E9-49AD-4A00-B944-A792AE343D4A}" type="slidenum">
              <a:rPr lang="pl-PL" smtClean="0"/>
              <a:t>‹#›</a:t>
            </a:fld>
            <a:endParaRPr lang="pl-PL"/>
          </a:p>
        </p:txBody>
      </p:sp>
    </p:spTree>
    <p:extLst>
      <p:ext uri="{BB962C8B-B14F-4D97-AF65-F5344CB8AC3E}">
        <p14:creationId xmlns:p14="http://schemas.microsoft.com/office/powerpoint/2010/main" val="1214265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l-P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36FEDB-EF10-4C0C-9941-ADEBE3A95ECD}" type="datetimeFigureOut">
              <a:rPr lang="pl-PL" smtClean="0"/>
              <a:t>14.09.2026</a:t>
            </a:fld>
            <a:endParaRPr lang="pl-P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F810E9-49AD-4A00-B944-A792AE343D4A}" type="slidenum">
              <a:rPr lang="pl-PL" smtClean="0"/>
              <a:t>‹#›</a:t>
            </a:fld>
            <a:endParaRPr lang="pl-PL"/>
          </a:p>
        </p:txBody>
      </p:sp>
    </p:spTree>
    <p:extLst>
      <p:ext uri="{BB962C8B-B14F-4D97-AF65-F5344CB8AC3E}">
        <p14:creationId xmlns:p14="http://schemas.microsoft.com/office/powerpoint/2010/main" val="3728210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3.png"/><Relationship Id="rId5" Type="http://schemas.openxmlformats.org/officeDocument/2006/relationships/image" Target="../media/image58.png"/><Relationship Id="rId10" Type="http://schemas.openxmlformats.org/officeDocument/2006/relationships/image" Target="../media/image62.png"/><Relationship Id="rId4" Type="http://schemas.openxmlformats.org/officeDocument/2006/relationships/image" Target="../media/image57.png"/><Relationship Id="rId9" Type="http://schemas.openxmlformats.org/officeDocument/2006/relationships/hyperlink" Target="https://www.thorlabs.com/thorproduct.cfm?partnumber=LB1294-A"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2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86.png"/><Relationship Id="rId12" Type="http://schemas.openxmlformats.org/officeDocument/2006/relationships/hyperlink" Target="https://www.edmundoptics.com/p/75-x-75mm-protected-silver-lambda4-mirror/30799/"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49.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3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3.png"/><Relationship Id="rId7" Type="http://schemas.openxmlformats.org/officeDocument/2006/relationships/image" Target="../media/image9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89.png"/><Relationship Id="rId10" Type="http://schemas.openxmlformats.org/officeDocument/2006/relationships/image" Target="../media/image95.png"/><Relationship Id="rId4" Type="http://schemas.openxmlformats.org/officeDocument/2006/relationships/image" Target="../media/image90.png"/><Relationship Id="rId9" Type="http://schemas.openxmlformats.org/officeDocument/2006/relationships/image" Target="../media/image94.png"/></Relationships>
</file>

<file path=ppt/slides/_rels/slide31.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2.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33.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5.png"/></Relationships>
</file>

<file path=ppt/slides/_rels/slide3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7.png"/></Relationships>
</file>

<file path=ppt/slides/_rels/slide3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3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3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1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42.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4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hyperlink" Target="https://www.thorlabs.com/thorproduct.cfm?partnumber=AC254-075-A" TargetMode="External"/><Relationship Id="rId7" Type="http://schemas.openxmlformats.org/officeDocument/2006/relationships/image" Target="../media/image1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7.png"/><Relationship Id="rId11" Type="http://schemas.openxmlformats.org/officeDocument/2006/relationships/image" Target="../media/image141.png"/><Relationship Id="rId5" Type="http://schemas.openxmlformats.org/officeDocument/2006/relationships/image" Target="../media/image136.png"/><Relationship Id="rId10" Type="http://schemas.openxmlformats.org/officeDocument/2006/relationships/image" Target="../media/image62.png"/><Relationship Id="rId4" Type="http://schemas.openxmlformats.org/officeDocument/2006/relationships/hyperlink" Target="https://www.thorlabs.com/thorproduct.cfm?partnumber=CP20D" TargetMode="External"/><Relationship Id="rId9" Type="http://schemas.openxmlformats.org/officeDocument/2006/relationships/image" Target="../media/image140.png"/></Relationships>
</file>

<file path=ppt/slides/_rels/slide46.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 Id="rId9" Type="http://schemas.openxmlformats.org/officeDocument/2006/relationships/image" Target="../media/image148.png"/></Relationships>
</file>

<file path=ppt/slides/_rels/slide4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hyperlink" Target="https://www.thorlabs.com/thorproduct.cfm?partnumber=ER3-P4" TargetMode="External"/><Relationship Id="rId7" Type="http://schemas.openxmlformats.org/officeDocument/2006/relationships/hyperlink" Target="https://www.thorlabs.com/thorproduct.cfm?partnumber=SM1ZA" TargetMode="External"/><Relationship Id="rId12" Type="http://schemas.openxmlformats.org/officeDocument/2006/relationships/image" Target="../media/image15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thorlabs.com/thorproduct.cfm?partnumber=SM05SMA#ad-image-0" TargetMode="External"/><Relationship Id="rId11" Type="http://schemas.openxmlformats.org/officeDocument/2006/relationships/image" Target="../media/image151.png"/><Relationship Id="rId5" Type="http://schemas.openxmlformats.org/officeDocument/2006/relationships/hyperlink" Target="https://www.thorlabs.com/thorproduct.cfm?partnumber=CP1XY#ad-image-0" TargetMode="External"/><Relationship Id="rId10" Type="http://schemas.openxmlformats.org/officeDocument/2006/relationships/image" Target="../media/image150.png"/><Relationship Id="rId4" Type="http://schemas.openxmlformats.org/officeDocument/2006/relationships/hyperlink" Target="https://www.meetoptics.com/lenses/achromatic/aspherized-achromat/s/edmund-optics/p/49-656" TargetMode="External"/><Relationship Id="rId9" Type="http://schemas.openxmlformats.org/officeDocument/2006/relationships/image" Target="../media/image149.png"/><Relationship Id="rId14" Type="http://schemas.openxmlformats.org/officeDocument/2006/relationships/image" Target="../media/image154.png"/></Relationships>
</file>

<file path=ppt/slides/_rels/slide48.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5.png"/><Relationship Id="rId7" Type="http://schemas.openxmlformats.org/officeDocument/2006/relationships/image" Target="../media/image15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8.png"/><Relationship Id="rId5" Type="http://schemas.openxmlformats.org/officeDocument/2006/relationships/image" Target="../media/image157.png"/><Relationship Id="rId10" Type="http://schemas.openxmlformats.org/officeDocument/2006/relationships/image" Target="../media/image162.png"/><Relationship Id="rId4" Type="http://schemas.openxmlformats.org/officeDocument/2006/relationships/image" Target="../media/image156.png"/><Relationship Id="rId9" Type="http://schemas.openxmlformats.org/officeDocument/2006/relationships/image" Target="../media/image161.png"/></Relationships>
</file>

<file path=ppt/slides/_rels/slide4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4.png"/></Relationships>
</file>

<file path=ppt/slides/_rels/slide5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6.png"/></Relationships>
</file>

<file path=ppt/slides/_rels/slide5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7.png"/></Relationships>
</file>

<file path=ppt/slides/_rels/slide52.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2.png"/><Relationship Id="rId4" Type="http://schemas.openxmlformats.org/officeDocument/2006/relationships/image" Target="../media/image171.png"/></Relationships>
</file>

<file path=ppt/slides/_rels/slide5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www.thorlabs.com/thorproduct.cfm?partnumber=M45L01"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6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38200" y="276621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dirty="0"/>
              <a:t>Fixation-stimulus channel (FiS</a:t>
            </a:r>
            <a:r>
              <a:rPr lang="fi-FI" dirty="0"/>
              <a:t>t</a:t>
            </a:r>
            <a:r>
              <a:rPr lang="pl-PL" dirty="0"/>
              <a:t>)</a:t>
            </a:r>
          </a:p>
          <a:p>
            <a:pPr algn="ctr"/>
            <a:r>
              <a:rPr lang="pl-PL" sz="3200" dirty="0"/>
              <a:t>Assembly instructions</a:t>
            </a:r>
          </a:p>
          <a:p>
            <a:pPr algn="ctr"/>
            <a:endParaRPr lang="pl-PL" sz="3200" dirty="0"/>
          </a:p>
          <a:p>
            <a:pPr algn="ctr"/>
            <a:r>
              <a:rPr lang="fi-FI" sz="2400" dirty="0"/>
              <a:t>v1.0</a:t>
            </a:r>
            <a:endParaRPr lang="pl-PL" sz="2400" dirty="0"/>
          </a:p>
        </p:txBody>
      </p:sp>
    </p:spTree>
    <p:extLst>
      <p:ext uri="{BB962C8B-B14F-4D97-AF65-F5344CB8AC3E}">
        <p14:creationId xmlns:p14="http://schemas.microsoft.com/office/powerpoint/2010/main" val="120871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2"/>
          <a:stretch>
            <a:fillRect/>
          </a:stretch>
        </p:blipFill>
        <p:spPr>
          <a:xfrm>
            <a:off x="382385" y="1153790"/>
            <a:ext cx="4264429" cy="4550419"/>
          </a:xfrm>
          <a:prstGeom prst="rect">
            <a:avLst/>
          </a:prstGeom>
        </p:spPr>
      </p:pic>
      <p:sp>
        <p:nvSpPr>
          <p:cNvPr id="3" name="TextBox 2"/>
          <p:cNvSpPr txBox="1"/>
          <p:nvPr/>
        </p:nvSpPr>
        <p:spPr>
          <a:xfrm>
            <a:off x="0" y="0"/>
            <a:ext cx="4713316" cy="923330"/>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01_FDML_stimfix_mainboard</a:t>
            </a:r>
          </a:p>
          <a:p>
            <a:r>
              <a:rPr lang="pl-PL" dirty="0"/>
              <a:t>4 </a:t>
            </a:r>
            <a:r>
              <a:rPr lang="pl-PL" dirty="0">
                <a:cs typeface="Times New Roman" panose="02020603050405020304" pitchFamily="18" charset="0"/>
              </a:rPr>
              <a:t>× 02_FDML_stimfix_electronics_post_24mm</a:t>
            </a:r>
          </a:p>
          <a:p>
            <a:r>
              <a:rPr lang="pl-PL" dirty="0"/>
              <a:t>4 </a:t>
            </a:r>
            <a:r>
              <a:rPr lang="pl-PL" dirty="0">
                <a:cs typeface="Times New Roman" panose="02020603050405020304" pitchFamily="18" charset="0"/>
              </a:rPr>
              <a:t>× </a:t>
            </a:r>
            <a:r>
              <a:rPr lang="pl-PL" dirty="0"/>
              <a:t>03_FDML_stimfix_electronics_post_10mm</a:t>
            </a:r>
          </a:p>
        </p:txBody>
      </p:sp>
      <p:pic>
        <p:nvPicPr>
          <p:cNvPr id="5" name="Picture 4"/>
          <p:cNvPicPr>
            <a:picLocks noChangeAspect="1"/>
          </p:cNvPicPr>
          <p:nvPr/>
        </p:nvPicPr>
        <p:blipFill>
          <a:blip r:embed="rId3"/>
          <a:stretch>
            <a:fillRect/>
          </a:stretch>
        </p:blipFill>
        <p:spPr>
          <a:xfrm>
            <a:off x="5087389" y="2164860"/>
            <a:ext cx="684025" cy="1542618"/>
          </a:xfrm>
          <a:prstGeom prst="rect">
            <a:avLst/>
          </a:prstGeom>
        </p:spPr>
      </p:pic>
      <p:pic>
        <p:nvPicPr>
          <p:cNvPr id="8" name="Picture 7"/>
          <p:cNvPicPr>
            <a:picLocks noChangeAspect="1"/>
          </p:cNvPicPr>
          <p:nvPr/>
        </p:nvPicPr>
        <p:blipFill>
          <a:blip r:embed="rId3"/>
          <a:stretch>
            <a:fillRect/>
          </a:stretch>
        </p:blipFill>
        <p:spPr>
          <a:xfrm>
            <a:off x="5938058" y="2164860"/>
            <a:ext cx="684025" cy="1542618"/>
          </a:xfrm>
          <a:prstGeom prst="rect">
            <a:avLst/>
          </a:prstGeom>
        </p:spPr>
      </p:pic>
      <p:pic>
        <p:nvPicPr>
          <p:cNvPr id="9" name="Picture 8"/>
          <p:cNvPicPr>
            <a:picLocks noChangeAspect="1"/>
          </p:cNvPicPr>
          <p:nvPr/>
        </p:nvPicPr>
        <p:blipFill>
          <a:blip r:embed="rId3"/>
          <a:stretch>
            <a:fillRect/>
          </a:stretch>
        </p:blipFill>
        <p:spPr>
          <a:xfrm>
            <a:off x="5056519" y="3805238"/>
            <a:ext cx="684025" cy="1542618"/>
          </a:xfrm>
          <a:prstGeom prst="rect">
            <a:avLst/>
          </a:prstGeom>
        </p:spPr>
      </p:pic>
      <p:pic>
        <p:nvPicPr>
          <p:cNvPr id="10" name="Picture 9"/>
          <p:cNvPicPr>
            <a:picLocks noChangeAspect="1"/>
          </p:cNvPicPr>
          <p:nvPr/>
        </p:nvPicPr>
        <p:blipFill>
          <a:blip r:embed="rId3"/>
          <a:stretch>
            <a:fillRect/>
          </a:stretch>
        </p:blipFill>
        <p:spPr>
          <a:xfrm>
            <a:off x="5938058" y="3805238"/>
            <a:ext cx="684025" cy="1542618"/>
          </a:xfrm>
          <a:prstGeom prst="rect">
            <a:avLst/>
          </a:prstGeom>
        </p:spPr>
      </p:pic>
      <p:pic>
        <p:nvPicPr>
          <p:cNvPr id="13" name="Picture 12"/>
          <p:cNvPicPr>
            <a:picLocks noChangeAspect="1"/>
          </p:cNvPicPr>
          <p:nvPr/>
        </p:nvPicPr>
        <p:blipFill>
          <a:blip r:embed="rId4"/>
          <a:stretch>
            <a:fillRect/>
          </a:stretch>
        </p:blipFill>
        <p:spPr>
          <a:xfrm>
            <a:off x="7597303" y="2936169"/>
            <a:ext cx="493106" cy="820859"/>
          </a:xfrm>
          <a:prstGeom prst="rect">
            <a:avLst/>
          </a:prstGeom>
        </p:spPr>
      </p:pic>
      <p:pic>
        <p:nvPicPr>
          <p:cNvPr id="14" name="Picture 13"/>
          <p:cNvPicPr>
            <a:picLocks noChangeAspect="1"/>
          </p:cNvPicPr>
          <p:nvPr/>
        </p:nvPicPr>
        <p:blipFill>
          <a:blip r:embed="rId4"/>
          <a:stretch>
            <a:fillRect/>
          </a:stretch>
        </p:blipFill>
        <p:spPr>
          <a:xfrm>
            <a:off x="8201419" y="2930876"/>
            <a:ext cx="493106" cy="820859"/>
          </a:xfrm>
          <a:prstGeom prst="rect">
            <a:avLst/>
          </a:prstGeom>
        </p:spPr>
      </p:pic>
      <p:pic>
        <p:nvPicPr>
          <p:cNvPr id="15" name="Picture 14"/>
          <p:cNvPicPr>
            <a:picLocks noChangeAspect="1"/>
          </p:cNvPicPr>
          <p:nvPr/>
        </p:nvPicPr>
        <p:blipFill>
          <a:blip r:embed="rId4"/>
          <a:stretch>
            <a:fillRect/>
          </a:stretch>
        </p:blipFill>
        <p:spPr>
          <a:xfrm>
            <a:off x="7597303" y="3829556"/>
            <a:ext cx="493106" cy="820859"/>
          </a:xfrm>
          <a:prstGeom prst="rect">
            <a:avLst/>
          </a:prstGeom>
        </p:spPr>
      </p:pic>
      <p:pic>
        <p:nvPicPr>
          <p:cNvPr id="16" name="Picture 15"/>
          <p:cNvPicPr>
            <a:picLocks noChangeAspect="1"/>
          </p:cNvPicPr>
          <p:nvPr/>
        </p:nvPicPr>
        <p:blipFill>
          <a:blip r:embed="rId4"/>
          <a:stretch>
            <a:fillRect/>
          </a:stretch>
        </p:blipFill>
        <p:spPr>
          <a:xfrm>
            <a:off x="8201419" y="3829555"/>
            <a:ext cx="493106" cy="820859"/>
          </a:xfrm>
          <a:prstGeom prst="rect">
            <a:avLst/>
          </a:prstGeom>
        </p:spPr>
      </p:pic>
    </p:spTree>
    <p:extLst>
      <p:ext uri="{BB962C8B-B14F-4D97-AF65-F5344CB8AC3E}">
        <p14:creationId xmlns:p14="http://schemas.microsoft.com/office/powerpoint/2010/main" val="214256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grpSp>
        <p:nvGrpSpPr>
          <p:cNvPr id="23" name="Group 22"/>
          <p:cNvGrpSpPr/>
          <p:nvPr/>
        </p:nvGrpSpPr>
        <p:grpSpPr>
          <a:xfrm>
            <a:off x="207947" y="1477684"/>
            <a:ext cx="5329320" cy="3902632"/>
            <a:chOff x="883854" y="1881188"/>
            <a:chExt cx="4463889" cy="3268882"/>
          </a:xfrm>
        </p:grpSpPr>
        <p:pic>
          <p:nvPicPr>
            <p:cNvPr id="12" name="Picture 11"/>
            <p:cNvPicPr>
              <a:picLocks noChangeAspect="1"/>
            </p:cNvPicPr>
            <p:nvPr/>
          </p:nvPicPr>
          <p:blipFill>
            <a:blip r:embed="rId3"/>
            <a:stretch>
              <a:fillRect/>
            </a:stretch>
          </p:blipFill>
          <p:spPr>
            <a:xfrm>
              <a:off x="883854" y="1881188"/>
              <a:ext cx="4463889" cy="3268882"/>
            </a:xfrm>
            <a:prstGeom prst="rect">
              <a:avLst/>
            </a:prstGeom>
          </p:spPr>
        </p:pic>
        <p:sp>
          <p:nvSpPr>
            <p:cNvPr id="13" name="Down Arrow 12"/>
            <p:cNvSpPr/>
            <p:nvPr/>
          </p:nvSpPr>
          <p:spPr>
            <a:xfrm rot="10800000">
              <a:off x="3842698" y="4059766"/>
              <a:ext cx="90925" cy="32173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Down Arrow 13"/>
            <p:cNvSpPr/>
            <p:nvPr/>
          </p:nvSpPr>
          <p:spPr>
            <a:xfrm rot="10800000">
              <a:off x="4582521" y="3780365"/>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Down Arrow 14"/>
            <p:cNvSpPr/>
            <p:nvPr/>
          </p:nvSpPr>
          <p:spPr>
            <a:xfrm rot="10800000">
              <a:off x="4777255" y="3780365"/>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Down Arrow 15"/>
            <p:cNvSpPr/>
            <p:nvPr/>
          </p:nvSpPr>
          <p:spPr>
            <a:xfrm rot="10800000">
              <a:off x="4774054" y="4309532"/>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Down Arrow 18"/>
            <p:cNvSpPr/>
            <p:nvPr/>
          </p:nvSpPr>
          <p:spPr>
            <a:xfrm>
              <a:off x="4774054" y="3130331"/>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Down Arrow 19"/>
            <p:cNvSpPr/>
            <p:nvPr/>
          </p:nvSpPr>
          <p:spPr>
            <a:xfrm>
              <a:off x="4582520" y="3130330"/>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Down Arrow 20"/>
            <p:cNvSpPr/>
            <p:nvPr/>
          </p:nvSpPr>
          <p:spPr>
            <a:xfrm>
              <a:off x="3954732" y="3136462"/>
              <a:ext cx="86846" cy="20743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TextBox 21"/>
            <p:cNvSpPr txBox="1"/>
            <p:nvPr/>
          </p:nvSpPr>
          <p:spPr>
            <a:xfrm>
              <a:off x="3888160" y="2647163"/>
              <a:ext cx="1158215" cy="335136"/>
            </a:xfrm>
            <a:prstGeom prst="rect">
              <a:avLst/>
            </a:prstGeom>
            <a:noFill/>
          </p:spPr>
          <p:txBody>
            <a:bodyPr wrap="square" rtlCol="0">
              <a:spAutoFit/>
            </a:bodyPr>
            <a:lstStyle/>
            <a:p>
              <a:r>
                <a:rPr lang="pl-PL" sz="1000" dirty="0"/>
                <a:t>Use 8</a:t>
              </a:r>
              <a:r>
                <a:rPr lang="pl-PL" sz="1000" dirty="0">
                  <a:cs typeface="Times New Roman" panose="02020603050405020304" pitchFamily="18" charset="0"/>
                </a:rPr>
                <a:t> ×</a:t>
              </a:r>
              <a:r>
                <a:rPr lang="pl-PL" sz="1000" dirty="0"/>
                <a:t> M2 cap screws to fix the posts</a:t>
              </a:r>
            </a:p>
          </p:txBody>
        </p:sp>
      </p:grpSp>
      <p:pic>
        <p:nvPicPr>
          <p:cNvPr id="24" name="Picture 23"/>
          <p:cNvPicPr>
            <a:picLocks noChangeAspect="1"/>
          </p:cNvPicPr>
          <p:nvPr/>
        </p:nvPicPr>
        <p:blipFill>
          <a:blip r:embed="rId4"/>
          <a:stretch>
            <a:fillRect/>
          </a:stretch>
        </p:blipFill>
        <p:spPr>
          <a:xfrm>
            <a:off x="6232934" y="1500296"/>
            <a:ext cx="4519976" cy="3818496"/>
          </a:xfrm>
          <a:prstGeom prst="rect">
            <a:avLst/>
          </a:prstGeom>
        </p:spPr>
      </p:pic>
      <p:sp>
        <p:nvSpPr>
          <p:cNvPr id="26" name="Down Arrow 25"/>
          <p:cNvSpPr/>
          <p:nvPr/>
        </p:nvSpPr>
        <p:spPr>
          <a:xfrm rot="10800000">
            <a:off x="9936382" y="3841177"/>
            <a:ext cx="105966" cy="19363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Down Arrow 26"/>
          <p:cNvSpPr/>
          <p:nvPr/>
        </p:nvSpPr>
        <p:spPr>
          <a:xfrm rot="10800000">
            <a:off x="9134749" y="3841176"/>
            <a:ext cx="105966" cy="19363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Down Arrow 27"/>
          <p:cNvSpPr/>
          <p:nvPr/>
        </p:nvSpPr>
        <p:spPr>
          <a:xfrm rot="10800000">
            <a:off x="8873908" y="3973316"/>
            <a:ext cx="104400" cy="57257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Down Arrow 28"/>
          <p:cNvSpPr/>
          <p:nvPr/>
        </p:nvSpPr>
        <p:spPr>
          <a:xfrm rot="10800000">
            <a:off x="10198789" y="3973317"/>
            <a:ext cx="104400" cy="57257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271892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pic>
        <p:nvPicPr>
          <p:cNvPr id="25" name="Picture 24"/>
          <p:cNvPicPr>
            <a:picLocks noChangeAspect="1"/>
          </p:cNvPicPr>
          <p:nvPr/>
        </p:nvPicPr>
        <p:blipFill>
          <a:blip r:embed="rId3"/>
          <a:stretch>
            <a:fillRect/>
          </a:stretch>
        </p:blipFill>
        <p:spPr>
          <a:xfrm>
            <a:off x="2084471" y="1162050"/>
            <a:ext cx="7734300" cy="4533900"/>
          </a:xfrm>
          <a:prstGeom prst="rect">
            <a:avLst/>
          </a:prstGeom>
        </p:spPr>
      </p:pic>
    </p:spTree>
    <p:extLst>
      <p:ext uri="{BB962C8B-B14F-4D97-AF65-F5344CB8AC3E}">
        <p14:creationId xmlns:p14="http://schemas.microsoft.com/office/powerpoint/2010/main" val="317006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1" y="0"/>
            <a:ext cx="5147353" cy="646331"/>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PCB drive board small (comes with LCD screen)</a:t>
            </a:r>
          </a:p>
          <a:p>
            <a:r>
              <a:rPr lang="pl-PL" dirty="0"/>
              <a:t>1 </a:t>
            </a:r>
            <a:r>
              <a:rPr lang="pl-PL" dirty="0">
                <a:cs typeface="Times New Roman" panose="02020603050405020304" pitchFamily="18" charset="0"/>
              </a:rPr>
              <a:t>× </a:t>
            </a:r>
            <a:r>
              <a:rPr lang="pl-PL" dirty="0"/>
              <a:t>PCB drive board (comes with LCD screen)</a:t>
            </a:r>
          </a:p>
        </p:txBody>
      </p:sp>
      <p:pic>
        <p:nvPicPr>
          <p:cNvPr id="11" name="Picture 10"/>
          <p:cNvPicPr>
            <a:picLocks noChangeAspect="1"/>
          </p:cNvPicPr>
          <p:nvPr/>
        </p:nvPicPr>
        <p:blipFill>
          <a:blip r:embed="rId3"/>
          <a:stretch>
            <a:fillRect/>
          </a:stretch>
        </p:blipFill>
        <p:spPr>
          <a:xfrm>
            <a:off x="438825" y="1199464"/>
            <a:ext cx="4151547" cy="4459069"/>
          </a:xfrm>
          <a:prstGeom prst="rect">
            <a:avLst/>
          </a:prstGeom>
        </p:spPr>
      </p:pic>
      <p:pic>
        <p:nvPicPr>
          <p:cNvPr id="14" name="Picture 13"/>
          <p:cNvPicPr>
            <a:picLocks noChangeAspect="1"/>
          </p:cNvPicPr>
          <p:nvPr/>
        </p:nvPicPr>
        <p:blipFill>
          <a:blip r:embed="rId4"/>
          <a:stretch>
            <a:fillRect/>
          </a:stretch>
        </p:blipFill>
        <p:spPr>
          <a:xfrm>
            <a:off x="5322074" y="842960"/>
            <a:ext cx="2371725" cy="2333625"/>
          </a:xfrm>
          <a:prstGeom prst="rect">
            <a:avLst/>
          </a:prstGeom>
          <a:ln w="28575">
            <a:solidFill>
              <a:schemeClr val="tx1"/>
            </a:solidFill>
          </a:ln>
        </p:spPr>
      </p:pic>
      <p:pic>
        <p:nvPicPr>
          <p:cNvPr id="15" name="Picture 14"/>
          <p:cNvPicPr>
            <a:picLocks noChangeAspect="1"/>
          </p:cNvPicPr>
          <p:nvPr/>
        </p:nvPicPr>
        <p:blipFill>
          <a:blip r:embed="rId5"/>
          <a:stretch>
            <a:fillRect/>
          </a:stretch>
        </p:blipFill>
        <p:spPr>
          <a:xfrm>
            <a:off x="8292154" y="1795459"/>
            <a:ext cx="1819275" cy="962025"/>
          </a:xfrm>
          <a:prstGeom prst="rect">
            <a:avLst/>
          </a:prstGeom>
          <a:ln w="28575">
            <a:solidFill>
              <a:schemeClr val="tx1"/>
            </a:solidFill>
          </a:ln>
        </p:spPr>
      </p:pic>
      <p:pic>
        <p:nvPicPr>
          <p:cNvPr id="17" name="Picture 16"/>
          <p:cNvPicPr>
            <a:picLocks noChangeAspect="1"/>
          </p:cNvPicPr>
          <p:nvPr/>
        </p:nvPicPr>
        <p:blipFill>
          <a:blip r:embed="rId6"/>
          <a:stretch>
            <a:fillRect/>
          </a:stretch>
        </p:blipFill>
        <p:spPr>
          <a:xfrm>
            <a:off x="4879162" y="3706248"/>
            <a:ext cx="3257550" cy="2132920"/>
          </a:xfrm>
          <a:prstGeom prst="rect">
            <a:avLst/>
          </a:prstGeom>
        </p:spPr>
      </p:pic>
      <p:pic>
        <p:nvPicPr>
          <p:cNvPr id="18" name="Picture 17"/>
          <p:cNvPicPr>
            <a:picLocks noChangeAspect="1"/>
          </p:cNvPicPr>
          <p:nvPr/>
        </p:nvPicPr>
        <p:blipFill>
          <a:blip r:embed="rId7"/>
          <a:stretch>
            <a:fillRect/>
          </a:stretch>
        </p:blipFill>
        <p:spPr>
          <a:xfrm>
            <a:off x="8310564" y="4372231"/>
            <a:ext cx="1800865" cy="1200577"/>
          </a:xfrm>
          <a:prstGeom prst="rect">
            <a:avLst/>
          </a:prstGeom>
        </p:spPr>
      </p:pic>
      <p:sp>
        <p:nvSpPr>
          <p:cNvPr id="19" name="Down Arrow 18"/>
          <p:cNvSpPr/>
          <p:nvPr/>
        </p:nvSpPr>
        <p:spPr>
          <a:xfrm>
            <a:off x="6332265" y="3324225"/>
            <a:ext cx="257175" cy="382023"/>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Down Arrow 19"/>
          <p:cNvSpPr/>
          <p:nvPr/>
        </p:nvSpPr>
        <p:spPr>
          <a:xfrm>
            <a:off x="9004957" y="3324225"/>
            <a:ext cx="257175" cy="382023"/>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864792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pic>
        <p:nvPicPr>
          <p:cNvPr id="25" name="Picture 24"/>
          <p:cNvPicPr>
            <a:picLocks noChangeAspect="1"/>
          </p:cNvPicPr>
          <p:nvPr/>
        </p:nvPicPr>
        <p:blipFill>
          <a:blip r:embed="rId3"/>
          <a:stretch>
            <a:fillRect/>
          </a:stretch>
        </p:blipFill>
        <p:spPr>
          <a:xfrm>
            <a:off x="191200" y="1471112"/>
            <a:ext cx="5363294" cy="3694561"/>
          </a:xfrm>
          <a:prstGeom prst="rect">
            <a:avLst/>
          </a:prstGeom>
        </p:spPr>
      </p:pic>
      <p:sp>
        <p:nvSpPr>
          <p:cNvPr id="32" name="Down Arrow 31"/>
          <p:cNvSpPr/>
          <p:nvPr/>
        </p:nvSpPr>
        <p:spPr>
          <a:xfrm rot="10800000">
            <a:off x="3720979" y="4351006"/>
            <a:ext cx="108553" cy="3841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Down Arrow 32"/>
          <p:cNvSpPr/>
          <p:nvPr/>
        </p:nvSpPr>
        <p:spPr>
          <a:xfrm rot="10800000">
            <a:off x="4847425" y="4295410"/>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5" name="Down Arrow 34"/>
          <p:cNvSpPr/>
          <p:nvPr/>
        </p:nvSpPr>
        <p:spPr>
          <a:xfrm rot="10800000">
            <a:off x="4557399" y="4295410"/>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1" name="Down Arrow 40"/>
          <p:cNvSpPr/>
          <p:nvPr/>
        </p:nvSpPr>
        <p:spPr>
          <a:xfrm rot="10800000">
            <a:off x="4845013" y="4729652"/>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2" name="Down Arrow 41"/>
          <p:cNvSpPr/>
          <p:nvPr/>
        </p:nvSpPr>
        <p:spPr>
          <a:xfrm rot="10800000">
            <a:off x="4845013" y="5135143"/>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3" name="Down Arrow 42"/>
          <p:cNvSpPr/>
          <p:nvPr/>
        </p:nvSpPr>
        <p:spPr>
          <a:xfrm rot="10800000">
            <a:off x="3720978" y="5133299"/>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46" name="Picture 45"/>
          <p:cNvPicPr>
            <a:picLocks noChangeAspect="1"/>
          </p:cNvPicPr>
          <p:nvPr/>
        </p:nvPicPr>
        <p:blipFill>
          <a:blip r:embed="rId4"/>
          <a:stretch>
            <a:fillRect/>
          </a:stretch>
        </p:blipFill>
        <p:spPr>
          <a:xfrm>
            <a:off x="6267449" y="1466850"/>
            <a:ext cx="4527900" cy="3680001"/>
          </a:xfrm>
          <a:prstGeom prst="rect">
            <a:avLst/>
          </a:prstGeom>
        </p:spPr>
      </p:pic>
      <p:sp>
        <p:nvSpPr>
          <p:cNvPr id="47" name="Down Arrow 46"/>
          <p:cNvSpPr/>
          <p:nvPr/>
        </p:nvSpPr>
        <p:spPr>
          <a:xfrm rot="10800000">
            <a:off x="8866492" y="4295409"/>
            <a:ext cx="103683" cy="57167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8" name="Down Arrow 47"/>
          <p:cNvSpPr/>
          <p:nvPr/>
        </p:nvSpPr>
        <p:spPr>
          <a:xfrm rot="10800000">
            <a:off x="10197234" y="4295410"/>
            <a:ext cx="103683" cy="57167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0" name="Down Arrow 49"/>
          <p:cNvSpPr/>
          <p:nvPr/>
        </p:nvSpPr>
        <p:spPr>
          <a:xfrm rot="10800000">
            <a:off x="9128279" y="3952358"/>
            <a:ext cx="103683" cy="57167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1" name="Down Arrow 50"/>
          <p:cNvSpPr/>
          <p:nvPr/>
        </p:nvSpPr>
        <p:spPr>
          <a:xfrm rot="10800000">
            <a:off x="9920692" y="3952358"/>
            <a:ext cx="103683" cy="57167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3" name="Down Arrow 52"/>
          <p:cNvSpPr/>
          <p:nvPr/>
        </p:nvSpPr>
        <p:spPr>
          <a:xfrm rot="10800000">
            <a:off x="8866491" y="5133299"/>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5" name="Down Arrow 54"/>
          <p:cNvSpPr/>
          <p:nvPr/>
        </p:nvSpPr>
        <p:spPr>
          <a:xfrm rot="10800000">
            <a:off x="9128279" y="4691991"/>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6" name="Down Arrow 55"/>
          <p:cNvSpPr/>
          <p:nvPr/>
        </p:nvSpPr>
        <p:spPr>
          <a:xfrm rot="10800000">
            <a:off x="9920692" y="4690237"/>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7" name="Down Arrow 56"/>
          <p:cNvSpPr/>
          <p:nvPr/>
        </p:nvSpPr>
        <p:spPr>
          <a:xfrm rot="10800000">
            <a:off x="10197234" y="5131532"/>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4" name="TextBox 43"/>
          <p:cNvSpPr txBox="1"/>
          <p:nvPr/>
        </p:nvSpPr>
        <p:spPr>
          <a:xfrm>
            <a:off x="3567598" y="5457838"/>
            <a:ext cx="1566760" cy="553998"/>
          </a:xfrm>
          <a:prstGeom prst="rect">
            <a:avLst/>
          </a:prstGeom>
          <a:noFill/>
        </p:spPr>
        <p:txBody>
          <a:bodyPr wrap="square" rtlCol="0">
            <a:spAutoFit/>
          </a:bodyPr>
          <a:lstStyle/>
          <a:p>
            <a:r>
              <a:rPr lang="pl-PL" sz="1000" dirty="0"/>
              <a:t>Use 8</a:t>
            </a:r>
            <a:r>
              <a:rPr lang="pl-PL" sz="1000" dirty="0">
                <a:cs typeface="Times New Roman" panose="02020603050405020304" pitchFamily="18" charset="0"/>
              </a:rPr>
              <a:t> ×</a:t>
            </a:r>
            <a:r>
              <a:rPr lang="pl-PL" sz="1000" dirty="0"/>
              <a:t> M2 cap screws to fix both PCB boards to the posts</a:t>
            </a:r>
          </a:p>
        </p:txBody>
      </p:sp>
    </p:spTree>
    <p:extLst>
      <p:ext uri="{BB962C8B-B14F-4D97-AF65-F5344CB8AC3E}">
        <p14:creationId xmlns:p14="http://schemas.microsoft.com/office/powerpoint/2010/main" val="322531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pic>
        <p:nvPicPr>
          <p:cNvPr id="5" name="Picture 4"/>
          <p:cNvPicPr>
            <a:picLocks noChangeAspect="1"/>
          </p:cNvPicPr>
          <p:nvPr/>
        </p:nvPicPr>
        <p:blipFill>
          <a:blip r:embed="rId3"/>
          <a:stretch>
            <a:fillRect/>
          </a:stretch>
        </p:blipFill>
        <p:spPr>
          <a:xfrm>
            <a:off x="2252662" y="1200150"/>
            <a:ext cx="7686675" cy="4457700"/>
          </a:xfrm>
          <a:prstGeom prst="rect">
            <a:avLst/>
          </a:prstGeom>
        </p:spPr>
      </p:pic>
    </p:spTree>
    <p:extLst>
      <p:ext uri="{BB962C8B-B14F-4D97-AF65-F5344CB8AC3E}">
        <p14:creationId xmlns:p14="http://schemas.microsoft.com/office/powerpoint/2010/main" val="3096983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30522"/>
            <a:ext cx="12192000" cy="6858000"/>
          </a:xfrm>
          <a:prstGeom prst="rect">
            <a:avLst/>
          </a:prstGeom>
        </p:spPr>
      </p:pic>
      <p:pic>
        <p:nvPicPr>
          <p:cNvPr id="2" name="Picture 1"/>
          <p:cNvPicPr>
            <a:picLocks noChangeAspect="1"/>
          </p:cNvPicPr>
          <p:nvPr/>
        </p:nvPicPr>
        <p:blipFill>
          <a:blip r:embed="rId3"/>
          <a:stretch>
            <a:fillRect/>
          </a:stretch>
        </p:blipFill>
        <p:spPr>
          <a:xfrm>
            <a:off x="504202" y="1199464"/>
            <a:ext cx="4065022" cy="4398031"/>
          </a:xfrm>
          <a:prstGeom prst="rect">
            <a:avLst/>
          </a:prstGeom>
        </p:spPr>
      </p:pic>
      <p:sp>
        <p:nvSpPr>
          <p:cNvPr id="4" name="TextBox 3"/>
          <p:cNvSpPr txBox="1"/>
          <p:nvPr/>
        </p:nvSpPr>
        <p:spPr>
          <a:xfrm>
            <a:off x="0" y="0"/>
            <a:ext cx="4713316"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04_FDML_stimfix_PCB_boards_housing</a:t>
            </a:r>
          </a:p>
        </p:txBody>
      </p:sp>
      <p:pic>
        <p:nvPicPr>
          <p:cNvPr id="5" name="Picture 4"/>
          <p:cNvPicPr>
            <a:picLocks noChangeAspect="1"/>
          </p:cNvPicPr>
          <p:nvPr/>
        </p:nvPicPr>
        <p:blipFill>
          <a:blip r:embed="rId4"/>
          <a:stretch>
            <a:fillRect/>
          </a:stretch>
        </p:blipFill>
        <p:spPr>
          <a:xfrm>
            <a:off x="4935330" y="2852116"/>
            <a:ext cx="2191864" cy="2224797"/>
          </a:xfrm>
          <a:prstGeom prst="rect">
            <a:avLst/>
          </a:prstGeom>
        </p:spPr>
      </p:pic>
      <p:cxnSp>
        <p:nvCxnSpPr>
          <p:cNvPr id="11" name="Straight Connector 10"/>
          <p:cNvCxnSpPr/>
          <p:nvPr/>
        </p:nvCxnSpPr>
        <p:spPr>
          <a:xfrm>
            <a:off x="7638961" y="-30522"/>
            <a:ext cx="0" cy="68580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991475" y="2867240"/>
            <a:ext cx="3990975" cy="3785652"/>
          </a:xfrm>
          <a:prstGeom prst="rect">
            <a:avLst/>
          </a:prstGeom>
          <a:noFill/>
        </p:spPr>
        <p:txBody>
          <a:bodyPr wrap="square" rtlCol="0">
            <a:spAutoFit/>
          </a:bodyPr>
          <a:lstStyle/>
          <a:p>
            <a:r>
              <a:rPr lang="en-US" sz="1200" dirty="0"/>
              <a:t>The surface indicated by the blue arrow aligns with the bottom of the main board. Its purpose is to secure the enclosure, preventing light leakage from the PCB board LEDs.</a:t>
            </a:r>
          </a:p>
          <a:p>
            <a:endParaRPr lang="en-US" sz="1200" dirty="0"/>
          </a:p>
          <a:p>
            <a:r>
              <a:rPr lang="en-US" sz="1200" dirty="0"/>
              <a:t>The spacing between the holes should be increased to create a slot for routing the pitch flexible flat cable from the PCB blue board. The current spacing is too tight, making it difficult to install this component without risking damage or disconnection of the cable.</a:t>
            </a:r>
          </a:p>
          <a:p>
            <a:endParaRPr lang="en-US" sz="1200" dirty="0"/>
          </a:p>
          <a:p>
            <a:r>
              <a:rPr lang="en-US" sz="1200" dirty="0"/>
              <a:t>Additionally, </a:t>
            </a:r>
            <a:r>
              <a:rPr lang="en-US" sz="1200" dirty="0" err="1"/>
              <a:t>counterbores</a:t>
            </a:r>
            <a:r>
              <a:rPr lang="en-US" sz="1200" dirty="0"/>
              <a:t> need to be added to the main board. These should be applied to the holes designed as inserts for the cap screws that secure the section indicated by the blue arrow.</a:t>
            </a:r>
          </a:p>
          <a:p>
            <a:endParaRPr lang="en-US" sz="1200" dirty="0"/>
          </a:p>
          <a:p>
            <a:r>
              <a:rPr lang="en-US" sz="1200" dirty="0"/>
              <a:t>Securing the housing at the locations indicated by the red arrows prevents its removal once the </a:t>
            </a:r>
            <a:r>
              <a:rPr lang="en-US" sz="1200" dirty="0" err="1"/>
              <a:t>Badal</a:t>
            </a:r>
            <a:r>
              <a:rPr lang="en-US" sz="1200" dirty="0"/>
              <a:t> system is installed. Consider an alternative mounting solution to allow easier disassembly or access without interference from the installed system.</a:t>
            </a:r>
          </a:p>
        </p:txBody>
      </p:sp>
      <p:grpSp>
        <p:nvGrpSpPr>
          <p:cNvPr id="10" name="Group 9"/>
          <p:cNvGrpSpPr/>
          <p:nvPr/>
        </p:nvGrpSpPr>
        <p:grpSpPr>
          <a:xfrm>
            <a:off x="8756289" y="0"/>
            <a:ext cx="2902712" cy="2965710"/>
            <a:chOff x="8377394" y="-30718"/>
            <a:chExt cx="3491932" cy="3567717"/>
          </a:xfrm>
        </p:grpSpPr>
        <p:pic>
          <p:nvPicPr>
            <p:cNvPr id="7" name="Picture 6"/>
            <p:cNvPicPr>
              <a:picLocks noChangeAspect="1"/>
            </p:cNvPicPr>
            <p:nvPr/>
          </p:nvPicPr>
          <p:blipFill>
            <a:blip r:embed="rId5"/>
            <a:stretch>
              <a:fillRect/>
            </a:stretch>
          </p:blipFill>
          <p:spPr>
            <a:xfrm>
              <a:off x="8377394" y="-30718"/>
              <a:ext cx="3491932" cy="3567717"/>
            </a:xfrm>
            <a:prstGeom prst="rect">
              <a:avLst/>
            </a:prstGeom>
          </p:spPr>
        </p:pic>
        <p:sp>
          <p:nvSpPr>
            <p:cNvPr id="8" name="Down Arrow 7"/>
            <p:cNvSpPr/>
            <p:nvPr/>
          </p:nvSpPr>
          <p:spPr>
            <a:xfrm>
              <a:off x="9258374" y="373485"/>
              <a:ext cx="239282" cy="483079"/>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Down Arrow 8"/>
            <p:cNvSpPr/>
            <p:nvPr/>
          </p:nvSpPr>
          <p:spPr>
            <a:xfrm rot="5400000">
              <a:off x="9762179" y="869178"/>
              <a:ext cx="239282" cy="483079"/>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Down Arrow 20"/>
            <p:cNvSpPr/>
            <p:nvPr/>
          </p:nvSpPr>
          <p:spPr>
            <a:xfrm rot="10800000">
              <a:off x="8963024" y="1498089"/>
              <a:ext cx="115531" cy="233242"/>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Down Arrow 22"/>
            <p:cNvSpPr/>
            <p:nvPr/>
          </p:nvSpPr>
          <p:spPr>
            <a:xfrm rot="10800000">
              <a:off x="9582514" y="1816215"/>
              <a:ext cx="115531" cy="233242"/>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6" name="TextBox 5"/>
          <p:cNvSpPr txBox="1"/>
          <p:nvPr/>
        </p:nvSpPr>
        <p:spPr>
          <a:xfrm>
            <a:off x="8065807" y="0"/>
            <a:ext cx="3573565" cy="923330"/>
          </a:xfrm>
          <a:prstGeom prst="rect">
            <a:avLst/>
          </a:prstGeom>
          <a:noFill/>
        </p:spPr>
        <p:txBody>
          <a:bodyPr wrap="square" rtlCol="0">
            <a:spAutoFit/>
          </a:bodyPr>
          <a:lstStyle/>
          <a:p>
            <a:r>
              <a:rPr lang="pl-PL" dirty="0"/>
              <a:t>Side note</a:t>
            </a:r>
            <a:r>
              <a:rPr lang="en-GB" dirty="0"/>
              <a:t>s</a:t>
            </a:r>
            <a:r>
              <a:rPr lang="pl-PL" dirty="0"/>
              <a:t>:</a:t>
            </a:r>
          </a:p>
          <a:p>
            <a:endParaRPr lang="pl-PL" dirty="0"/>
          </a:p>
          <a:p>
            <a:endParaRPr lang="pl-PL" dirty="0"/>
          </a:p>
        </p:txBody>
      </p:sp>
    </p:spTree>
    <p:extLst>
      <p:ext uri="{BB962C8B-B14F-4D97-AF65-F5344CB8AC3E}">
        <p14:creationId xmlns:p14="http://schemas.microsoft.com/office/powerpoint/2010/main" val="2991209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4" name="TextBox 3"/>
          <p:cNvSpPr txBox="1"/>
          <p:nvPr/>
        </p:nvSpPr>
        <p:spPr>
          <a:xfrm>
            <a:off x="0" y="0"/>
            <a:ext cx="4713316"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04_FDML_stimfix_PCB_boards_housing</a:t>
            </a:r>
          </a:p>
        </p:txBody>
      </p:sp>
      <p:grpSp>
        <p:nvGrpSpPr>
          <p:cNvPr id="32" name="Group 31"/>
          <p:cNvGrpSpPr/>
          <p:nvPr/>
        </p:nvGrpSpPr>
        <p:grpSpPr>
          <a:xfrm>
            <a:off x="1964502" y="111214"/>
            <a:ext cx="7774675" cy="6635571"/>
            <a:chOff x="221427" y="-3661"/>
            <a:chExt cx="7774675" cy="6635571"/>
          </a:xfrm>
        </p:grpSpPr>
        <p:grpSp>
          <p:nvGrpSpPr>
            <p:cNvPr id="23" name="Group 22"/>
            <p:cNvGrpSpPr/>
            <p:nvPr/>
          </p:nvGrpSpPr>
          <p:grpSpPr>
            <a:xfrm>
              <a:off x="221427" y="1552199"/>
              <a:ext cx="3770413" cy="5014877"/>
              <a:chOff x="4935331" y="1905694"/>
              <a:chExt cx="2384267" cy="3171219"/>
            </a:xfrm>
          </p:grpSpPr>
          <p:pic>
            <p:nvPicPr>
              <p:cNvPr id="5" name="Picture 4"/>
              <p:cNvPicPr>
                <a:picLocks noChangeAspect="1"/>
              </p:cNvPicPr>
              <p:nvPr/>
            </p:nvPicPr>
            <p:blipFill>
              <a:blip r:embed="rId3"/>
              <a:stretch>
                <a:fillRect/>
              </a:stretch>
            </p:blipFill>
            <p:spPr>
              <a:xfrm>
                <a:off x="4935331" y="2852116"/>
                <a:ext cx="2191864" cy="2224797"/>
              </a:xfrm>
              <a:prstGeom prst="rect">
                <a:avLst/>
              </a:prstGeom>
            </p:spPr>
          </p:pic>
          <p:sp>
            <p:nvSpPr>
              <p:cNvPr id="14" name="TextBox 13"/>
              <p:cNvSpPr txBox="1"/>
              <p:nvPr/>
            </p:nvSpPr>
            <p:spPr>
              <a:xfrm>
                <a:off x="5289999" y="1905694"/>
                <a:ext cx="1870263" cy="525491"/>
              </a:xfrm>
              <a:prstGeom prst="rect">
                <a:avLst/>
              </a:prstGeom>
              <a:noFill/>
            </p:spPr>
            <p:txBody>
              <a:bodyPr wrap="square" rtlCol="0">
                <a:spAutoFit/>
              </a:bodyPr>
              <a:lstStyle/>
              <a:p>
                <a:r>
                  <a:rPr lang="en-US" sz="1600" dirty="0"/>
                  <a:t>Mold the </a:t>
                </a:r>
                <a:r>
                  <a:rPr lang="pl-PL" sz="1600" dirty="0"/>
                  <a:t>M3 </a:t>
                </a:r>
                <a:r>
                  <a:rPr lang="en-US" sz="1600" dirty="0"/>
                  <a:t>threaded inserts into the designated holes</a:t>
                </a:r>
                <a:r>
                  <a:rPr lang="pl-PL" sz="1600" dirty="0"/>
                  <a:t> on  both sides</a:t>
                </a:r>
                <a:r>
                  <a:rPr lang="en-US" sz="1600" dirty="0"/>
                  <a:t> using a soldering tool. </a:t>
                </a:r>
                <a:endParaRPr lang="pl-PL" sz="1600" dirty="0"/>
              </a:p>
            </p:txBody>
          </p:sp>
          <p:cxnSp>
            <p:nvCxnSpPr>
              <p:cNvPr id="15" name="Straight Arrow Connector 14"/>
              <p:cNvCxnSpPr/>
              <p:nvPr/>
            </p:nvCxnSpPr>
            <p:spPr>
              <a:xfrm>
                <a:off x="5332639" y="3669827"/>
                <a:ext cx="0" cy="213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717449" y="3883187"/>
                <a:ext cx="0" cy="213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6650919" y="3291799"/>
                <a:ext cx="190061" cy="137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7129537" y="3601226"/>
                <a:ext cx="190061" cy="137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31912" y="10200"/>
              <a:ext cx="1721690" cy="3053994"/>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53602" y="-3661"/>
              <a:ext cx="1718773" cy="3048821"/>
            </a:xfrm>
            <a:prstGeom prst="rect">
              <a:avLst/>
            </a:prstGeom>
          </p:spPr>
        </p:pic>
        <p:grpSp>
          <p:nvGrpSpPr>
            <p:cNvPr id="31" name="Group 30"/>
            <p:cNvGrpSpPr/>
            <p:nvPr/>
          </p:nvGrpSpPr>
          <p:grpSpPr>
            <a:xfrm>
              <a:off x="4504170" y="3064193"/>
              <a:ext cx="3491932" cy="3567717"/>
              <a:chOff x="4833915" y="2235518"/>
              <a:chExt cx="3491932" cy="3567717"/>
            </a:xfrm>
          </p:grpSpPr>
          <p:pic>
            <p:nvPicPr>
              <p:cNvPr id="7" name="Picture 6"/>
              <p:cNvPicPr>
                <a:picLocks noChangeAspect="1"/>
              </p:cNvPicPr>
              <p:nvPr/>
            </p:nvPicPr>
            <p:blipFill>
              <a:blip r:embed="rId6"/>
              <a:stretch>
                <a:fillRect/>
              </a:stretch>
            </p:blipFill>
            <p:spPr>
              <a:xfrm>
                <a:off x="4833915" y="2235518"/>
                <a:ext cx="3491932" cy="3567717"/>
              </a:xfrm>
              <a:prstGeom prst="rect">
                <a:avLst/>
              </a:prstGeom>
            </p:spPr>
          </p:pic>
          <p:cxnSp>
            <p:nvCxnSpPr>
              <p:cNvPr id="24" name="Straight Arrow Connector 23"/>
              <p:cNvCxnSpPr/>
              <p:nvPr/>
            </p:nvCxnSpPr>
            <p:spPr>
              <a:xfrm>
                <a:off x="5465714" y="2746771"/>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998041" y="2492345"/>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7829551" y="4829176"/>
                <a:ext cx="390524" cy="2571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7239001" y="5153026"/>
                <a:ext cx="390524" cy="2571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736463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45874" b="64745"/>
          <a:stretch/>
        </p:blipFill>
        <p:spPr>
          <a:xfrm>
            <a:off x="0" y="0"/>
            <a:ext cx="12192000" cy="6858000"/>
          </a:xfrm>
          <a:prstGeom prst="rect">
            <a:avLst/>
          </a:prstGeom>
        </p:spPr>
      </p:pic>
      <p:pic>
        <p:nvPicPr>
          <p:cNvPr id="4" name="Picture 3"/>
          <p:cNvPicPr>
            <a:picLocks noChangeAspect="1"/>
          </p:cNvPicPr>
          <p:nvPr/>
        </p:nvPicPr>
        <p:blipFill>
          <a:blip r:embed="rId3"/>
          <a:stretch>
            <a:fillRect/>
          </a:stretch>
        </p:blipFill>
        <p:spPr>
          <a:xfrm>
            <a:off x="1114424" y="281993"/>
            <a:ext cx="3972256" cy="3547057"/>
          </a:xfrm>
          <a:prstGeom prst="rect">
            <a:avLst/>
          </a:prstGeom>
        </p:spPr>
      </p:pic>
      <p:sp>
        <p:nvSpPr>
          <p:cNvPr id="8" name="Down Arrow 7"/>
          <p:cNvSpPr/>
          <p:nvPr/>
        </p:nvSpPr>
        <p:spPr>
          <a:xfrm rot="10800000">
            <a:off x="3387864" y="2242311"/>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Down Arrow 8"/>
          <p:cNvSpPr/>
          <p:nvPr/>
        </p:nvSpPr>
        <p:spPr>
          <a:xfrm rot="10800000">
            <a:off x="4829133" y="2242312"/>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0" name="Picture 9"/>
          <p:cNvPicPr>
            <a:picLocks noChangeAspect="1"/>
          </p:cNvPicPr>
          <p:nvPr/>
        </p:nvPicPr>
        <p:blipFill>
          <a:blip r:embed="rId4"/>
          <a:stretch>
            <a:fillRect/>
          </a:stretch>
        </p:blipFill>
        <p:spPr>
          <a:xfrm>
            <a:off x="6408924" y="323593"/>
            <a:ext cx="3365598" cy="3481273"/>
          </a:xfrm>
          <a:prstGeom prst="rect">
            <a:avLst/>
          </a:prstGeom>
        </p:spPr>
      </p:pic>
      <p:sp>
        <p:nvSpPr>
          <p:cNvPr id="11" name="Down Arrow 10"/>
          <p:cNvSpPr/>
          <p:nvPr/>
        </p:nvSpPr>
        <p:spPr>
          <a:xfrm rot="10800000">
            <a:off x="8791550" y="2577594"/>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3" name="Picture 12"/>
          <p:cNvPicPr>
            <a:picLocks noChangeAspect="1"/>
          </p:cNvPicPr>
          <p:nvPr/>
        </p:nvPicPr>
        <p:blipFill>
          <a:blip r:embed="rId5"/>
          <a:stretch>
            <a:fillRect/>
          </a:stretch>
        </p:blipFill>
        <p:spPr>
          <a:xfrm>
            <a:off x="1115572" y="4111043"/>
            <a:ext cx="3971108" cy="2619713"/>
          </a:xfrm>
          <a:prstGeom prst="rect">
            <a:avLst/>
          </a:prstGeom>
        </p:spPr>
      </p:pic>
      <p:cxnSp>
        <p:nvCxnSpPr>
          <p:cNvPr id="15" name="Straight Arrow Connector 14"/>
          <p:cNvCxnSpPr/>
          <p:nvPr/>
        </p:nvCxnSpPr>
        <p:spPr>
          <a:xfrm>
            <a:off x="3875314" y="1449970"/>
            <a:ext cx="0" cy="213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393474" y="1449970"/>
            <a:ext cx="0" cy="213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547278" y="766354"/>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589226" y="628758"/>
            <a:ext cx="1296045" cy="861774"/>
          </a:xfrm>
          <a:prstGeom prst="rect">
            <a:avLst/>
          </a:prstGeom>
          <a:noFill/>
        </p:spPr>
        <p:txBody>
          <a:bodyPr wrap="square" rtlCol="0">
            <a:spAutoFit/>
          </a:bodyPr>
          <a:lstStyle/>
          <a:p>
            <a:r>
              <a:rPr lang="en-US" sz="1000" dirty="0"/>
              <a:t>Mold the </a:t>
            </a:r>
            <a:r>
              <a:rPr lang="pl-PL" sz="1000" dirty="0"/>
              <a:t>M2 </a:t>
            </a:r>
            <a:r>
              <a:rPr lang="en-US" sz="1000" dirty="0"/>
              <a:t>threaded inserts into the designated holes</a:t>
            </a:r>
            <a:r>
              <a:rPr lang="pl-PL" sz="1000" dirty="0"/>
              <a:t> on  both sides</a:t>
            </a:r>
            <a:r>
              <a:rPr lang="en-US" sz="1000" dirty="0"/>
              <a:t> using a soldering tool. </a:t>
            </a:r>
            <a:endParaRPr lang="pl-PL" sz="1000" dirty="0"/>
          </a:p>
        </p:txBody>
      </p:sp>
      <p:cxnSp>
        <p:nvCxnSpPr>
          <p:cNvPr id="27" name="Straight Arrow Connector 26"/>
          <p:cNvCxnSpPr/>
          <p:nvPr/>
        </p:nvCxnSpPr>
        <p:spPr>
          <a:xfrm>
            <a:off x="4547277" y="1541415"/>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992979" y="448491"/>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7992979" y="1574067"/>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a:off x="9449125" y="437598"/>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a:off x="9446685" y="1598009"/>
            <a:ext cx="26443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877816" y="110233"/>
            <a:ext cx="0" cy="213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046093" y="792431"/>
            <a:ext cx="1211323" cy="400110"/>
          </a:xfrm>
          <a:prstGeom prst="rect">
            <a:avLst/>
          </a:prstGeom>
          <a:noFill/>
        </p:spPr>
        <p:txBody>
          <a:bodyPr wrap="square" rtlCol="0">
            <a:spAutoFit/>
          </a:bodyPr>
          <a:lstStyle/>
          <a:p>
            <a:r>
              <a:rPr lang="pl-PL" sz="1000" dirty="0"/>
              <a:t>Insert M2 nuts into designated holes</a:t>
            </a:r>
          </a:p>
        </p:txBody>
      </p:sp>
      <p:sp>
        <p:nvSpPr>
          <p:cNvPr id="35" name="TextBox 34"/>
          <p:cNvSpPr txBox="1"/>
          <p:nvPr/>
        </p:nvSpPr>
        <p:spPr>
          <a:xfrm>
            <a:off x="3771276" y="4529400"/>
            <a:ext cx="931947" cy="553998"/>
          </a:xfrm>
          <a:prstGeom prst="rect">
            <a:avLst/>
          </a:prstGeom>
          <a:noFill/>
        </p:spPr>
        <p:txBody>
          <a:bodyPr wrap="square" rtlCol="0">
            <a:spAutoFit/>
          </a:bodyPr>
          <a:lstStyle/>
          <a:p>
            <a:r>
              <a:rPr lang="pl-PL" sz="1000" dirty="0"/>
              <a:t>Secure with </a:t>
            </a:r>
          </a:p>
          <a:p>
            <a:r>
              <a:rPr lang="pl-PL" sz="1000" dirty="0"/>
              <a:t>4 </a:t>
            </a:r>
            <a:r>
              <a:rPr lang="pl-PL" sz="1000" dirty="0">
                <a:latin typeface="Times New Roman" panose="02020603050405020304" pitchFamily="18" charset="0"/>
                <a:cs typeface="Times New Roman" panose="02020603050405020304" pitchFamily="18" charset="0"/>
              </a:rPr>
              <a:t>× </a:t>
            </a:r>
            <a:r>
              <a:rPr lang="pl-PL" sz="1000" dirty="0"/>
              <a:t>M2 cap screws</a:t>
            </a:r>
          </a:p>
        </p:txBody>
      </p:sp>
      <p:sp>
        <p:nvSpPr>
          <p:cNvPr id="36" name="Down Arrow 35"/>
          <p:cNvSpPr/>
          <p:nvPr/>
        </p:nvSpPr>
        <p:spPr>
          <a:xfrm>
            <a:off x="3814763" y="5181957"/>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Down Arrow 36"/>
          <p:cNvSpPr/>
          <p:nvPr/>
        </p:nvSpPr>
        <p:spPr>
          <a:xfrm>
            <a:off x="4316351" y="5181957"/>
            <a:ext cx="103683" cy="24765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38" name="Picture 37"/>
          <p:cNvPicPr>
            <a:picLocks noChangeAspect="1"/>
          </p:cNvPicPr>
          <p:nvPr/>
        </p:nvPicPr>
        <p:blipFill>
          <a:blip r:embed="rId6"/>
          <a:stretch>
            <a:fillRect/>
          </a:stretch>
        </p:blipFill>
        <p:spPr>
          <a:xfrm>
            <a:off x="6408924" y="4101697"/>
            <a:ext cx="3302630" cy="2573154"/>
          </a:xfrm>
          <a:prstGeom prst="rect">
            <a:avLst/>
          </a:prstGeom>
        </p:spPr>
      </p:pic>
      <p:cxnSp>
        <p:nvCxnSpPr>
          <p:cNvPr id="40" name="Straight Connector 39"/>
          <p:cNvCxnSpPr/>
          <p:nvPr/>
        </p:nvCxnSpPr>
        <p:spPr>
          <a:xfrm>
            <a:off x="0" y="3958822"/>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66876" y="32247"/>
            <a:ext cx="301686" cy="369332"/>
          </a:xfrm>
          <a:prstGeom prst="rect">
            <a:avLst/>
          </a:prstGeom>
        </p:spPr>
        <p:txBody>
          <a:bodyPr wrap="none">
            <a:spAutoFit/>
          </a:bodyPr>
          <a:lstStyle/>
          <a:p>
            <a:r>
              <a:rPr lang="pl-PL" dirty="0"/>
              <a:t>1</a:t>
            </a:r>
          </a:p>
        </p:txBody>
      </p:sp>
      <p:sp>
        <p:nvSpPr>
          <p:cNvPr id="42" name="Rectangle 41"/>
          <p:cNvSpPr/>
          <p:nvPr/>
        </p:nvSpPr>
        <p:spPr>
          <a:xfrm>
            <a:off x="66876" y="4015887"/>
            <a:ext cx="301686" cy="369332"/>
          </a:xfrm>
          <a:prstGeom prst="rect">
            <a:avLst/>
          </a:prstGeom>
        </p:spPr>
        <p:txBody>
          <a:bodyPr wrap="none">
            <a:spAutoFit/>
          </a:bodyPr>
          <a:lstStyle/>
          <a:p>
            <a:r>
              <a:rPr lang="pl-PL" dirty="0"/>
              <a:t>2</a:t>
            </a:r>
          </a:p>
        </p:txBody>
      </p:sp>
    </p:spTree>
    <p:extLst>
      <p:ext uri="{BB962C8B-B14F-4D97-AF65-F5344CB8AC3E}">
        <p14:creationId xmlns:p14="http://schemas.microsoft.com/office/powerpoint/2010/main" val="1857130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1" y="0"/>
            <a:ext cx="5147353"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LCD screen</a:t>
            </a:r>
          </a:p>
        </p:txBody>
      </p:sp>
      <p:pic>
        <p:nvPicPr>
          <p:cNvPr id="8" name="Picture 7"/>
          <p:cNvPicPr>
            <a:picLocks noChangeAspect="1"/>
          </p:cNvPicPr>
          <p:nvPr/>
        </p:nvPicPr>
        <p:blipFill>
          <a:blip r:embed="rId3"/>
          <a:stretch>
            <a:fillRect/>
          </a:stretch>
        </p:blipFill>
        <p:spPr>
          <a:xfrm>
            <a:off x="468775" y="1199464"/>
            <a:ext cx="4103073" cy="4420286"/>
          </a:xfrm>
          <a:prstGeom prst="rect">
            <a:avLst/>
          </a:prstGeom>
        </p:spPr>
      </p:pic>
      <p:pic>
        <p:nvPicPr>
          <p:cNvPr id="4" name="Picture 3"/>
          <p:cNvPicPr>
            <a:picLocks noChangeAspect="1"/>
          </p:cNvPicPr>
          <p:nvPr/>
        </p:nvPicPr>
        <p:blipFill>
          <a:blip r:embed="rId4"/>
          <a:stretch>
            <a:fillRect/>
          </a:stretch>
        </p:blipFill>
        <p:spPr>
          <a:xfrm rot="10800000">
            <a:off x="6085639" y="658259"/>
            <a:ext cx="1652393" cy="2487736"/>
          </a:xfrm>
          <a:prstGeom prst="rect">
            <a:avLst/>
          </a:prstGeom>
          <a:ln w="28575">
            <a:solidFill>
              <a:schemeClr val="tx1"/>
            </a:solidFill>
          </a:ln>
        </p:spPr>
      </p:pic>
      <p:pic>
        <p:nvPicPr>
          <p:cNvPr id="5" name="Picture 4"/>
          <p:cNvPicPr>
            <a:picLocks noChangeAspect="1"/>
          </p:cNvPicPr>
          <p:nvPr/>
        </p:nvPicPr>
        <p:blipFill>
          <a:blip r:embed="rId5"/>
          <a:stretch>
            <a:fillRect/>
          </a:stretch>
        </p:blipFill>
        <p:spPr>
          <a:xfrm>
            <a:off x="6227489" y="3804254"/>
            <a:ext cx="1405767" cy="2394855"/>
          </a:xfrm>
          <a:prstGeom prst="rect">
            <a:avLst/>
          </a:prstGeom>
        </p:spPr>
      </p:pic>
      <p:sp>
        <p:nvSpPr>
          <p:cNvPr id="13" name="Down Arrow 12"/>
          <p:cNvSpPr/>
          <p:nvPr/>
        </p:nvSpPr>
        <p:spPr>
          <a:xfrm>
            <a:off x="6783247" y="3429000"/>
            <a:ext cx="257175" cy="382023"/>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03090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1" y="0"/>
            <a:ext cx="5147353"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LCD screen</a:t>
            </a:r>
          </a:p>
        </p:txBody>
      </p:sp>
      <p:pic>
        <p:nvPicPr>
          <p:cNvPr id="8" name="Picture 7"/>
          <p:cNvPicPr>
            <a:picLocks noChangeAspect="1"/>
          </p:cNvPicPr>
          <p:nvPr/>
        </p:nvPicPr>
        <p:blipFill>
          <a:blip r:embed="rId3"/>
          <a:stretch>
            <a:fillRect/>
          </a:stretch>
        </p:blipFill>
        <p:spPr>
          <a:xfrm>
            <a:off x="468775" y="1199464"/>
            <a:ext cx="4103073" cy="4420286"/>
          </a:xfrm>
          <a:prstGeom prst="rect">
            <a:avLst/>
          </a:prstGeom>
        </p:spPr>
      </p:pic>
      <p:pic>
        <p:nvPicPr>
          <p:cNvPr id="2" name="Picture 1"/>
          <p:cNvPicPr>
            <a:picLocks noChangeAspect="1"/>
          </p:cNvPicPr>
          <p:nvPr/>
        </p:nvPicPr>
        <p:blipFill rotWithShape="1">
          <a:blip r:embed="rId4"/>
          <a:srcRect t="2692"/>
          <a:stretch/>
        </p:blipFill>
        <p:spPr>
          <a:xfrm>
            <a:off x="5901537" y="76200"/>
            <a:ext cx="4341614" cy="6541524"/>
          </a:xfrm>
          <a:prstGeom prst="rect">
            <a:avLst/>
          </a:prstGeom>
        </p:spPr>
      </p:pic>
      <p:sp>
        <p:nvSpPr>
          <p:cNvPr id="5" name="Rectangle 4"/>
          <p:cNvSpPr/>
          <p:nvPr/>
        </p:nvSpPr>
        <p:spPr>
          <a:xfrm>
            <a:off x="3293610" y="1199464"/>
            <a:ext cx="1364115" cy="18485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Rectangle 8"/>
          <p:cNvSpPr/>
          <p:nvPr/>
        </p:nvSpPr>
        <p:spPr>
          <a:xfrm>
            <a:off x="5901537" y="79890"/>
            <a:ext cx="4680738" cy="65378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7" name="Straight Arrow Connector 6"/>
          <p:cNvCxnSpPr>
            <a:stCxn id="5" idx="3"/>
          </p:cNvCxnSpPr>
          <p:nvPr/>
        </p:nvCxnSpPr>
        <p:spPr>
          <a:xfrm flipV="1">
            <a:off x="4657725" y="2114550"/>
            <a:ext cx="1243812" cy="91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703390" y="2018614"/>
            <a:ext cx="1288585" cy="2862322"/>
          </a:xfrm>
          <a:prstGeom prst="rect">
            <a:avLst/>
          </a:prstGeom>
          <a:noFill/>
        </p:spPr>
        <p:txBody>
          <a:bodyPr wrap="square" rtlCol="0">
            <a:spAutoFit/>
          </a:bodyPr>
          <a:lstStyle/>
          <a:p>
            <a:r>
              <a:rPr lang="pl-PL" sz="1200" dirty="0"/>
              <a:t>Insert the screen into designated slot.</a:t>
            </a:r>
            <a:br>
              <a:rPr lang="pl-PL" sz="1200" dirty="0"/>
            </a:br>
            <a:br>
              <a:rPr lang="pl-PL" sz="1200" dirty="0"/>
            </a:br>
            <a:r>
              <a:rPr lang="pl-PL" sz="1200" dirty="0"/>
              <a:t>Pass the flat cable (not shown in the model) through the designated slot as indicated by green arrows.</a:t>
            </a:r>
            <a:br>
              <a:rPr lang="pl-PL" sz="1200" dirty="0"/>
            </a:br>
            <a:br>
              <a:rPr lang="pl-PL" sz="1200" dirty="0"/>
            </a:br>
            <a:r>
              <a:rPr lang="pl-PL" sz="1200" dirty="0"/>
              <a:t>Connect the cable to the green PCB board</a:t>
            </a:r>
          </a:p>
        </p:txBody>
      </p:sp>
      <p:sp>
        <p:nvSpPr>
          <p:cNvPr id="13" name="Down Arrow 12"/>
          <p:cNvSpPr/>
          <p:nvPr/>
        </p:nvSpPr>
        <p:spPr>
          <a:xfrm>
            <a:off x="7632231" y="4714081"/>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Down Arrow 13"/>
          <p:cNvSpPr/>
          <p:nvPr/>
        </p:nvSpPr>
        <p:spPr>
          <a:xfrm>
            <a:off x="8062512" y="4947821"/>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Down Arrow 14"/>
          <p:cNvSpPr/>
          <p:nvPr/>
        </p:nvSpPr>
        <p:spPr>
          <a:xfrm>
            <a:off x="8492793" y="5181561"/>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092346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17604" y="0"/>
            <a:ext cx="12192000" cy="6858000"/>
          </a:xfrm>
          <a:prstGeom prst="rect">
            <a:avLst/>
          </a:prstGeom>
        </p:spPr>
      </p:pic>
      <p:sp>
        <p:nvSpPr>
          <p:cNvPr id="3" name="TextBox 2"/>
          <p:cNvSpPr txBox="1"/>
          <p:nvPr/>
        </p:nvSpPr>
        <p:spPr>
          <a:xfrm>
            <a:off x="-1" y="0"/>
            <a:ext cx="5147353"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05_FDML_stimfix_LCD_screen_front_panel</a:t>
            </a:r>
          </a:p>
        </p:txBody>
      </p:sp>
      <p:pic>
        <p:nvPicPr>
          <p:cNvPr id="9" name="Picture 8"/>
          <p:cNvPicPr>
            <a:picLocks noChangeAspect="1"/>
          </p:cNvPicPr>
          <p:nvPr/>
        </p:nvPicPr>
        <p:blipFill>
          <a:blip r:embed="rId3"/>
          <a:stretch>
            <a:fillRect/>
          </a:stretch>
        </p:blipFill>
        <p:spPr>
          <a:xfrm>
            <a:off x="515424" y="1178269"/>
            <a:ext cx="4075626" cy="4498631"/>
          </a:xfrm>
          <a:prstGeom prst="rect">
            <a:avLst/>
          </a:prstGeom>
        </p:spPr>
      </p:pic>
      <p:pic>
        <p:nvPicPr>
          <p:cNvPr id="6" name="Picture 5"/>
          <p:cNvPicPr>
            <a:picLocks noChangeAspect="1"/>
          </p:cNvPicPr>
          <p:nvPr/>
        </p:nvPicPr>
        <p:blipFill>
          <a:blip r:embed="rId4"/>
          <a:stretch>
            <a:fillRect/>
          </a:stretch>
        </p:blipFill>
        <p:spPr>
          <a:xfrm>
            <a:off x="5810250" y="2435126"/>
            <a:ext cx="1800225" cy="2708374"/>
          </a:xfrm>
          <a:prstGeom prst="rect">
            <a:avLst/>
          </a:prstGeom>
        </p:spPr>
      </p:pic>
    </p:spTree>
    <p:extLst>
      <p:ext uri="{BB962C8B-B14F-4D97-AF65-F5344CB8AC3E}">
        <p14:creationId xmlns:p14="http://schemas.microsoft.com/office/powerpoint/2010/main" val="2902898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1" y="-4913"/>
            <a:ext cx="12192000" cy="6858000"/>
          </a:xfrm>
          <a:prstGeom prst="rect">
            <a:avLst/>
          </a:prstGeom>
        </p:spPr>
      </p:pic>
      <p:grpSp>
        <p:nvGrpSpPr>
          <p:cNvPr id="5" name="Group 4"/>
          <p:cNvGrpSpPr/>
          <p:nvPr/>
        </p:nvGrpSpPr>
        <p:grpSpPr>
          <a:xfrm>
            <a:off x="595827" y="429352"/>
            <a:ext cx="5091540" cy="5660054"/>
            <a:chOff x="3195637" y="204787"/>
            <a:chExt cx="5800725" cy="6448425"/>
          </a:xfrm>
        </p:grpSpPr>
        <p:pic>
          <p:nvPicPr>
            <p:cNvPr id="11" name="Picture 10"/>
            <p:cNvPicPr>
              <a:picLocks noChangeAspect="1"/>
            </p:cNvPicPr>
            <p:nvPr/>
          </p:nvPicPr>
          <p:blipFill>
            <a:blip r:embed="rId3"/>
            <a:stretch>
              <a:fillRect/>
            </a:stretch>
          </p:blipFill>
          <p:spPr>
            <a:xfrm>
              <a:off x="3195637" y="204787"/>
              <a:ext cx="5800725" cy="6448425"/>
            </a:xfrm>
            <a:prstGeom prst="rect">
              <a:avLst/>
            </a:prstGeom>
          </p:spPr>
        </p:pic>
        <p:sp>
          <p:nvSpPr>
            <p:cNvPr id="7" name="Down Arrow 6"/>
            <p:cNvSpPr/>
            <p:nvPr/>
          </p:nvSpPr>
          <p:spPr>
            <a:xfrm rot="14408019">
              <a:off x="7161182" y="1451604"/>
              <a:ext cx="211970" cy="50629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Down Arrow 12"/>
            <p:cNvSpPr/>
            <p:nvPr/>
          </p:nvSpPr>
          <p:spPr>
            <a:xfrm rot="14408019">
              <a:off x="6065895" y="978750"/>
              <a:ext cx="211970" cy="50629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Down Arrow 13"/>
            <p:cNvSpPr/>
            <p:nvPr/>
          </p:nvSpPr>
          <p:spPr>
            <a:xfrm rot="14408019">
              <a:off x="7161182" y="3038427"/>
              <a:ext cx="211970" cy="50629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Down Arrow 14"/>
            <p:cNvSpPr/>
            <p:nvPr/>
          </p:nvSpPr>
          <p:spPr>
            <a:xfrm rot="14408019">
              <a:off x="6065895" y="2404614"/>
              <a:ext cx="211970" cy="50629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34" name="Group 33"/>
          <p:cNvGrpSpPr/>
          <p:nvPr/>
        </p:nvGrpSpPr>
        <p:grpSpPr>
          <a:xfrm>
            <a:off x="5908431" y="35169"/>
            <a:ext cx="4411852" cy="6576646"/>
            <a:chOff x="5908431" y="35169"/>
            <a:chExt cx="4411852" cy="6576646"/>
          </a:xfrm>
        </p:grpSpPr>
        <p:pic>
          <p:nvPicPr>
            <p:cNvPr id="35" name="Picture 34"/>
            <p:cNvPicPr>
              <a:picLocks noChangeAspect="1"/>
            </p:cNvPicPr>
            <p:nvPr/>
          </p:nvPicPr>
          <p:blipFill rotWithShape="1">
            <a:blip r:embed="rId4"/>
            <a:srcRect l="5197" t="2676" r="13638" b="3928"/>
            <a:stretch/>
          </p:blipFill>
          <p:spPr>
            <a:xfrm>
              <a:off x="5908431" y="35169"/>
              <a:ext cx="4290646" cy="6576646"/>
            </a:xfrm>
            <a:prstGeom prst="rect">
              <a:avLst/>
            </a:prstGeom>
          </p:spPr>
        </p:pic>
        <p:cxnSp>
          <p:nvCxnSpPr>
            <p:cNvPr id="36" name="Straight Arrow Connector 35"/>
            <p:cNvCxnSpPr/>
            <p:nvPr/>
          </p:nvCxnSpPr>
          <p:spPr>
            <a:xfrm flipV="1">
              <a:off x="6329150" y="796960"/>
              <a:ext cx="427052" cy="246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7567684" y="1487684"/>
              <a:ext cx="427052" cy="246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8836365" y="2194907"/>
              <a:ext cx="427052" cy="246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329150" y="4494570"/>
              <a:ext cx="427052" cy="246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8836365" y="5787688"/>
              <a:ext cx="427052" cy="246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flipV="1">
              <a:off x="9885896" y="3244791"/>
              <a:ext cx="434387" cy="245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flipV="1">
              <a:off x="9885896" y="5685913"/>
              <a:ext cx="434387" cy="245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0800000" flipH="1" flipV="1">
              <a:off x="6058692" y="1074528"/>
              <a:ext cx="434387" cy="245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10800000" flipH="1" flipV="1">
              <a:off x="6058692" y="3515650"/>
              <a:ext cx="434387" cy="245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Rectangle 44"/>
          <p:cNvSpPr/>
          <p:nvPr/>
        </p:nvSpPr>
        <p:spPr>
          <a:xfrm>
            <a:off x="5901537" y="79890"/>
            <a:ext cx="4680738" cy="65378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6" name="TextBox 45"/>
          <p:cNvSpPr txBox="1"/>
          <p:nvPr/>
        </p:nvSpPr>
        <p:spPr>
          <a:xfrm>
            <a:off x="10796445" y="2967693"/>
            <a:ext cx="931947" cy="646331"/>
          </a:xfrm>
          <a:prstGeom prst="rect">
            <a:avLst/>
          </a:prstGeom>
          <a:noFill/>
        </p:spPr>
        <p:txBody>
          <a:bodyPr wrap="square" rtlCol="0">
            <a:spAutoFit/>
          </a:bodyPr>
          <a:lstStyle/>
          <a:p>
            <a:r>
              <a:rPr lang="pl-PL" sz="1200" dirty="0"/>
              <a:t>Secure with </a:t>
            </a:r>
          </a:p>
          <a:p>
            <a:r>
              <a:rPr lang="en-GB" sz="1200" dirty="0"/>
              <a:t>12</a:t>
            </a:r>
            <a:r>
              <a:rPr lang="pl-PL" sz="1200" dirty="0"/>
              <a:t> </a:t>
            </a:r>
            <a:r>
              <a:rPr lang="pl-PL" sz="1200" dirty="0">
                <a:latin typeface="Times New Roman" panose="02020603050405020304" pitchFamily="18" charset="0"/>
                <a:cs typeface="Times New Roman" panose="02020603050405020304" pitchFamily="18" charset="0"/>
              </a:rPr>
              <a:t>× </a:t>
            </a:r>
            <a:r>
              <a:rPr lang="pl-PL" sz="1200" dirty="0"/>
              <a:t>M2 cap screws</a:t>
            </a:r>
          </a:p>
        </p:txBody>
      </p:sp>
    </p:spTree>
    <p:extLst>
      <p:ext uri="{BB962C8B-B14F-4D97-AF65-F5344CB8AC3E}">
        <p14:creationId xmlns:p14="http://schemas.microsoft.com/office/powerpoint/2010/main" val="4136255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17604" y="0"/>
            <a:ext cx="12192000" cy="6858000"/>
          </a:xfrm>
          <a:prstGeom prst="rect">
            <a:avLst/>
          </a:prstGeom>
        </p:spPr>
      </p:pic>
      <p:sp>
        <p:nvSpPr>
          <p:cNvPr id="3" name="TextBox 2"/>
          <p:cNvSpPr txBox="1"/>
          <p:nvPr/>
        </p:nvSpPr>
        <p:spPr>
          <a:xfrm>
            <a:off x="-1" y="0"/>
            <a:ext cx="7305676" cy="369332"/>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pl-PL" dirty="0"/>
              <a:t> </a:t>
            </a:r>
            <a:r>
              <a:rPr lang="en-GB" dirty="0"/>
              <a:t>Thorlabs_BP207 (a 3D printed alternative holder could also be used) </a:t>
            </a:r>
            <a:endParaRPr lang="pl-PL" dirty="0"/>
          </a:p>
        </p:txBody>
      </p:sp>
      <p:pic>
        <p:nvPicPr>
          <p:cNvPr id="7" name="Picture 6"/>
          <p:cNvPicPr>
            <a:picLocks noChangeAspect="1"/>
          </p:cNvPicPr>
          <p:nvPr/>
        </p:nvPicPr>
        <p:blipFill>
          <a:blip r:embed="rId3"/>
          <a:stretch>
            <a:fillRect/>
          </a:stretch>
        </p:blipFill>
        <p:spPr>
          <a:xfrm>
            <a:off x="515423" y="1136541"/>
            <a:ext cx="4075627" cy="4463782"/>
          </a:xfrm>
          <a:prstGeom prst="rect">
            <a:avLst/>
          </a:prstGeom>
        </p:spPr>
      </p:pic>
      <p:pic>
        <p:nvPicPr>
          <p:cNvPr id="4" name="Picture 3"/>
          <p:cNvPicPr>
            <a:picLocks noChangeAspect="1"/>
          </p:cNvPicPr>
          <p:nvPr/>
        </p:nvPicPr>
        <p:blipFill>
          <a:blip r:embed="rId4"/>
          <a:stretch>
            <a:fillRect/>
          </a:stretch>
        </p:blipFill>
        <p:spPr>
          <a:xfrm>
            <a:off x="4743174" y="1365151"/>
            <a:ext cx="3648250" cy="4235172"/>
          </a:xfrm>
          <a:prstGeom prst="rect">
            <a:avLst/>
          </a:prstGeom>
        </p:spPr>
      </p:pic>
      <p:sp>
        <p:nvSpPr>
          <p:cNvPr id="5" name="Rectangle 4"/>
          <p:cNvSpPr/>
          <p:nvPr/>
        </p:nvSpPr>
        <p:spPr>
          <a:xfrm>
            <a:off x="5525503" y="1745115"/>
            <a:ext cx="531628" cy="4664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8" name="Picture 7"/>
          <p:cNvPicPr>
            <a:picLocks noChangeAspect="1"/>
          </p:cNvPicPr>
          <p:nvPr/>
        </p:nvPicPr>
        <p:blipFill rotWithShape="1">
          <a:blip r:embed="rId5"/>
          <a:srcRect t="6230" r="7265" b="6989"/>
          <a:stretch/>
        </p:blipFill>
        <p:spPr>
          <a:xfrm>
            <a:off x="8694398" y="2211572"/>
            <a:ext cx="3012050" cy="2562447"/>
          </a:xfrm>
          <a:prstGeom prst="rect">
            <a:avLst/>
          </a:prstGeom>
          <a:ln w="38100">
            <a:solidFill>
              <a:srgbClr val="FF0000"/>
            </a:solidFill>
          </a:ln>
        </p:spPr>
      </p:pic>
      <p:cxnSp>
        <p:nvCxnSpPr>
          <p:cNvPr id="13" name="Straight Arrow Connector 12"/>
          <p:cNvCxnSpPr/>
          <p:nvPr/>
        </p:nvCxnSpPr>
        <p:spPr>
          <a:xfrm>
            <a:off x="6057131" y="2211572"/>
            <a:ext cx="2486417" cy="12711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401907" y="1579241"/>
            <a:ext cx="1899034" cy="523220"/>
          </a:xfrm>
          <a:prstGeom prst="rect">
            <a:avLst/>
          </a:prstGeom>
          <a:noFill/>
        </p:spPr>
        <p:txBody>
          <a:bodyPr wrap="square" rtlCol="0">
            <a:spAutoFit/>
          </a:bodyPr>
          <a:lstStyle/>
          <a:p>
            <a:r>
              <a:rPr lang="pl-PL" sz="1400" dirty="0"/>
              <a:t>Insert </a:t>
            </a:r>
            <a:r>
              <a:rPr lang="en-GB" sz="1400" dirty="0"/>
              <a:t>an </a:t>
            </a:r>
            <a:r>
              <a:rPr lang="pl-PL" sz="1400" dirty="0"/>
              <a:t>M</a:t>
            </a:r>
            <a:r>
              <a:rPr lang="en-GB" sz="1400" dirty="0"/>
              <a:t>4</a:t>
            </a:r>
            <a:r>
              <a:rPr lang="pl-PL" sz="1400" dirty="0"/>
              <a:t> nut into designated hole</a:t>
            </a:r>
          </a:p>
        </p:txBody>
      </p:sp>
      <p:sp>
        <p:nvSpPr>
          <p:cNvPr id="18" name="Rectangle 17"/>
          <p:cNvSpPr/>
          <p:nvPr/>
        </p:nvSpPr>
        <p:spPr>
          <a:xfrm>
            <a:off x="6983030" y="4079864"/>
            <a:ext cx="1158009" cy="307777"/>
          </a:xfrm>
          <a:prstGeom prst="rect">
            <a:avLst/>
          </a:prstGeom>
        </p:spPr>
        <p:txBody>
          <a:bodyPr wrap="none">
            <a:spAutoFit/>
          </a:bodyPr>
          <a:lstStyle/>
          <a:p>
            <a:pPr lvl="0"/>
            <a:r>
              <a:rPr lang="en-GB" sz="1400" b="1" dirty="0">
                <a:solidFill>
                  <a:prstClr val="black"/>
                </a:solidFill>
              </a:rPr>
              <a:t>Plate bottom</a:t>
            </a:r>
            <a:endParaRPr lang="pl-PL" sz="1400" b="1" dirty="0">
              <a:solidFill>
                <a:prstClr val="black"/>
              </a:solidFill>
            </a:endParaRPr>
          </a:p>
        </p:txBody>
      </p:sp>
      <p:pic>
        <p:nvPicPr>
          <p:cNvPr id="19" name="Picture 18"/>
          <p:cNvPicPr>
            <a:picLocks noChangeAspect="1"/>
          </p:cNvPicPr>
          <p:nvPr/>
        </p:nvPicPr>
        <p:blipFill>
          <a:blip r:embed="rId6"/>
          <a:stretch>
            <a:fillRect/>
          </a:stretch>
        </p:blipFill>
        <p:spPr>
          <a:xfrm>
            <a:off x="7032692" y="36114"/>
            <a:ext cx="1751372" cy="962776"/>
          </a:xfrm>
          <a:prstGeom prst="rect">
            <a:avLst/>
          </a:prstGeom>
        </p:spPr>
      </p:pic>
      <p:sp>
        <p:nvSpPr>
          <p:cNvPr id="20" name="Rectangle 19"/>
          <p:cNvSpPr/>
          <p:nvPr/>
        </p:nvSpPr>
        <p:spPr>
          <a:xfrm>
            <a:off x="8912494" y="266401"/>
            <a:ext cx="2575857" cy="523220"/>
          </a:xfrm>
          <a:prstGeom prst="rect">
            <a:avLst/>
          </a:prstGeom>
        </p:spPr>
        <p:txBody>
          <a:bodyPr wrap="square">
            <a:spAutoFit/>
          </a:bodyPr>
          <a:lstStyle/>
          <a:p>
            <a:r>
              <a:rPr lang="pl-PL" sz="1400" dirty="0"/>
              <a:t>https://www.thorlabs.com/thorproduct.cfm?partnumber=BP207</a:t>
            </a:r>
          </a:p>
        </p:txBody>
      </p:sp>
    </p:spTree>
    <p:extLst>
      <p:ext uri="{BB962C8B-B14F-4D97-AF65-F5344CB8AC3E}">
        <p14:creationId xmlns:p14="http://schemas.microsoft.com/office/powerpoint/2010/main" val="971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6971" y="0"/>
            <a:ext cx="12192000" cy="6858000"/>
          </a:xfrm>
          <a:prstGeom prst="rect">
            <a:avLst/>
          </a:prstGeom>
        </p:spPr>
      </p:pic>
      <p:pic>
        <p:nvPicPr>
          <p:cNvPr id="2" name="Picture 1"/>
          <p:cNvPicPr>
            <a:picLocks noChangeAspect="1"/>
          </p:cNvPicPr>
          <p:nvPr/>
        </p:nvPicPr>
        <p:blipFill>
          <a:blip r:embed="rId3"/>
          <a:stretch>
            <a:fillRect/>
          </a:stretch>
        </p:blipFill>
        <p:spPr>
          <a:xfrm>
            <a:off x="1504950" y="209550"/>
            <a:ext cx="9182100" cy="6438900"/>
          </a:xfrm>
          <a:prstGeom prst="rect">
            <a:avLst/>
          </a:prstGeom>
        </p:spPr>
      </p:pic>
      <p:sp>
        <p:nvSpPr>
          <p:cNvPr id="4" name="Down Arrow 3"/>
          <p:cNvSpPr/>
          <p:nvPr/>
        </p:nvSpPr>
        <p:spPr>
          <a:xfrm>
            <a:off x="6549189" y="2428125"/>
            <a:ext cx="383240" cy="17079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Down Arrow 4"/>
          <p:cNvSpPr/>
          <p:nvPr/>
        </p:nvSpPr>
        <p:spPr>
          <a:xfrm>
            <a:off x="6549189" y="613724"/>
            <a:ext cx="383240" cy="88546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Rectangle 5"/>
          <p:cNvSpPr/>
          <p:nvPr/>
        </p:nvSpPr>
        <p:spPr>
          <a:xfrm>
            <a:off x="4848219" y="2451098"/>
            <a:ext cx="1888800" cy="830997"/>
          </a:xfrm>
          <a:prstGeom prst="rect">
            <a:avLst/>
          </a:prstGeom>
        </p:spPr>
        <p:txBody>
          <a:bodyPr wrap="square">
            <a:spAutoFit/>
          </a:bodyPr>
          <a:lstStyle/>
          <a:p>
            <a:r>
              <a:rPr lang="pl-PL" sz="1600" dirty="0"/>
              <a:t>Insert the</a:t>
            </a:r>
            <a:r>
              <a:rPr lang="en-GB" sz="1600" dirty="0"/>
              <a:t> pellicle holder</a:t>
            </a:r>
            <a:r>
              <a:rPr lang="pl-PL" sz="1600" dirty="0"/>
              <a:t> </a:t>
            </a:r>
            <a:r>
              <a:rPr lang="en-GB" sz="1600" dirty="0"/>
              <a:t>part</a:t>
            </a:r>
            <a:r>
              <a:rPr lang="pl-PL" sz="1600" dirty="0"/>
              <a:t> into the designated slot.</a:t>
            </a:r>
          </a:p>
        </p:txBody>
      </p:sp>
      <p:sp>
        <p:nvSpPr>
          <p:cNvPr id="7" name="Rectangle 6"/>
          <p:cNvSpPr/>
          <p:nvPr/>
        </p:nvSpPr>
        <p:spPr>
          <a:xfrm>
            <a:off x="7927349" y="575605"/>
            <a:ext cx="1601662" cy="584775"/>
          </a:xfrm>
          <a:prstGeom prst="rect">
            <a:avLst/>
          </a:prstGeom>
        </p:spPr>
        <p:txBody>
          <a:bodyPr wrap="square">
            <a:spAutoFit/>
          </a:bodyPr>
          <a:lstStyle/>
          <a:p>
            <a:r>
              <a:rPr lang="en-GB" sz="1600" dirty="0"/>
              <a:t>Secure with an M4 cap screw</a:t>
            </a:r>
            <a:endParaRPr lang="pl-PL" sz="1600" dirty="0"/>
          </a:p>
        </p:txBody>
      </p:sp>
    </p:spTree>
    <p:extLst>
      <p:ext uri="{BB962C8B-B14F-4D97-AF65-F5344CB8AC3E}">
        <p14:creationId xmlns:p14="http://schemas.microsoft.com/office/powerpoint/2010/main" val="38485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17604" y="0"/>
            <a:ext cx="12192000" cy="6858000"/>
          </a:xfrm>
          <a:prstGeom prst="rect">
            <a:avLst/>
          </a:prstGeom>
        </p:spPr>
      </p:pic>
      <p:sp>
        <p:nvSpPr>
          <p:cNvPr id="3" name="TextBox 2"/>
          <p:cNvSpPr txBox="1"/>
          <p:nvPr/>
        </p:nvSpPr>
        <p:spPr>
          <a:xfrm>
            <a:off x="-2" y="0"/>
            <a:ext cx="7004651" cy="923330"/>
          </a:xfrm>
          <a:prstGeom prst="rect">
            <a:avLst/>
          </a:prstGeom>
          <a:noFill/>
        </p:spPr>
        <p:txBody>
          <a:bodyPr wrap="square" rtlCol="0">
            <a:spAutoFit/>
          </a:bodyPr>
          <a:lstStyle/>
          <a:p>
            <a:r>
              <a:rPr lang="en-GB" dirty="0"/>
              <a:t>2</a:t>
            </a:r>
            <a:r>
              <a:rPr lang="pl-PL" dirty="0"/>
              <a:t> </a:t>
            </a:r>
            <a:r>
              <a:rPr lang="pl-PL" dirty="0">
                <a:cs typeface="Times New Roman" panose="02020603050405020304" pitchFamily="18" charset="0"/>
              </a:rPr>
              <a:t>×</a:t>
            </a:r>
            <a:r>
              <a:rPr lang="pl-PL" dirty="0"/>
              <a:t> 06_FDML_stimfix_2in_lens_clamp_holder</a:t>
            </a:r>
            <a:endParaRPr lang="en-GB" dirty="0"/>
          </a:p>
          <a:p>
            <a:r>
              <a:rPr lang="en-GB" dirty="0"/>
              <a:t>2 </a:t>
            </a:r>
            <a:r>
              <a:rPr lang="pl-PL" dirty="0">
                <a:cs typeface="Times New Roman" panose="02020603050405020304" pitchFamily="18" charset="0"/>
              </a:rPr>
              <a:t>×</a:t>
            </a:r>
            <a:r>
              <a:rPr lang="en-GB" dirty="0">
                <a:cs typeface="Times New Roman" panose="02020603050405020304" pitchFamily="18" charset="0"/>
              </a:rPr>
              <a:t> Thorlabs_AC508-150-A</a:t>
            </a:r>
            <a:endParaRPr lang="pl-PL" dirty="0">
              <a:cs typeface="Times New Roman" panose="02020603050405020304" pitchFamily="18" charset="0"/>
            </a:endParaRPr>
          </a:p>
          <a:p>
            <a:r>
              <a:rPr lang="pl-PL" dirty="0">
                <a:cs typeface="Times New Roman" panose="02020603050405020304" pitchFamily="18" charset="0"/>
              </a:rPr>
              <a:t>1 ×</a:t>
            </a:r>
            <a:r>
              <a:rPr lang="en-GB" dirty="0">
                <a:cs typeface="Times New Roman" panose="02020603050405020304" pitchFamily="18" charset="0"/>
              </a:rPr>
              <a:t> extra_stimfix_2in_lens_clamp_holder_mounting_tool</a:t>
            </a:r>
            <a:r>
              <a:rPr lang="pl-PL" dirty="0">
                <a:cs typeface="Times New Roman" panose="02020603050405020304" pitchFamily="18" charset="0"/>
              </a:rPr>
              <a:t> (optional)</a:t>
            </a:r>
          </a:p>
        </p:txBody>
      </p:sp>
      <p:pic>
        <p:nvPicPr>
          <p:cNvPr id="7" name="Picture 6"/>
          <p:cNvPicPr>
            <a:picLocks noChangeAspect="1"/>
          </p:cNvPicPr>
          <p:nvPr/>
        </p:nvPicPr>
        <p:blipFill>
          <a:blip r:embed="rId3"/>
          <a:stretch>
            <a:fillRect/>
          </a:stretch>
        </p:blipFill>
        <p:spPr>
          <a:xfrm>
            <a:off x="5267969" y="2881964"/>
            <a:ext cx="1878862" cy="2947336"/>
          </a:xfrm>
          <a:prstGeom prst="rect">
            <a:avLst/>
          </a:prstGeom>
        </p:spPr>
      </p:pic>
      <p:pic>
        <p:nvPicPr>
          <p:cNvPr id="10" name="Picture 9"/>
          <p:cNvPicPr>
            <a:picLocks noChangeAspect="1"/>
          </p:cNvPicPr>
          <p:nvPr/>
        </p:nvPicPr>
        <p:blipFill>
          <a:blip r:embed="rId4"/>
          <a:stretch>
            <a:fillRect/>
          </a:stretch>
        </p:blipFill>
        <p:spPr>
          <a:xfrm>
            <a:off x="447819" y="1190846"/>
            <a:ext cx="4092283" cy="4486939"/>
          </a:xfrm>
          <a:prstGeom prst="rect">
            <a:avLst/>
          </a:prstGeom>
        </p:spPr>
      </p:pic>
      <p:pic>
        <p:nvPicPr>
          <p:cNvPr id="11" name="Picture 10"/>
          <p:cNvPicPr>
            <a:picLocks noChangeAspect="1"/>
          </p:cNvPicPr>
          <p:nvPr/>
        </p:nvPicPr>
        <p:blipFill>
          <a:blip r:embed="rId3"/>
          <a:stretch>
            <a:fillRect/>
          </a:stretch>
        </p:blipFill>
        <p:spPr>
          <a:xfrm>
            <a:off x="7441383" y="2881964"/>
            <a:ext cx="1878862" cy="2947336"/>
          </a:xfrm>
          <a:prstGeom prst="rect">
            <a:avLst/>
          </a:prstGeom>
        </p:spPr>
      </p:pic>
      <p:pic>
        <p:nvPicPr>
          <p:cNvPr id="5" name="Picture 4"/>
          <p:cNvPicPr>
            <a:picLocks noChangeAspect="1"/>
          </p:cNvPicPr>
          <p:nvPr/>
        </p:nvPicPr>
        <p:blipFill>
          <a:blip r:embed="rId5"/>
          <a:stretch>
            <a:fillRect/>
          </a:stretch>
        </p:blipFill>
        <p:spPr>
          <a:xfrm>
            <a:off x="5879389" y="1010093"/>
            <a:ext cx="656021" cy="1669311"/>
          </a:xfrm>
          <a:prstGeom prst="rect">
            <a:avLst/>
          </a:prstGeom>
        </p:spPr>
      </p:pic>
      <p:pic>
        <p:nvPicPr>
          <p:cNvPr id="13" name="Picture 12"/>
          <p:cNvPicPr>
            <a:picLocks noChangeAspect="1"/>
          </p:cNvPicPr>
          <p:nvPr/>
        </p:nvPicPr>
        <p:blipFill>
          <a:blip r:embed="rId5"/>
          <a:stretch>
            <a:fillRect/>
          </a:stretch>
        </p:blipFill>
        <p:spPr>
          <a:xfrm>
            <a:off x="8194730" y="1010093"/>
            <a:ext cx="656021" cy="1669311"/>
          </a:xfrm>
          <a:prstGeom prst="rect">
            <a:avLst/>
          </a:prstGeom>
        </p:spPr>
      </p:pic>
      <p:sp>
        <p:nvSpPr>
          <p:cNvPr id="14" name="Rectangle 13"/>
          <p:cNvSpPr/>
          <p:nvPr/>
        </p:nvSpPr>
        <p:spPr>
          <a:xfrm>
            <a:off x="4940594" y="0"/>
            <a:ext cx="7106093" cy="369332"/>
          </a:xfrm>
          <a:prstGeom prst="rect">
            <a:avLst/>
          </a:prstGeom>
        </p:spPr>
        <p:txBody>
          <a:bodyPr wrap="square">
            <a:spAutoFit/>
          </a:bodyPr>
          <a:lstStyle/>
          <a:p>
            <a:r>
              <a:rPr lang="pl-PL" dirty="0"/>
              <a:t>https://www.thorlabs.com/thorproduct.cfm?partnumber=AC508-150-A</a:t>
            </a:r>
          </a:p>
        </p:txBody>
      </p:sp>
      <p:cxnSp>
        <p:nvCxnSpPr>
          <p:cNvPr id="15" name="Straight Arrow Connector 14"/>
          <p:cNvCxnSpPr/>
          <p:nvPr/>
        </p:nvCxnSpPr>
        <p:spPr>
          <a:xfrm>
            <a:off x="6204073" y="4273517"/>
            <a:ext cx="0" cy="313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681254" y="4967526"/>
            <a:ext cx="1296045" cy="861774"/>
          </a:xfrm>
          <a:prstGeom prst="rect">
            <a:avLst/>
          </a:prstGeom>
          <a:noFill/>
        </p:spPr>
        <p:txBody>
          <a:bodyPr wrap="square" rtlCol="0">
            <a:spAutoFit/>
          </a:bodyPr>
          <a:lstStyle/>
          <a:p>
            <a:r>
              <a:rPr lang="en-US" sz="1000" dirty="0"/>
              <a:t>Mold M3 threaded inserts into the designated holes indicated by the red arrows</a:t>
            </a:r>
            <a:endParaRPr lang="pl-PL" sz="1000" dirty="0"/>
          </a:p>
        </p:txBody>
      </p:sp>
      <p:cxnSp>
        <p:nvCxnSpPr>
          <p:cNvPr id="18" name="Straight Arrow Connector 17"/>
          <p:cNvCxnSpPr/>
          <p:nvPr/>
        </p:nvCxnSpPr>
        <p:spPr>
          <a:xfrm>
            <a:off x="8391265" y="4273517"/>
            <a:ext cx="0" cy="313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6663559" y="3093506"/>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8850751" y="3093506"/>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216655" y="2905780"/>
            <a:ext cx="1296045" cy="707886"/>
          </a:xfrm>
          <a:prstGeom prst="rect">
            <a:avLst/>
          </a:prstGeom>
          <a:noFill/>
        </p:spPr>
        <p:txBody>
          <a:bodyPr wrap="square" rtlCol="0">
            <a:spAutoFit/>
          </a:bodyPr>
          <a:lstStyle/>
          <a:p>
            <a:r>
              <a:rPr lang="en-US" sz="1000" dirty="0"/>
              <a:t>Insert M3 nuts into the designated slots indicated by the green arrows</a:t>
            </a:r>
            <a:endParaRPr lang="pl-PL" sz="1000" dirty="0"/>
          </a:p>
        </p:txBody>
      </p:sp>
      <p:pic>
        <p:nvPicPr>
          <p:cNvPr id="22" name="Picture 21"/>
          <p:cNvPicPr>
            <a:picLocks noChangeAspect="1"/>
          </p:cNvPicPr>
          <p:nvPr/>
        </p:nvPicPr>
        <p:blipFill>
          <a:blip r:embed="rId6"/>
          <a:stretch>
            <a:fillRect/>
          </a:stretch>
        </p:blipFill>
        <p:spPr>
          <a:xfrm>
            <a:off x="9390584" y="4615104"/>
            <a:ext cx="2023745" cy="1241457"/>
          </a:xfrm>
          <a:prstGeom prst="rect">
            <a:avLst/>
          </a:prstGeom>
        </p:spPr>
      </p:pic>
    </p:spTree>
    <p:extLst>
      <p:ext uri="{BB962C8B-B14F-4D97-AF65-F5344CB8AC3E}">
        <p14:creationId xmlns:p14="http://schemas.microsoft.com/office/powerpoint/2010/main" val="1149720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6975308" y="4098351"/>
            <a:ext cx="4454692" cy="927339"/>
          </a:xfrm>
          <a:prstGeom prst="rect">
            <a:avLst/>
          </a:prstGeom>
        </p:spPr>
      </p:pic>
      <p:pic>
        <p:nvPicPr>
          <p:cNvPr id="5" name="Picture 4"/>
          <p:cNvPicPr>
            <a:picLocks noChangeAspect="1"/>
          </p:cNvPicPr>
          <p:nvPr/>
        </p:nvPicPr>
        <p:blipFill>
          <a:blip r:embed="rId4"/>
          <a:stretch>
            <a:fillRect/>
          </a:stretch>
        </p:blipFill>
        <p:spPr>
          <a:xfrm>
            <a:off x="449936" y="737321"/>
            <a:ext cx="3294505" cy="5104397"/>
          </a:xfrm>
          <a:prstGeom prst="rect">
            <a:avLst/>
          </a:prstGeom>
        </p:spPr>
      </p:pic>
      <p:pic>
        <p:nvPicPr>
          <p:cNvPr id="7" name="Picture 6"/>
          <p:cNvPicPr>
            <a:picLocks noChangeAspect="1"/>
          </p:cNvPicPr>
          <p:nvPr/>
        </p:nvPicPr>
        <p:blipFill>
          <a:blip r:embed="rId5"/>
          <a:stretch>
            <a:fillRect/>
          </a:stretch>
        </p:blipFill>
        <p:spPr>
          <a:xfrm>
            <a:off x="3744441" y="737321"/>
            <a:ext cx="3584352" cy="5002870"/>
          </a:xfrm>
          <a:prstGeom prst="rect">
            <a:avLst/>
          </a:prstGeom>
        </p:spPr>
      </p:pic>
      <p:sp>
        <p:nvSpPr>
          <p:cNvPr id="8" name="Rectangle 7"/>
          <p:cNvSpPr/>
          <p:nvPr/>
        </p:nvSpPr>
        <p:spPr>
          <a:xfrm>
            <a:off x="7062700" y="4992479"/>
            <a:ext cx="4367299" cy="484773"/>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Down Arrow 10"/>
          <p:cNvSpPr/>
          <p:nvPr/>
        </p:nvSpPr>
        <p:spPr>
          <a:xfrm>
            <a:off x="5057816" y="1721060"/>
            <a:ext cx="345754" cy="114245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Down Arrow 12"/>
          <p:cNvSpPr/>
          <p:nvPr/>
        </p:nvSpPr>
        <p:spPr>
          <a:xfrm>
            <a:off x="5057816" y="3990792"/>
            <a:ext cx="345754" cy="114245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Down Arrow 15"/>
          <p:cNvSpPr/>
          <p:nvPr/>
        </p:nvSpPr>
        <p:spPr>
          <a:xfrm rot="1769776">
            <a:off x="7587640" y="3171250"/>
            <a:ext cx="345754" cy="114245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Rectangle 16"/>
          <p:cNvSpPr/>
          <p:nvPr/>
        </p:nvSpPr>
        <p:spPr>
          <a:xfrm>
            <a:off x="8209457" y="1836730"/>
            <a:ext cx="1993321" cy="1077218"/>
          </a:xfrm>
          <a:prstGeom prst="rect">
            <a:avLst/>
          </a:prstGeom>
        </p:spPr>
        <p:txBody>
          <a:bodyPr wrap="square">
            <a:spAutoFit/>
          </a:bodyPr>
          <a:lstStyle/>
          <a:p>
            <a:r>
              <a:rPr lang="pl-PL" sz="1600" dirty="0"/>
              <a:t>Once in the proper position, </a:t>
            </a:r>
            <a:r>
              <a:rPr lang="en-GB" sz="1600" dirty="0"/>
              <a:t>secure</a:t>
            </a:r>
            <a:r>
              <a:rPr lang="pl-PL" sz="1600" dirty="0"/>
              <a:t> the lens</a:t>
            </a:r>
            <a:r>
              <a:rPr lang="en-GB" sz="1600" dirty="0"/>
              <a:t> </a:t>
            </a:r>
            <a:r>
              <a:rPr lang="pl-PL" sz="1600" dirty="0"/>
              <a:t>using</a:t>
            </a:r>
            <a:r>
              <a:rPr lang="en-GB" sz="1600" dirty="0"/>
              <a:t> an M</a:t>
            </a:r>
            <a:r>
              <a:rPr lang="pl-PL" sz="1600" dirty="0"/>
              <a:t>3</a:t>
            </a:r>
            <a:r>
              <a:rPr lang="en-GB" sz="1600" dirty="0"/>
              <a:t> cap screw</a:t>
            </a:r>
            <a:endParaRPr lang="pl-PL" sz="1600" dirty="0"/>
          </a:p>
        </p:txBody>
      </p:sp>
      <p:sp>
        <p:nvSpPr>
          <p:cNvPr id="18" name="Rectangle 17"/>
          <p:cNvSpPr/>
          <p:nvPr/>
        </p:nvSpPr>
        <p:spPr>
          <a:xfrm>
            <a:off x="83489" y="107051"/>
            <a:ext cx="732893" cy="523220"/>
          </a:xfrm>
          <a:prstGeom prst="rect">
            <a:avLst/>
          </a:prstGeom>
        </p:spPr>
        <p:txBody>
          <a:bodyPr wrap="none">
            <a:spAutoFit/>
          </a:bodyPr>
          <a:lstStyle/>
          <a:p>
            <a:r>
              <a:rPr lang="en-GB" sz="2800" b="1" dirty="0"/>
              <a:t>2 </a:t>
            </a:r>
            <a:r>
              <a:rPr lang="pl-PL" sz="2800" b="1" dirty="0">
                <a:cs typeface="Times New Roman" panose="02020603050405020304" pitchFamily="18" charset="0"/>
              </a:rPr>
              <a:t>×</a:t>
            </a:r>
            <a:r>
              <a:rPr lang="en-GB" sz="2800" b="1" dirty="0">
                <a:cs typeface="Times New Roman" panose="02020603050405020304" pitchFamily="18" charset="0"/>
              </a:rPr>
              <a:t> </a:t>
            </a:r>
            <a:endParaRPr lang="pl-PL" sz="2800" b="1" dirty="0"/>
          </a:p>
        </p:txBody>
      </p:sp>
    </p:spTree>
    <p:extLst>
      <p:ext uri="{BB962C8B-B14F-4D97-AF65-F5344CB8AC3E}">
        <p14:creationId xmlns:p14="http://schemas.microsoft.com/office/powerpoint/2010/main" val="540240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2"/>
          <a:srcRect r="45874" b="64745"/>
          <a:stretch/>
        </p:blipFill>
        <p:spPr>
          <a:xfrm>
            <a:off x="-8802" y="-4951"/>
            <a:ext cx="12209604" cy="6867902"/>
          </a:xfrm>
          <a:prstGeom prst="rect">
            <a:avLst/>
          </a:prstGeom>
        </p:spPr>
      </p:pic>
      <p:pic>
        <p:nvPicPr>
          <p:cNvPr id="2" name="Picture 1"/>
          <p:cNvPicPr>
            <a:picLocks noChangeAspect="1"/>
          </p:cNvPicPr>
          <p:nvPr/>
        </p:nvPicPr>
        <p:blipFill>
          <a:blip r:embed="rId3"/>
          <a:stretch>
            <a:fillRect/>
          </a:stretch>
        </p:blipFill>
        <p:spPr>
          <a:xfrm>
            <a:off x="439516" y="732072"/>
            <a:ext cx="4692316" cy="5042809"/>
          </a:xfrm>
          <a:prstGeom prst="rect">
            <a:avLst/>
          </a:prstGeom>
        </p:spPr>
      </p:pic>
      <p:sp>
        <p:nvSpPr>
          <p:cNvPr id="24" name="Down Arrow 23"/>
          <p:cNvSpPr/>
          <p:nvPr/>
        </p:nvSpPr>
        <p:spPr>
          <a:xfrm>
            <a:off x="3705556" y="4300902"/>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Down Arrow 24"/>
          <p:cNvSpPr/>
          <p:nvPr/>
        </p:nvSpPr>
        <p:spPr>
          <a:xfrm>
            <a:off x="3341589" y="3587312"/>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4" name="Picture 3"/>
          <p:cNvPicPr>
            <a:picLocks noChangeAspect="1"/>
          </p:cNvPicPr>
          <p:nvPr/>
        </p:nvPicPr>
        <p:blipFill>
          <a:blip r:embed="rId4"/>
          <a:stretch>
            <a:fillRect/>
          </a:stretch>
        </p:blipFill>
        <p:spPr>
          <a:xfrm>
            <a:off x="5588952" y="930812"/>
            <a:ext cx="5532176" cy="4832187"/>
          </a:xfrm>
          <a:prstGeom prst="rect">
            <a:avLst/>
          </a:prstGeom>
        </p:spPr>
      </p:pic>
      <p:sp>
        <p:nvSpPr>
          <p:cNvPr id="26" name="Down Arrow 25"/>
          <p:cNvSpPr/>
          <p:nvPr/>
        </p:nvSpPr>
        <p:spPr>
          <a:xfrm>
            <a:off x="6950072" y="3314687"/>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Down Arrow 26"/>
          <p:cNvSpPr/>
          <p:nvPr/>
        </p:nvSpPr>
        <p:spPr>
          <a:xfrm>
            <a:off x="7583367" y="3309697"/>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Down Arrow 27"/>
          <p:cNvSpPr/>
          <p:nvPr/>
        </p:nvSpPr>
        <p:spPr>
          <a:xfrm rot="10800000">
            <a:off x="6950072" y="4773372"/>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Down Arrow 28"/>
          <p:cNvSpPr/>
          <p:nvPr/>
        </p:nvSpPr>
        <p:spPr>
          <a:xfrm rot="10800000">
            <a:off x="7583367" y="4768382"/>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Down Arrow 29"/>
          <p:cNvSpPr/>
          <p:nvPr/>
        </p:nvSpPr>
        <p:spPr>
          <a:xfrm rot="10800000">
            <a:off x="3312179" y="5856406"/>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Down Arrow 30"/>
          <p:cNvSpPr/>
          <p:nvPr/>
        </p:nvSpPr>
        <p:spPr>
          <a:xfrm rot="10800000">
            <a:off x="3705556" y="5692033"/>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2" name="Rectangle 31"/>
          <p:cNvSpPr/>
          <p:nvPr/>
        </p:nvSpPr>
        <p:spPr>
          <a:xfrm>
            <a:off x="4509870" y="5439486"/>
            <a:ext cx="3114565" cy="1077218"/>
          </a:xfrm>
          <a:prstGeom prst="rect">
            <a:avLst/>
          </a:prstGeom>
        </p:spPr>
        <p:txBody>
          <a:bodyPr wrap="square">
            <a:spAutoFit/>
          </a:bodyPr>
          <a:lstStyle/>
          <a:p>
            <a:r>
              <a:rPr lang="en-US" sz="1600" dirty="0"/>
              <a:t>Secure using M3 cap screws inserted from the bottom side. Ensure the screws are </a:t>
            </a:r>
            <a:r>
              <a:rPr lang="en-US" sz="1600" b="1" dirty="0">
                <a:solidFill>
                  <a:srgbClr val="FF0000"/>
                </a:solidFill>
              </a:rPr>
              <a:t>not too long </a:t>
            </a:r>
            <a:r>
              <a:rPr lang="en-US" sz="1600" dirty="0"/>
              <a:t>to avoid drilling into the lens</a:t>
            </a:r>
            <a:endParaRPr lang="pl-PL" sz="1600" dirty="0"/>
          </a:p>
        </p:txBody>
      </p:sp>
      <p:sp>
        <p:nvSpPr>
          <p:cNvPr id="33" name="Rectangle 32"/>
          <p:cNvSpPr/>
          <p:nvPr/>
        </p:nvSpPr>
        <p:spPr>
          <a:xfrm>
            <a:off x="8151428" y="1255665"/>
            <a:ext cx="3114565" cy="830997"/>
          </a:xfrm>
          <a:prstGeom prst="rect">
            <a:avLst/>
          </a:prstGeom>
        </p:spPr>
        <p:txBody>
          <a:bodyPr wrap="square">
            <a:spAutoFit/>
          </a:bodyPr>
          <a:lstStyle/>
          <a:p>
            <a:r>
              <a:rPr lang="pl-PL" sz="1600" dirty="0"/>
              <a:t>Ensure the convex sides of the lenses are oriented toward the plane pararell to the LCD screen</a:t>
            </a:r>
          </a:p>
        </p:txBody>
      </p:sp>
    </p:spTree>
    <p:extLst>
      <p:ext uri="{BB962C8B-B14F-4D97-AF65-F5344CB8AC3E}">
        <p14:creationId xmlns:p14="http://schemas.microsoft.com/office/powerpoint/2010/main" val="1748520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8" name="Picture 7"/>
          <p:cNvPicPr>
            <a:picLocks noChangeAspect="1"/>
          </p:cNvPicPr>
          <p:nvPr/>
        </p:nvPicPr>
        <p:blipFill>
          <a:blip r:embed="rId3"/>
          <a:stretch>
            <a:fillRect/>
          </a:stretch>
        </p:blipFill>
        <p:spPr>
          <a:xfrm>
            <a:off x="442443" y="1155016"/>
            <a:ext cx="4189716" cy="4472329"/>
          </a:xfrm>
          <a:prstGeom prst="rect">
            <a:avLst/>
          </a:prstGeom>
        </p:spPr>
      </p:pic>
      <p:pic>
        <p:nvPicPr>
          <p:cNvPr id="4" name="Picture 3"/>
          <p:cNvPicPr>
            <a:picLocks noChangeAspect="1"/>
          </p:cNvPicPr>
          <p:nvPr/>
        </p:nvPicPr>
        <p:blipFill>
          <a:blip r:embed="rId4"/>
          <a:stretch>
            <a:fillRect/>
          </a:stretch>
        </p:blipFill>
        <p:spPr>
          <a:xfrm>
            <a:off x="4836695" y="2634915"/>
            <a:ext cx="1395663" cy="1980940"/>
          </a:xfrm>
          <a:prstGeom prst="rect">
            <a:avLst/>
          </a:prstGeom>
        </p:spPr>
      </p:pic>
      <p:pic>
        <p:nvPicPr>
          <p:cNvPr id="5" name="Picture 4"/>
          <p:cNvPicPr>
            <a:picLocks noChangeAspect="1"/>
          </p:cNvPicPr>
          <p:nvPr/>
        </p:nvPicPr>
        <p:blipFill>
          <a:blip r:embed="rId5"/>
          <a:stretch>
            <a:fillRect/>
          </a:stretch>
        </p:blipFill>
        <p:spPr>
          <a:xfrm>
            <a:off x="6436894" y="2504601"/>
            <a:ext cx="1799213" cy="2482201"/>
          </a:xfrm>
          <a:prstGeom prst="rect">
            <a:avLst/>
          </a:prstGeom>
        </p:spPr>
      </p:pic>
      <p:pic>
        <p:nvPicPr>
          <p:cNvPr id="10" name="Picture 9"/>
          <p:cNvPicPr>
            <a:picLocks noChangeAspect="1"/>
          </p:cNvPicPr>
          <p:nvPr/>
        </p:nvPicPr>
        <p:blipFill>
          <a:blip r:embed="rId6"/>
          <a:stretch>
            <a:fillRect/>
          </a:stretch>
        </p:blipFill>
        <p:spPr>
          <a:xfrm>
            <a:off x="8440643" y="3081272"/>
            <a:ext cx="1190021" cy="1328857"/>
          </a:xfrm>
          <a:prstGeom prst="rect">
            <a:avLst/>
          </a:prstGeom>
        </p:spPr>
      </p:pic>
      <p:pic>
        <p:nvPicPr>
          <p:cNvPr id="11" name="Picture 10"/>
          <p:cNvPicPr>
            <a:picLocks noChangeAspect="1"/>
          </p:cNvPicPr>
          <p:nvPr/>
        </p:nvPicPr>
        <p:blipFill>
          <a:blip r:embed="rId7"/>
          <a:stretch>
            <a:fillRect/>
          </a:stretch>
        </p:blipFill>
        <p:spPr>
          <a:xfrm>
            <a:off x="10040842" y="2986161"/>
            <a:ext cx="1014162" cy="1629694"/>
          </a:xfrm>
          <a:prstGeom prst="rect">
            <a:avLst/>
          </a:prstGeom>
        </p:spPr>
      </p:pic>
      <p:sp>
        <p:nvSpPr>
          <p:cNvPr id="3" name="TextBox 2"/>
          <p:cNvSpPr txBox="1"/>
          <p:nvPr/>
        </p:nvSpPr>
        <p:spPr>
          <a:xfrm>
            <a:off x="-2" y="0"/>
            <a:ext cx="11344942" cy="1200329"/>
          </a:xfrm>
          <a:prstGeom prst="rect">
            <a:avLst/>
          </a:prstGeom>
          <a:noFill/>
        </p:spPr>
        <p:txBody>
          <a:bodyPr wrap="square" rtlCol="0">
            <a:spAutoFit/>
          </a:bodyPr>
          <a:lstStyle/>
          <a:p>
            <a:r>
              <a:rPr lang="pl-PL" dirty="0"/>
              <a:t>1 </a:t>
            </a:r>
            <a:r>
              <a:rPr lang="pl-PL" dirty="0">
                <a:cs typeface="Times New Roman" panose="02020603050405020304" pitchFamily="18" charset="0"/>
              </a:rPr>
              <a:t>× Thorlabs_PFSQ20-03-P01 (https://www.thorlabs.com/thorproduct.cfm?partnumber=PFSQ20-03-P01)</a:t>
            </a:r>
            <a:endParaRPr lang="pl-PL" dirty="0"/>
          </a:p>
          <a:p>
            <a:r>
              <a:rPr lang="pl-PL" dirty="0"/>
              <a:t>1 </a:t>
            </a:r>
            <a:r>
              <a:rPr lang="pl-PL" dirty="0">
                <a:cs typeface="Times New Roman" panose="02020603050405020304" pitchFamily="18" charset="0"/>
              </a:rPr>
              <a:t>×</a:t>
            </a:r>
            <a:r>
              <a:rPr lang="pl-PL" dirty="0"/>
              <a:t> 07_FDML_stimfix_square_mirror_holder_small</a:t>
            </a:r>
          </a:p>
          <a:p>
            <a:r>
              <a:rPr lang="pl-PL" dirty="0"/>
              <a:t>1 </a:t>
            </a:r>
            <a:r>
              <a:rPr lang="pl-PL" dirty="0">
                <a:cs typeface="Times New Roman" panose="02020603050405020304" pitchFamily="18" charset="0"/>
              </a:rPr>
              <a:t>× Thorlabs_KMSS_M (</a:t>
            </a:r>
            <a:r>
              <a:rPr lang="pl-PL" dirty="0"/>
              <a:t>https://www.thorlabs.com/thorproduct.cfm?partnumber=KMSS/M)</a:t>
            </a:r>
          </a:p>
          <a:p>
            <a:r>
              <a:rPr lang="pl-PL" dirty="0"/>
              <a:t>1 </a:t>
            </a:r>
            <a:r>
              <a:rPr lang="pl-PL" dirty="0">
                <a:cs typeface="Times New Roman" panose="02020603050405020304" pitchFamily="18" charset="0"/>
              </a:rPr>
              <a:t>×</a:t>
            </a:r>
            <a:r>
              <a:rPr lang="pl-PL" dirty="0"/>
              <a:t> 08_FDML_stimfix_square_mirror_support_with_6mm_rod_cutout</a:t>
            </a:r>
          </a:p>
        </p:txBody>
      </p:sp>
    </p:spTree>
    <p:extLst>
      <p:ext uri="{BB962C8B-B14F-4D97-AF65-F5344CB8AC3E}">
        <p14:creationId xmlns:p14="http://schemas.microsoft.com/office/powerpoint/2010/main" val="1704044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a:ln>
            <a:noFill/>
          </a:ln>
        </p:spPr>
      </p:pic>
      <p:grpSp>
        <p:nvGrpSpPr>
          <p:cNvPr id="49" name="Group 48"/>
          <p:cNvGrpSpPr/>
          <p:nvPr/>
        </p:nvGrpSpPr>
        <p:grpSpPr>
          <a:xfrm>
            <a:off x="220334" y="75075"/>
            <a:ext cx="5165241" cy="2706447"/>
            <a:chOff x="875960" y="-29028"/>
            <a:chExt cx="6759679" cy="3541890"/>
          </a:xfrm>
        </p:grpSpPr>
        <p:grpSp>
          <p:nvGrpSpPr>
            <p:cNvPr id="18" name="Group 17"/>
            <p:cNvGrpSpPr/>
            <p:nvPr/>
          </p:nvGrpSpPr>
          <p:grpSpPr>
            <a:xfrm>
              <a:off x="875960" y="458161"/>
              <a:ext cx="3527600" cy="3054701"/>
              <a:chOff x="719549" y="566445"/>
              <a:chExt cx="3527600" cy="3054701"/>
            </a:xfrm>
          </p:grpSpPr>
          <p:grpSp>
            <p:nvGrpSpPr>
              <p:cNvPr id="17" name="Group 16"/>
              <p:cNvGrpSpPr/>
              <p:nvPr/>
            </p:nvGrpSpPr>
            <p:grpSpPr>
              <a:xfrm>
                <a:off x="719549" y="566445"/>
                <a:ext cx="3527600" cy="3054701"/>
                <a:chOff x="429618" y="444678"/>
                <a:chExt cx="3867921" cy="3349399"/>
              </a:xfrm>
            </p:grpSpPr>
            <p:pic>
              <p:nvPicPr>
                <p:cNvPr id="15" name="Picture 14"/>
                <p:cNvPicPr>
                  <a:picLocks noChangeAspect="1"/>
                </p:cNvPicPr>
                <p:nvPr/>
              </p:nvPicPr>
              <p:blipFill>
                <a:blip r:embed="rId3"/>
                <a:stretch>
                  <a:fillRect/>
                </a:stretch>
              </p:blipFill>
              <p:spPr>
                <a:xfrm>
                  <a:off x="904175" y="444678"/>
                  <a:ext cx="3393364" cy="3065276"/>
                </a:xfrm>
                <a:prstGeom prst="rect">
                  <a:avLst/>
                </a:prstGeom>
              </p:spPr>
            </p:pic>
            <p:sp>
              <p:nvSpPr>
                <p:cNvPr id="16" name="Down Arrow 15"/>
                <p:cNvSpPr/>
                <p:nvPr/>
              </p:nvSpPr>
              <p:spPr>
                <a:xfrm rot="14100000">
                  <a:off x="626992" y="2716569"/>
                  <a:ext cx="284290" cy="67903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Rectangle 8"/>
                <p:cNvSpPr/>
                <p:nvPr/>
              </p:nvSpPr>
              <p:spPr>
                <a:xfrm>
                  <a:off x="1103184" y="3270858"/>
                  <a:ext cx="1479764" cy="523219"/>
                </a:xfrm>
                <a:prstGeom prst="rect">
                  <a:avLst/>
                </a:prstGeom>
              </p:spPr>
              <p:txBody>
                <a:bodyPr wrap="square">
                  <a:spAutoFit/>
                </a:bodyPr>
                <a:lstStyle/>
                <a:p>
                  <a:r>
                    <a:rPr lang="en-US" sz="1400" dirty="0"/>
                    <a:t>Secure using </a:t>
                  </a:r>
                  <a:r>
                    <a:rPr lang="pl-PL" sz="1400" dirty="0"/>
                    <a:t>4-40</a:t>
                  </a:r>
                  <a:r>
                    <a:rPr lang="en-US" sz="1400" dirty="0"/>
                    <a:t> cap screws </a:t>
                  </a:r>
                  <a:endParaRPr lang="pl-PL" sz="1400" dirty="0"/>
                </a:p>
              </p:txBody>
            </p:sp>
          </p:grpSp>
          <p:sp>
            <p:nvSpPr>
              <p:cNvPr id="14" name="Down Arrow 13"/>
              <p:cNvSpPr/>
              <p:nvPr/>
            </p:nvSpPr>
            <p:spPr>
              <a:xfrm rot="14100000">
                <a:off x="2818361" y="1326618"/>
                <a:ext cx="284290" cy="67903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20" name="Picture 19"/>
            <p:cNvPicPr>
              <a:picLocks noChangeAspect="1"/>
            </p:cNvPicPr>
            <p:nvPr/>
          </p:nvPicPr>
          <p:blipFill>
            <a:blip r:embed="rId4"/>
            <a:stretch>
              <a:fillRect/>
            </a:stretch>
          </p:blipFill>
          <p:spPr>
            <a:xfrm>
              <a:off x="4967552" y="979878"/>
              <a:ext cx="2197624" cy="2061433"/>
            </a:xfrm>
            <a:prstGeom prst="rect">
              <a:avLst/>
            </a:prstGeom>
          </p:spPr>
        </p:pic>
        <p:cxnSp>
          <p:nvCxnSpPr>
            <p:cNvPr id="25" name="Straight Arrow Connector 24"/>
            <p:cNvCxnSpPr/>
            <p:nvPr/>
          </p:nvCxnSpPr>
          <p:spPr>
            <a:xfrm>
              <a:off x="6054049" y="1221638"/>
              <a:ext cx="0" cy="313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231967" y="720692"/>
              <a:ext cx="0" cy="313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a:off x="5376270" y="1879362"/>
              <a:ext cx="0" cy="31355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a:off x="4956764" y="2292816"/>
              <a:ext cx="0" cy="31355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799986" y="-29028"/>
              <a:ext cx="2835653" cy="523219"/>
            </a:xfrm>
            <a:prstGeom prst="rect">
              <a:avLst/>
            </a:prstGeom>
          </p:spPr>
          <p:txBody>
            <a:bodyPr wrap="square">
              <a:spAutoFit/>
            </a:bodyPr>
            <a:lstStyle/>
            <a:p>
              <a:r>
                <a:rPr lang="pl-PL" sz="1400" dirty="0"/>
                <a:t>Ensure the corresponding surfaces are as paralell as possible</a:t>
              </a:r>
            </a:p>
          </p:txBody>
        </p:sp>
      </p:grpSp>
      <p:cxnSp>
        <p:nvCxnSpPr>
          <p:cNvPr id="35" name="Straight Connector 34"/>
          <p:cNvCxnSpPr/>
          <p:nvPr/>
        </p:nvCxnSpPr>
        <p:spPr>
          <a:xfrm>
            <a:off x="5353971" y="0"/>
            <a:ext cx="0" cy="32609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66876" y="0"/>
            <a:ext cx="301686" cy="369332"/>
          </a:xfrm>
          <a:prstGeom prst="rect">
            <a:avLst/>
          </a:prstGeom>
        </p:spPr>
        <p:txBody>
          <a:bodyPr wrap="none">
            <a:spAutoFit/>
          </a:bodyPr>
          <a:lstStyle/>
          <a:p>
            <a:r>
              <a:rPr lang="pl-PL" dirty="0"/>
              <a:t>1</a:t>
            </a:r>
          </a:p>
        </p:txBody>
      </p:sp>
      <p:grpSp>
        <p:nvGrpSpPr>
          <p:cNvPr id="48" name="Group 47"/>
          <p:cNvGrpSpPr/>
          <p:nvPr/>
        </p:nvGrpSpPr>
        <p:grpSpPr>
          <a:xfrm>
            <a:off x="667759" y="3440613"/>
            <a:ext cx="4043428" cy="2925165"/>
            <a:chOff x="637560" y="3518500"/>
            <a:chExt cx="5303827" cy="3836982"/>
          </a:xfrm>
        </p:grpSpPr>
        <p:pic>
          <p:nvPicPr>
            <p:cNvPr id="40" name="Picture 39"/>
            <p:cNvPicPr>
              <a:picLocks noChangeAspect="1"/>
            </p:cNvPicPr>
            <p:nvPr/>
          </p:nvPicPr>
          <p:blipFill>
            <a:blip r:embed="rId5"/>
            <a:stretch>
              <a:fillRect/>
            </a:stretch>
          </p:blipFill>
          <p:spPr>
            <a:xfrm rot="5400000">
              <a:off x="2446012" y="3008849"/>
              <a:ext cx="2236710" cy="4754040"/>
            </a:xfrm>
            <a:prstGeom prst="rect">
              <a:avLst/>
            </a:prstGeom>
          </p:spPr>
        </p:pic>
        <p:sp>
          <p:nvSpPr>
            <p:cNvPr id="41" name="Down Arrow 40"/>
            <p:cNvSpPr/>
            <p:nvPr/>
          </p:nvSpPr>
          <p:spPr>
            <a:xfrm rot="16200000">
              <a:off x="3036405" y="4441940"/>
              <a:ext cx="320386" cy="105863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2" name="Rectangle 41"/>
            <p:cNvSpPr/>
            <p:nvPr/>
          </p:nvSpPr>
          <p:spPr>
            <a:xfrm>
              <a:off x="743415" y="3518500"/>
              <a:ext cx="3030086" cy="793487"/>
            </a:xfrm>
            <a:prstGeom prst="rect">
              <a:avLst/>
            </a:prstGeom>
          </p:spPr>
          <p:txBody>
            <a:bodyPr wrap="square">
              <a:spAutoFit/>
            </a:bodyPr>
            <a:lstStyle/>
            <a:p>
              <a:r>
                <a:rPr lang="pl-PL" sz="1400" dirty="0"/>
                <a:t>Ensure the position of the cutout is as indicated </a:t>
              </a:r>
            </a:p>
          </p:txBody>
        </p:sp>
        <p:cxnSp>
          <p:nvCxnSpPr>
            <p:cNvPr id="43" name="Straight Arrow Connector 42"/>
            <p:cNvCxnSpPr/>
            <p:nvPr/>
          </p:nvCxnSpPr>
          <p:spPr>
            <a:xfrm>
              <a:off x="1959355" y="4230772"/>
              <a:ext cx="0" cy="3135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637560" y="5538764"/>
              <a:ext cx="2948871" cy="1816718"/>
            </a:xfrm>
            <a:prstGeom prst="rect">
              <a:avLst/>
            </a:prstGeom>
          </p:spPr>
          <p:txBody>
            <a:bodyPr wrap="square">
              <a:spAutoFit/>
            </a:bodyPr>
            <a:lstStyle/>
            <a:p>
              <a:r>
                <a:rPr lang="pl-PL" sz="1400" dirty="0"/>
                <a:t>Slide the kinematic mount into the post holder as tight as possible. Be careful as it may fall off – final fixing is with the M4 cap screw in the next step</a:t>
              </a:r>
            </a:p>
          </p:txBody>
        </p:sp>
      </p:grpSp>
      <p:sp>
        <p:nvSpPr>
          <p:cNvPr id="45" name="Rectangle 44"/>
          <p:cNvSpPr/>
          <p:nvPr/>
        </p:nvSpPr>
        <p:spPr>
          <a:xfrm>
            <a:off x="21086" y="3679262"/>
            <a:ext cx="301686" cy="369332"/>
          </a:xfrm>
          <a:prstGeom prst="rect">
            <a:avLst/>
          </a:prstGeom>
        </p:spPr>
        <p:txBody>
          <a:bodyPr wrap="none">
            <a:spAutoFit/>
          </a:bodyPr>
          <a:lstStyle/>
          <a:p>
            <a:r>
              <a:rPr lang="pl-PL" dirty="0"/>
              <a:t>3</a:t>
            </a:r>
          </a:p>
        </p:txBody>
      </p:sp>
      <p:sp>
        <p:nvSpPr>
          <p:cNvPr id="56" name="Rectangle 55"/>
          <p:cNvSpPr/>
          <p:nvPr/>
        </p:nvSpPr>
        <p:spPr>
          <a:xfrm>
            <a:off x="11035993" y="360862"/>
            <a:ext cx="301686" cy="369332"/>
          </a:xfrm>
          <a:prstGeom prst="rect">
            <a:avLst/>
          </a:prstGeom>
        </p:spPr>
        <p:txBody>
          <a:bodyPr wrap="none">
            <a:spAutoFit/>
          </a:bodyPr>
          <a:lstStyle/>
          <a:p>
            <a:r>
              <a:rPr lang="pl-PL" dirty="0"/>
              <a:t>4</a:t>
            </a:r>
          </a:p>
        </p:txBody>
      </p:sp>
      <p:pic>
        <p:nvPicPr>
          <p:cNvPr id="61" name="Picture 60"/>
          <p:cNvPicPr>
            <a:picLocks noChangeAspect="1"/>
          </p:cNvPicPr>
          <p:nvPr/>
        </p:nvPicPr>
        <p:blipFill>
          <a:blip r:embed="rId6"/>
          <a:stretch>
            <a:fillRect/>
          </a:stretch>
        </p:blipFill>
        <p:spPr>
          <a:xfrm>
            <a:off x="6958832" y="647955"/>
            <a:ext cx="5006408" cy="5327051"/>
          </a:xfrm>
          <a:prstGeom prst="rect">
            <a:avLst/>
          </a:prstGeom>
        </p:spPr>
      </p:pic>
      <p:grpSp>
        <p:nvGrpSpPr>
          <p:cNvPr id="47" name="Group 46"/>
          <p:cNvGrpSpPr/>
          <p:nvPr/>
        </p:nvGrpSpPr>
        <p:grpSpPr>
          <a:xfrm>
            <a:off x="5513617" y="211084"/>
            <a:ext cx="2855202" cy="2484748"/>
            <a:chOff x="8032065" y="208684"/>
            <a:chExt cx="3654692" cy="3180507"/>
          </a:xfrm>
        </p:grpSpPr>
        <p:pic>
          <p:nvPicPr>
            <p:cNvPr id="33" name="Picture 32"/>
            <p:cNvPicPr>
              <a:picLocks noChangeAspect="1"/>
            </p:cNvPicPr>
            <p:nvPr/>
          </p:nvPicPr>
          <p:blipFill>
            <a:blip r:embed="rId7"/>
            <a:stretch>
              <a:fillRect/>
            </a:stretch>
          </p:blipFill>
          <p:spPr>
            <a:xfrm>
              <a:off x="8032065" y="208684"/>
              <a:ext cx="3654692" cy="3180507"/>
            </a:xfrm>
            <a:prstGeom prst="rect">
              <a:avLst/>
            </a:prstGeom>
          </p:spPr>
        </p:pic>
        <p:sp>
          <p:nvSpPr>
            <p:cNvPr id="31" name="Down Arrow 30"/>
            <p:cNvSpPr/>
            <p:nvPr/>
          </p:nvSpPr>
          <p:spPr>
            <a:xfrm rot="14100000">
              <a:off x="9620375" y="1459419"/>
              <a:ext cx="284290" cy="67903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Rectangle 33"/>
            <p:cNvSpPr/>
            <p:nvPr/>
          </p:nvSpPr>
          <p:spPr>
            <a:xfrm>
              <a:off x="9449657" y="2289758"/>
              <a:ext cx="2122243" cy="523220"/>
            </a:xfrm>
            <a:prstGeom prst="rect">
              <a:avLst/>
            </a:prstGeom>
          </p:spPr>
          <p:txBody>
            <a:bodyPr wrap="square">
              <a:spAutoFit/>
            </a:bodyPr>
            <a:lstStyle/>
            <a:p>
              <a:r>
                <a:rPr lang="pl-PL" sz="1400" dirty="0"/>
                <a:t>Insert the mirror into the holder with a tight fit</a:t>
              </a:r>
            </a:p>
          </p:txBody>
        </p:sp>
      </p:grpSp>
      <p:cxnSp>
        <p:nvCxnSpPr>
          <p:cNvPr id="52" name="Straight Connector 51"/>
          <p:cNvCxnSpPr/>
          <p:nvPr/>
        </p:nvCxnSpPr>
        <p:spPr>
          <a:xfrm flipH="1">
            <a:off x="3223369" y="0"/>
            <a:ext cx="7484736"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7824661" y="0"/>
            <a:ext cx="301686" cy="369332"/>
          </a:xfrm>
          <a:prstGeom prst="rect">
            <a:avLst/>
          </a:prstGeom>
        </p:spPr>
        <p:txBody>
          <a:bodyPr wrap="none">
            <a:spAutoFit/>
          </a:bodyPr>
          <a:lstStyle/>
          <a:p>
            <a:r>
              <a:rPr lang="pl-PL" dirty="0"/>
              <a:t>2</a:t>
            </a:r>
          </a:p>
        </p:txBody>
      </p:sp>
      <p:cxnSp>
        <p:nvCxnSpPr>
          <p:cNvPr id="19" name="Straight Connector 18"/>
          <p:cNvCxnSpPr/>
          <p:nvPr/>
        </p:nvCxnSpPr>
        <p:spPr>
          <a:xfrm>
            <a:off x="-29636" y="3260990"/>
            <a:ext cx="7176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Down Arrow 56"/>
          <p:cNvSpPr/>
          <p:nvPr/>
        </p:nvSpPr>
        <p:spPr>
          <a:xfrm>
            <a:off x="9334121" y="4628831"/>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Down Arrow 63"/>
          <p:cNvSpPr/>
          <p:nvPr/>
        </p:nvSpPr>
        <p:spPr>
          <a:xfrm rot="10800000">
            <a:off x="9259690" y="5734177"/>
            <a:ext cx="283730" cy="6777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5" name="Rectangle 64"/>
          <p:cNvSpPr/>
          <p:nvPr/>
        </p:nvSpPr>
        <p:spPr>
          <a:xfrm>
            <a:off x="5814806" y="5052039"/>
            <a:ext cx="2914021" cy="1600438"/>
          </a:xfrm>
          <a:prstGeom prst="rect">
            <a:avLst/>
          </a:prstGeom>
        </p:spPr>
        <p:txBody>
          <a:bodyPr wrap="square">
            <a:spAutoFit/>
          </a:bodyPr>
          <a:lstStyle/>
          <a:p>
            <a:r>
              <a:rPr lang="pl-PL" sz="1400" dirty="0"/>
              <a:t>Fit the support post into the slot indicated by the small green arrow. </a:t>
            </a:r>
            <a:r>
              <a:rPr lang="en-US" sz="1400" dirty="0"/>
              <a:t>Secure the assembly using an M4 cap screw</a:t>
            </a:r>
            <a:r>
              <a:rPr lang="pl-PL" sz="1400" dirty="0"/>
              <a:t>, as indicated by the large green arrow</a:t>
            </a:r>
            <a:r>
              <a:rPr lang="en-US" sz="1400" dirty="0"/>
              <a:t>. The screw should pass through from the bottom of the main board to the kinematic mount.</a:t>
            </a:r>
            <a:endParaRPr lang="pl-PL" sz="1400" dirty="0"/>
          </a:p>
        </p:txBody>
      </p:sp>
    </p:spTree>
    <p:extLst>
      <p:ext uri="{BB962C8B-B14F-4D97-AF65-F5344CB8AC3E}">
        <p14:creationId xmlns:p14="http://schemas.microsoft.com/office/powerpoint/2010/main" val="1648614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13" name="Picture 12"/>
          <p:cNvPicPr>
            <a:picLocks noChangeAspect="1"/>
          </p:cNvPicPr>
          <p:nvPr/>
        </p:nvPicPr>
        <p:blipFill>
          <a:blip r:embed="rId3"/>
          <a:stretch>
            <a:fillRect/>
          </a:stretch>
        </p:blipFill>
        <p:spPr>
          <a:xfrm>
            <a:off x="330977" y="2031325"/>
            <a:ext cx="4263654" cy="4614190"/>
          </a:xfrm>
          <a:prstGeom prst="rect">
            <a:avLst/>
          </a:prstGeom>
        </p:spPr>
      </p:pic>
      <p:pic>
        <p:nvPicPr>
          <p:cNvPr id="2" name="Picture 1"/>
          <p:cNvPicPr>
            <a:picLocks noChangeAspect="1"/>
          </p:cNvPicPr>
          <p:nvPr/>
        </p:nvPicPr>
        <p:blipFill>
          <a:blip r:embed="rId4"/>
          <a:stretch>
            <a:fillRect/>
          </a:stretch>
        </p:blipFill>
        <p:spPr>
          <a:xfrm>
            <a:off x="6709165" y="1678988"/>
            <a:ext cx="816164" cy="1831137"/>
          </a:xfrm>
          <a:prstGeom prst="rect">
            <a:avLst/>
          </a:prstGeom>
        </p:spPr>
      </p:pic>
      <p:pic>
        <p:nvPicPr>
          <p:cNvPr id="4" name="Picture 3"/>
          <p:cNvPicPr>
            <a:picLocks noChangeAspect="1"/>
          </p:cNvPicPr>
          <p:nvPr/>
        </p:nvPicPr>
        <p:blipFill>
          <a:blip r:embed="rId5"/>
          <a:stretch>
            <a:fillRect/>
          </a:stretch>
        </p:blipFill>
        <p:spPr>
          <a:xfrm>
            <a:off x="9179471" y="1920065"/>
            <a:ext cx="812160" cy="935008"/>
          </a:xfrm>
          <a:prstGeom prst="rect">
            <a:avLst/>
          </a:prstGeom>
        </p:spPr>
      </p:pic>
      <p:sp>
        <p:nvSpPr>
          <p:cNvPr id="8" name="TextBox 7"/>
          <p:cNvSpPr txBox="1"/>
          <p:nvPr/>
        </p:nvSpPr>
        <p:spPr>
          <a:xfrm>
            <a:off x="5892279" y="3584012"/>
            <a:ext cx="1296045" cy="861774"/>
          </a:xfrm>
          <a:prstGeom prst="rect">
            <a:avLst/>
          </a:prstGeom>
          <a:noFill/>
        </p:spPr>
        <p:txBody>
          <a:bodyPr wrap="square" rtlCol="0">
            <a:spAutoFit/>
          </a:bodyPr>
          <a:lstStyle/>
          <a:p>
            <a:r>
              <a:rPr lang="en-US" sz="1000" dirty="0"/>
              <a:t>Mold M3 threaded inserts into the designated holes indicated by the red arrows</a:t>
            </a:r>
            <a:endParaRPr lang="pl-PL" sz="1000" dirty="0"/>
          </a:p>
        </p:txBody>
      </p:sp>
      <p:cxnSp>
        <p:nvCxnSpPr>
          <p:cNvPr id="9" name="Straight Arrow Connector 8"/>
          <p:cNvCxnSpPr/>
          <p:nvPr/>
        </p:nvCxnSpPr>
        <p:spPr>
          <a:xfrm>
            <a:off x="7117066" y="2252564"/>
            <a:ext cx="0" cy="2054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7525329" y="1763287"/>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67494" y="3578794"/>
            <a:ext cx="1296045" cy="707886"/>
          </a:xfrm>
          <a:prstGeom prst="rect">
            <a:avLst/>
          </a:prstGeom>
          <a:noFill/>
        </p:spPr>
        <p:txBody>
          <a:bodyPr wrap="square" rtlCol="0">
            <a:spAutoFit/>
          </a:bodyPr>
          <a:lstStyle/>
          <a:p>
            <a:r>
              <a:rPr lang="en-US" sz="1000" dirty="0"/>
              <a:t>Insert M</a:t>
            </a:r>
            <a:r>
              <a:rPr lang="pl-PL" sz="1000" dirty="0"/>
              <a:t>2</a:t>
            </a:r>
            <a:r>
              <a:rPr lang="en-US" sz="1000" dirty="0"/>
              <a:t> nuts into the designated slots indicated by the green arrows</a:t>
            </a:r>
            <a:endParaRPr lang="pl-PL" sz="1000" dirty="0"/>
          </a:p>
        </p:txBody>
      </p:sp>
      <p:pic>
        <p:nvPicPr>
          <p:cNvPr id="7" name="Picture 6"/>
          <p:cNvPicPr>
            <a:picLocks noChangeAspect="1"/>
          </p:cNvPicPr>
          <p:nvPr/>
        </p:nvPicPr>
        <p:blipFill>
          <a:blip r:embed="rId6"/>
          <a:stretch>
            <a:fillRect/>
          </a:stretch>
        </p:blipFill>
        <p:spPr>
          <a:xfrm>
            <a:off x="6615237" y="4528940"/>
            <a:ext cx="1016956" cy="1844609"/>
          </a:xfrm>
          <a:prstGeom prst="rect">
            <a:avLst/>
          </a:prstGeom>
        </p:spPr>
      </p:pic>
      <p:cxnSp>
        <p:nvCxnSpPr>
          <p:cNvPr id="14" name="Straight Arrow Connector 13"/>
          <p:cNvCxnSpPr/>
          <p:nvPr/>
        </p:nvCxnSpPr>
        <p:spPr>
          <a:xfrm rot="5400000">
            <a:off x="7577616" y="4600697"/>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121896" y="5023473"/>
            <a:ext cx="0" cy="2054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7"/>
          <a:stretch>
            <a:fillRect/>
          </a:stretch>
        </p:blipFill>
        <p:spPr>
          <a:xfrm>
            <a:off x="9261354" y="5129772"/>
            <a:ext cx="793253" cy="893453"/>
          </a:xfrm>
          <a:prstGeom prst="rect">
            <a:avLst/>
          </a:prstGeom>
        </p:spPr>
      </p:pic>
      <p:pic>
        <p:nvPicPr>
          <p:cNvPr id="17" name="Picture 16"/>
          <p:cNvPicPr>
            <a:picLocks noChangeAspect="1"/>
          </p:cNvPicPr>
          <p:nvPr/>
        </p:nvPicPr>
        <p:blipFill>
          <a:blip r:embed="rId8"/>
          <a:stretch>
            <a:fillRect/>
          </a:stretch>
        </p:blipFill>
        <p:spPr>
          <a:xfrm>
            <a:off x="9023067" y="3119360"/>
            <a:ext cx="1288733" cy="1761142"/>
          </a:xfrm>
          <a:prstGeom prst="rect">
            <a:avLst/>
          </a:prstGeom>
        </p:spPr>
      </p:pic>
      <p:sp>
        <p:nvSpPr>
          <p:cNvPr id="3" name="TextBox 2"/>
          <p:cNvSpPr txBox="1"/>
          <p:nvPr/>
        </p:nvSpPr>
        <p:spPr>
          <a:xfrm>
            <a:off x="-2" y="0"/>
            <a:ext cx="11344942" cy="2031325"/>
          </a:xfrm>
          <a:prstGeom prst="rect">
            <a:avLst/>
          </a:prstGeom>
          <a:noFill/>
        </p:spPr>
        <p:txBody>
          <a:bodyPr wrap="square" rtlCol="0">
            <a:spAutoFit/>
          </a:bodyPr>
          <a:lstStyle/>
          <a:p>
            <a:r>
              <a:rPr lang="pl-PL" dirty="0"/>
              <a:t>1 </a:t>
            </a:r>
            <a:r>
              <a:rPr lang="pl-PL" dirty="0">
                <a:cs typeface="Times New Roman" panose="02020603050405020304" pitchFamily="18" charset="0"/>
              </a:rPr>
              <a:t>× </a:t>
            </a:r>
            <a:r>
              <a:rPr lang="pl-PL" dirty="0"/>
              <a:t>Thorlabs_BP208</a:t>
            </a:r>
          </a:p>
          <a:p>
            <a:r>
              <a:rPr lang="pl-PL" dirty="0"/>
              <a:t>1 </a:t>
            </a:r>
            <a:r>
              <a:rPr lang="pl-PL" dirty="0">
                <a:cs typeface="Times New Roman" panose="02020603050405020304" pitchFamily="18" charset="0"/>
              </a:rPr>
              <a:t>× 09_FDML_stimfix_1in_lens_clamp_holder_stim</a:t>
            </a:r>
          </a:p>
          <a:p>
            <a:r>
              <a:rPr lang="pl-PL" dirty="0"/>
              <a:t>1 </a:t>
            </a:r>
            <a:r>
              <a:rPr lang="pl-PL" dirty="0">
                <a:cs typeface="Times New Roman" panose="02020603050405020304" pitchFamily="18" charset="0"/>
              </a:rPr>
              <a:t>× 10_FDML_stimfix_1in_lens_clamp_holder_fix</a:t>
            </a:r>
          </a:p>
          <a:p>
            <a:r>
              <a:rPr lang="pl-PL" dirty="0"/>
              <a:t>1 </a:t>
            </a:r>
            <a:r>
              <a:rPr lang="pl-PL" dirty="0">
                <a:cs typeface="Times New Roman" panose="02020603050405020304" pitchFamily="18" charset="0"/>
              </a:rPr>
              <a:t>× Thorlabs_AC254-075-A (https://www.thorlabs.com/thorproduct.cfm?partnumber=AC254-075-A)</a:t>
            </a:r>
          </a:p>
          <a:p>
            <a:r>
              <a:rPr lang="pl-PL" dirty="0"/>
              <a:t>1 </a:t>
            </a:r>
            <a:r>
              <a:rPr lang="pl-PL" dirty="0">
                <a:cs typeface="Times New Roman" panose="02020603050405020304" pitchFamily="18" charset="0"/>
              </a:rPr>
              <a:t>× Thorlabs_CP20D (https://www.thorlabs.com/thorproduct.cfm?partnumber=CP20D)</a:t>
            </a:r>
            <a:br>
              <a:rPr lang="pl-PL" dirty="0">
                <a:cs typeface="Times New Roman" panose="02020603050405020304" pitchFamily="18" charset="0"/>
              </a:rPr>
            </a:br>
            <a:r>
              <a:rPr lang="pl-PL" dirty="0"/>
              <a:t>1 </a:t>
            </a:r>
            <a:r>
              <a:rPr lang="pl-PL" dirty="0">
                <a:cs typeface="Times New Roman" panose="02020603050405020304" pitchFamily="18" charset="0"/>
              </a:rPr>
              <a:t>× Thorlabs_LB1294-A (</a:t>
            </a:r>
            <a:r>
              <a:rPr lang="pl-PL" dirty="0">
                <a:cs typeface="Times New Roman" panose="02020603050405020304" pitchFamily="18" charset="0"/>
                <a:hlinkClick r:id="rId9"/>
              </a:rPr>
              <a:t>https://www.thorlabs.com/thorproduct.cfm?partnumber=LB1294-A</a:t>
            </a:r>
            <a:r>
              <a:rPr lang="pl-PL" dirty="0">
                <a:cs typeface="Times New Roman" panose="02020603050405020304" pitchFamily="18" charset="0"/>
              </a:rPr>
              <a:t>)</a:t>
            </a:r>
          </a:p>
          <a:p>
            <a:r>
              <a:rPr lang="pl-PL" dirty="0">
                <a:cs typeface="Times New Roman" panose="02020603050405020304" pitchFamily="18" charset="0"/>
              </a:rPr>
              <a:t>2 × 11_FDML_stimfix_iris_mounting_rod</a:t>
            </a:r>
            <a:endParaRPr lang="pl-PL" dirty="0"/>
          </a:p>
        </p:txBody>
      </p:sp>
      <p:pic>
        <p:nvPicPr>
          <p:cNvPr id="18" name="Picture 17"/>
          <p:cNvPicPr>
            <a:picLocks noChangeAspect="1"/>
          </p:cNvPicPr>
          <p:nvPr/>
        </p:nvPicPr>
        <p:blipFill>
          <a:blip r:embed="rId10"/>
          <a:stretch>
            <a:fillRect/>
          </a:stretch>
        </p:blipFill>
        <p:spPr>
          <a:xfrm>
            <a:off x="11407254" y="4286680"/>
            <a:ext cx="335333" cy="650031"/>
          </a:xfrm>
          <a:prstGeom prst="rect">
            <a:avLst/>
          </a:prstGeom>
        </p:spPr>
      </p:pic>
      <p:pic>
        <p:nvPicPr>
          <p:cNvPr id="20" name="Picture 19"/>
          <p:cNvPicPr>
            <a:picLocks noChangeAspect="1"/>
          </p:cNvPicPr>
          <p:nvPr/>
        </p:nvPicPr>
        <p:blipFill>
          <a:blip r:embed="rId10"/>
          <a:stretch>
            <a:fillRect/>
          </a:stretch>
        </p:blipFill>
        <p:spPr>
          <a:xfrm>
            <a:off x="11407254" y="3291342"/>
            <a:ext cx="335333" cy="650031"/>
          </a:xfrm>
          <a:prstGeom prst="rect">
            <a:avLst/>
          </a:prstGeom>
        </p:spPr>
      </p:pic>
      <p:pic>
        <p:nvPicPr>
          <p:cNvPr id="22" name="Picture 21"/>
          <p:cNvPicPr>
            <a:picLocks noChangeAspect="1"/>
          </p:cNvPicPr>
          <p:nvPr/>
        </p:nvPicPr>
        <p:blipFill>
          <a:blip r:embed="rId11"/>
          <a:stretch>
            <a:fillRect/>
          </a:stretch>
        </p:blipFill>
        <p:spPr>
          <a:xfrm>
            <a:off x="4574188" y="3268730"/>
            <a:ext cx="1230588" cy="1462402"/>
          </a:xfrm>
          <a:prstGeom prst="rect">
            <a:avLst/>
          </a:prstGeom>
        </p:spPr>
      </p:pic>
    </p:spTree>
    <p:extLst>
      <p:ext uri="{BB962C8B-B14F-4D97-AF65-F5344CB8AC3E}">
        <p14:creationId xmlns:p14="http://schemas.microsoft.com/office/powerpoint/2010/main" val="3089298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6" name="Picture 5"/>
          <p:cNvPicPr>
            <a:picLocks noChangeAspect="1"/>
          </p:cNvPicPr>
          <p:nvPr/>
        </p:nvPicPr>
        <p:blipFill>
          <a:blip r:embed="rId3"/>
          <a:stretch>
            <a:fillRect/>
          </a:stretch>
        </p:blipFill>
        <p:spPr>
          <a:xfrm>
            <a:off x="1068249" y="674515"/>
            <a:ext cx="3953163" cy="5508970"/>
          </a:xfrm>
          <a:prstGeom prst="rect">
            <a:avLst/>
          </a:prstGeom>
        </p:spPr>
      </p:pic>
      <p:sp>
        <p:nvSpPr>
          <p:cNvPr id="21" name="Down Arrow 20"/>
          <p:cNvSpPr/>
          <p:nvPr/>
        </p:nvSpPr>
        <p:spPr>
          <a:xfrm rot="10800000" flipV="1">
            <a:off x="3117307" y="3429000"/>
            <a:ext cx="283730" cy="6777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22" name="Picture 21"/>
          <p:cNvPicPr>
            <a:picLocks noChangeAspect="1"/>
          </p:cNvPicPr>
          <p:nvPr/>
        </p:nvPicPr>
        <p:blipFill>
          <a:blip r:embed="rId4"/>
          <a:stretch>
            <a:fillRect/>
          </a:stretch>
        </p:blipFill>
        <p:spPr>
          <a:xfrm>
            <a:off x="6519241" y="935727"/>
            <a:ext cx="3777274" cy="4986545"/>
          </a:xfrm>
          <a:prstGeom prst="rect">
            <a:avLst/>
          </a:prstGeom>
        </p:spPr>
      </p:pic>
      <p:cxnSp>
        <p:nvCxnSpPr>
          <p:cNvPr id="24" name="Straight Arrow Connector 23"/>
          <p:cNvCxnSpPr/>
          <p:nvPr/>
        </p:nvCxnSpPr>
        <p:spPr>
          <a:xfrm flipV="1">
            <a:off x="7293634" y="2892228"/>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923651" y="4040660"/>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665557" y="144698"/>
            <a:ext cx="1940736" cy="646331"/>
          </a:xfrm>
          <a:prstGeom prst="rect">
            <a:avLst/>
          </a:prstGeom>
          <a:noFill/>
        </p:spPr>
        <p:txBody>
          <a:bodyPr wrap="square" rtlCol="0">
            <a:spAutoFit/>
          </a:bodyPr>
          <a:lstStyle/>
          <a:p>
            <a:r>
              <a:rPr lang="pl-PL" sz="1200" dirty="0"/>
              <a:t>Secure with #2-56 button head screws as indicated by the red arrows</a:t>
            </a:r>
          </a:p>
        </p:txBody>
      </p:sp>
      <p:sp>
        <p:nvSpPr>
          <p:cNvPr id="27" name="TextBox 26"/>
          <p:cNvSpPr txBox="1"/>
          <p:nvPr/>
        </p:nvSpPr>
        <p:spPr>
          <a:xfrm>
            <a:off x="1438491" y="28184"/>
            <a:ext cx="3641360" cy="646331"/>
          </a:xfrm>
          <a:prstGeom prst="rect">
            <a:avLst/>
          </a:prstGeom>
          <a:noFill/>
        </p:spPr>
        <p:txBody>
          <a:bodyPr wrap="square" rtlCol="0">
            <a:spAutoFit/>
          </a:bodyPr>
          <a:lstStyle/>
          <a:p>
            <a:r>
              <a:rPr lang="pl-PL" sz="1200" dirty="0"/>
              <a:t>Carefully insert the pellicle into the mounting fork. Head screws should be facing the direction indicated by the blue arrows and fitting the clearance slots</a:t>
            </a:r>
          </a:p>
        </p:txBody>
      </p:sp>
      <p:cxnSp>
        <p:nvCxnSpPr>
          <p:cNvPr id="28" name="Straight Arrow Connector 27"/>
          <p:cNvCxnSpPr/>
          <p:nvPr/>
        </p:nvCxnSpPr>
        <p:spPr>
          <a:xfrm rot="10800000" flipV="1">
            <a:off x="1998937" y="1591218"/>
            <a:ext cx="233718" cy="13208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flipV="1">
            <a:off x="3514246" y="2857717"/>
            <a:ext cx="233718" cy="13208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9592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17" name="Picture 16"/>
          <p:cNvPicPr>
            <a:picLocks noChangeAspect="1"/>
          </p:cNvPicPr>
          <p:nvPr/>
        </p:nvPicPr>
        <p:blipFill>
          <a:blip r:embed="rId3"/>
          <a:stretch>
            <a:fillRect/>
          </a:stretch>
        </p:blipFill>
        <p:spPr>
          <a:xfrm>
            <a:off x="4739831" y="634493"/>
            <a:ext cx="895128" cy="1914580"/>
          </a:xfrm>
          <a:prstGeom prst="rect">
            <a:avLst/>
          </a:prstGeom>
        </p:spPr>
      </p:pic>
      <p:cxnSp>
        <p:nvCxnSpPr>
          <p:cNvPr id="18" name="Straight Arrow Connector 17"/>
          <p:cNvCxnSpPr/>
          <p:nvPr/>
        </p:nvCxnSpPr>
        <p:spPr>
          <a:xfrm>
            <a:off x="4739831" y="568452"/>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020728" y="423534"/>
            <a:ext cx="777563" cy="553998"/>
          </a:xfrm>
          <a:prstGeom prst="rect">
            <a:avLst/>
          </a:prstGeom>
          <a:noFill/>
        </p:spPr>
        <p:txBody>
          <a:bodyPr wrap="square" rtlCol="0">
            <a:spAutoFit/>
          </a:bodyPr>
          <a:lstStyle/>
          <a:p>
            <a:r>
              <a:rPr lang="pl-PL" sz="1000" dirty="0"/>
              <a:t>Tighten with an M2 cap screw</a:t>
            </a:r>
          </a:p>
        </p:txBody>
      </p:sp>
      <p:grpSp>
        <p:nvGrpSpPr>
          <p:cNvPr id="23" name="Group 22"/>
          <p:cNvGrpSpPr/>
          <p:nvPr/>
        </p:nvGrpSpPr>
        <p:grpSpPr>
          <a:xfrm>
            <a:off x="173275" y="568452"/>
            <a:ext cx="2871488" cy="2303942"/>
            <a:chOff x="60772" y="254139"/>
            <a:chExt cx="2871488" cy="2303942"/>
          </a:xfrm>
        </p:grpSpPr>
        <p:grpSp>
          <p:nvGrpSpPr>
            <p:cNvPr id="16" name="Group 15"/>
            <p:cNvGrpSpPr/>
            <p:nvPr/>
          </p:nvGrpSpPr>
          <p:grpSpPr>
            <a:xfrm>
              <a:off x="521482" y="254139"/>
              <a:ext cx="2410778" cy="2303942"/>
              <a:chOff x="748059" y="326967"/>
              <a:chExt cx="2410778" cy="2303942"/>
            </a:xfrm>
          </p:grpSpPr>
          <p:pic>
            <p:nvPicPr>
              <p:cNvPr id="2" name="Picture 1"/>
              <p:cNvPicPr>
                <a:picLocks noChangeAspect="1"/>
              </p:cNvPicPr>
              <p:nvPr/>
            </p:nvPicPr>
            <p:blipFill>
              <a:blip r:embed="rId4"/>
              <a:stretch>
                <a:fillRect/>
              </a:stretch>
            </p:blipFill>
            <p:spPr>
              <a:xfrm>
                <a:off x="748059" y="326967"/>
                <a:ext cx="2410778" cy="2303942"/>
              </a:xfrm>
              <a:prstGeom prst="rect">
                <a:avLst/>
              </a:prstGeom>
            </p:spPr>
          </p:pic>
          <p:sp>
            <p:nvSpPr>
              <p:cNvPr id="6" name="Down Arrow 5"/>
              <p:cNvSpPr/>
              <p:nvPr/>
            </p:nvSpPr>
            <p:spPr>
              <a:xfrm rot="14408019">
                <a:off x="1860420" y="1256740"/>
                <a:ext cx="186055" cy="4443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5" name="Straight Arrow Connector 4"/>
              <p:cNvCxnSpPr/>
              <p:nvPr/>
            </p:nvCxnSpPr>
            <p:spPr>
              <a:xfrm flipH="1">
                <a:off x="2590207" y="827823"/>
                <a:ext cx="142319" cy="47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2661367" y="982002"/>
                <a:ext cx="129378" cy="88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2790745" y="1097871"/>
                <a:ext cx="86272" cy="107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60772" y="1214787"/>
              <a:ext cx="777563" cy="400110"/>
            </a:xfrm>
            <a:prstGeom prst="rect">
              <a:avLst/>
            </a:prstGeom>
            <a:noFill/>
          </p:spPr>
          <p:txBody>
            <a:bodyPr wrap="square" rtlCol="0">
              <a:spAutoFit/>
            </a:bodyPr>
            <a:lstStyle/>
            <a:p>
              <a:r>
                <a:rPr lang="pl-PL" sz="1000" dirty="0"/>
                <a:t>Convex side</a:t>
              </a:r>
            </a:p>
          </p:txBody>
        </p:sp>
        <p:sp>
          <p:nvSpPr>
            <p:cNvPr id="22" name="TextBox 21"/>
            <p:cNvSpPr txBox="1"/>
            <p:nvPr/>
          </p:nvSpPr>
          <p:spPr>
            <a:xfrm>
              <a:off x="960441" y="457464"/>
              <a:ext cx="1054832" cy="553998"/>
            </a:xfrm>
            <a:prstGeom prst="rect">
              <a:avLst/>
            </a:prstGeom>
            <a:noFill/>
          </p:spPr>
          <p:txBody>
            <a:bodyPr wrap="square" rtlCol="0">
              <a:spAutoFit/>
            </a:bodyPr>
            <a:lstStyle/>
            <a:p>
              <a:r>
                <a:rPr lang="pl-PL" sz="1000" dirty="0"/>
                <a:t>Insert until the rim indicated by the blue arrows</a:t>
              </a:r>
            </a:p>
          </p:txBody>
        </p:sp>
      </p:grpSp>
      <p:grpSp>
        <p:nvGrpSpPr>
          <p:cNvPr id="47" name="Group 46"/>
          <p:cNvGrpSpPr/>
          <p:nvPr/>
        </p:nvGrpSpPr>
        <p:grpSpPr>
          <a:xfrm>
            <a:off x="6583059" y="568452"/>
            <a:ext cx="2459980" cy="2189265"/>
            <a:chOff x="6392666" y="625790"/>
            <a:chExt cx="2459980" cy="2189265"/>
          </a:xfrm>
        </p:grpSpPr>
        <p:pic>
          <p:nvPicPr>
            <p:cNvPr id="24" name="Picture 23"/>
            <p:cNvPicPr>
              <a:picLocks noChangeAspect="1"/>
            </p:cNvPicPr>
            <p:nvPr/>
          </p:nvPicPr>
          <p:blipFill>
            <a:blip r:embed="rId5"/>
            <a:stretch>
              <a:fillRect/>
            </a:stretch>
          </p:blipFill>
          <p:spPr>
            <a:xfrm>
              <a:off x="6392666" y="625790"/>
              <a:ext cx="2459980" cy="2189265"/>
            </a:xfrm>
            <a:prstGeom prst="rect">
              <a:avLst/>
            </a:prstGeom>
          </p:spPr>
        </p:pic>
        <p:sp>
          <p:nvSpPr>
            <p:cNvPr id="25" name="Down Arrow 24"/>
            <p:cNvSpPr/>
            <p:nvPr/>
          </p:nvSpPr>
          <p:spPr>
            <a:xfrm rot="14408019">
              <a:off x="7499598" y="1618257"/>
              <a:ext cx="186055" cy="4443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TextBox 26"/>
            <p:cNvSpPr txBox="1"/>
            <p:nvPr/>
          </p:nvSpPr>
          <p:spPr>
            <a:xfrm>
              <a:off x="6826196" y="891809"/>
              <a:ext cx="1054832" cy="553998"/>
            </a:xfrm>
            <a:prstGeom prst="rect">
              <a:avLst/>
            </a:prstGeom>
            <a:noFill/>
          </p:spPr>
          <p:txBody>
            <a:bodyPr wrap="square" rtlCol="0">
              <a:spAutoFit/>
            </a:bodyPr>
            <a:lstStyle/>
            <a:p>
              <a:r>
                <a:rPr lang="pl-PL" sz="1000" dirty="0"/>
                <a:t>Insert until the rim indicated by the blue arrows</a:t>
              </a:r>
            </a:p>
          </p:txBody>
        </p:sp>
        <p:cxnSp>
          <p:nvCxnSpPr>
            <p:cNvPr id="31" name="Straight Arrow Connector 30"/>
            <p:cNvCxnSpPr/>
            <p:nvPr/>
          </p:nvCxnSpPr>
          <p:spPr>
            <a:xfrm flipH="1">
              <a:off x="8199139" y="1113782"/>
              <a:ext cx="142319" cy="47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8270299" y="1267961"/>
              <a:ext cx="129378" cy="88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8399677" y="1383830"/>
              <a:ext cx="86272" cy="107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9856730" y="477997"/>
            <a:ext cx="1679079" cy="2227572"/>
            <a:chOff x="9470047" y="423534"/>
            <a:chExt cx="1679079" cy="2227572"/>
          </a:xfrm>
        </p:grpSpPr>
        <p:pic>
          <p:nvPicPr>
            <p:cNvPr id="34" name="Picture 33"/>
            <p:cNvPicPr>
              <a:picLocks noChangeAspect="1"/>
            </p:cNvPicPr>
            <p:nvPr/>
          </p:nvPicPr>
          <p:blipFill>
            <a:blip r:embed="rId6"/>
            <a:stretch>
              <a:fillRect/>
            </a:stretch>
          </p:blipFill>
          <p:spPr>
            <a:xfrm>
              <a:off x="10161201" y="568452"/>
              <a:ext cx="987925" cy="2082654"/>
            </a:xfrm>
            <a:prstGeom prst="rect">
              <a:avLst/>
            </a:prstGeom>
          </p:spPr>
        </p:pic>
        <p:cxnSp>
          <p:nvCxnSpPr>
            <p:cNvPr id="36" name="Straight Arrow Connector 35"/>
            <p:cNvCxnSpPr/>
            <p:nvPr/>
          </p:nvCxnSpPr>
          <p:spPr>
            <a:xfrm>
              <a:off x="10189150" y="568452"/>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9470047" y="423534"/>
              <a:ext cx="777563" cy="553998"/>
            </a:xfrm>
            <a:prstGeom prst="rect">
              <a:avLst/>
            </a:prstGeom>
            <a:noFill/>
          </p:spPr>
          <p:txBody>
            <a:bodyPr wrap="square" rtlCol="0">
              <a:spAutoFit/>
            </a:bodyPr>
            <a:lstStyle/>
            <a:p>
              <a:r>
                <a:rPr lang="pl-PL" sz="1000" dirty="0"/>
                <a:t>Tighten with an M2 cap screw</a:t>
              </a:r>
            </a:p>
          </p:txBody>
        </p:sp>
      </p:grpSp>
      <p:cxnSp>
        <p:nvCxnSpPr>
          <p:cNvPr id="38" name="Straight Connector 37"/>
          <p:cNvCxnSpPr/>
          <p:nvPr/>
        </p:nvCxnSpPr>
        <p:spPr>
          <a:xfrm>
            <a:off x="3634503" y="-14075"/>
            <a:ext cx="0" cy="32609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6876" y="-13850"/>
            <a:ext cx="301686" cy="369332"/>
          </a:xfrm>
          <a:prstGeom prst="rect">
            <a:avLst/>
          </a:prstGeom>
        </p:spPr>
        <p:txBody>
          <a:bodyPr wrap="none">
            <a:spAutoFit/>
          </a:bodyPr>
          <a:lstStyle/>
          <a:p>
            <a:r>
              <a:rPr lang="pl-PL" dirty="0"/>
              <a:t>1</a:t>
            </a:r>
          </a:p>
        </p:txBody>
      </p:sp>
      <p:cxnSp>
        <p:nvCxnSpPr>
          <p:cNvPr id="41" name="Straight Connector 40"/>
          <p:cNvCxnSpPr/>
          <p:nvPr/>
        </p:nvCxnSpPr>
        <p:spPr>
          <a:xfrm>
            <a:off x="6381014" y="3389"/>
            <a:ext cx="0" cy="32609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9415759" y="3389"/>
            <a:ext cx="0" cy="32609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3658370" y="-13850"/>
            <a:ext cx="301686" cy="369332"/>
          </a:xfrm>
          <a:prstGeom prst="rect">
            <a:avLst/>
          </a:prstGeom>
        </p:spPr>
        <p:txBody>
          <a:bodyPr wrap="none">
            <a:spAutoFit/>
          </a:bodyPr>
          <a:lstStyle/>
          <a:p>
            <a:r>
              <a:rPr lang="pl-PL" dirty="0"/>
              <a:t>2</a:t>
            </a:r>
          </a:p>
        </p:txBody>
      </p:sp>
      <p:sp>
        <p:nvSpPr>
          <p:cNvPr id="45" name="Rectangle 44"/>
          <p:cNvSpPr/>
          <p:nvPr/>
        </p:nvSpPr>
        <p:spPr>
          <a:xfrm>
            <a:off x="6408964" y="-13850"/>
            <a:ext cx="301686" cy="369332"/>
          </a:xfrm>
          <a:prstGeom prst="rect">
            <a:avLst/>
          </a:prstGeom>
        </p:spPr>
        <p:txBody>
          <a:bodyPr wrap="none">
            <a:spAutoFit/>
          </a:bodyPr>
          <a:lstStyle/>
          <a:p>
            <a:r>
              <a:rPr lang="pl-PL" dirty="0"/>
              <a:t>3</a:t>
            </a:r>
          </a:p>
        </p:txBody>
      </p:sp>
      <p:sp>
        <p:nvSpPr>
          <p:cNvPr id="46" name="Rectangle 45"/>
          <p:cNvSpPr/>
          <p:nvPr/>
        </p:nvSpPr>
        <p:spPr>
          <a:xfrm>
            <a:off x="9445396" y="-13850"/>
            <a:ext cx="301686" cy="369332"/>
          </a:xfrm>
          <a:prstGeom prst="rect">
            <a:avLst/>
          </a:prstGeom>
        </p:spPr>
        <p:txBody>
          <a:bodyPr wrap="none">
            <a:spAutoFit/>
          </a:bodyPr>
          <a:lstStyle/>
          <a:p>
            <a:r>
              <a:rPr lang="pl-PL" dirty="0"/>
              <a:t>4</a:t>
            </a:r>
          </a:p>
        </p:txBody>
      </p:sp>
      <p:cxnSp>
        <p:nvCxnSpPr>
          <p:cNvPr id="67" name="Straight Connector 66"/>
          <p:cNvCxnSpPr/>
          <p:nvPr/>
        </p:nvCxnSpPr>
        <p:spPr>
          <a:xfrm>
            <a:off x="4379737" y="3260990"/>
            <a:ext cx="0" cy="3597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4446613" y="3280255"/>
            <a:ext cx="301686" cy="369332"/>
          </a:xfrm>
          <a:prstGeom prst="rect">
            <a:avLst/>
          </a:prstGeom>
        </p:spPr>
        <p:txBody>
          <a:bodyPr wrap="none">
            <a:spAutoFit/>
          </a:bodyPr>
          <a:lstStyle/>
          <a:p>
            <a:r>
              <a:rPr lang="pl-PL" dirty="0"/>
              <a:t>6</a:t>
            </a:r>
          </a:p>
        </p:txBody>
      </p:sp>
      <p:cxnSp>
        <p:nvCxnSpPr>
          <p:cNvPr id="40" name="Straight Connector 39"/>
          <p:cNvCxnSpPr/>
          <p:nvPr/>
        </p:nvCxnSpPr>
        <p:spPr>
          <a:xfrm>
            <a:off x="0" y="326099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66876" y="3271209"/>
            <a:ext cx="301686" cy="369332"/>
          </a:xfrm>
          <a:prstGeom prst="rect">
            <a:avLst/>
          </a:prstGeom>
        </p:spPr>
        <p:txBody>
          <a:bodyPr wrap="none">
            <a:spAutoFit/>
          </a:bodyPr>
          <a:lstStyle/>
          <a:p>
            <a:r>
              <a:rPr lang="pl-PL" dirty="0"/>
              <a:t>5</a:t>
            </a:r>
          </a:p>
        </p:txBody>
      </p:sp>
      <p:pic>
        <p:nvPicPr>
          <p:cNvPr id="93" name="Picture 92"/>
          <p:cNvPicPr>
            <a:picLocks noChangeAspect="1"/>
          </p:cNvPicPr>
          <p:nvPr/>
        </p:nvPicPr>
        <p:blipFill>
          <a:blip r:embed="rId7"/>
          <a:stretch>
            <a:fillRect/>
          </a:stretch>
        </p:blipFill>
        <p:spPr>
          <a:xfrm>
            <a:off x="622953" y="3691532"/>
            <a:ext cx="2910867" cy="2642369"/>
          </a:xfrm>
          <a:prstGeom prst="rect">
            <a:avLst/>
          </a:prstGeom>
        </p:spPr>
      </p:pic>
      <p:sp>
        <p:nvSpPr>
          <p:cNvPr id="50" name="Down Arrow 49"/>
          <p:cNvSpPr/>
          <p:nvPr/>
        </p:nvSpPr>
        <p:spPr>
          <a:xfrm rot="17918135" flipH="1">
            <a:off x="1862953" y="4025013"/>
            <a:ext cx="114694" cy="27395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1" name="Down Arrow 50"/>
          <p:cNvSpPr/>
          <p:nvPr/>
        </p:nvSpPr>
        <p:spPr>
          <a:xfrm rot="17918135" flipH="1">
            <a:off x="1249943" y="4417947"/>
            <a:ext cx="114694" cy="27395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5" name="Down Arrow 54"/>
          <p:cNvSpPr/>
          <p:nvPr/>
        </p:nvSpPr>
        <p:spPr>
          <a:xfrm rot="17918135" flipH="1">
            <a:off x="1015597" y="3603588"/>
            <a:ext cx="114694" cy="27395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6" name="Down Arrow 55"/>
          <p:cNvSpPr/>
          <p:nvPr/>
        </p:nvSpPr>
        <p:spPr>
          <a:xfrm rot="17918135" flipH="1">
            <a:off x="431622" y="3951221"/>
            <a:ext cx="114694" cy="273952"/>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57" name="Straight Arrow Connector 56"/>
          <p:cNvCxnSpPr/>
          <p:nvPr/>
        </p:nvCxnSpPr>
        <p:spPr>
          <a:xfrm flipV="1">
            <a:off x="1538877" y="4939688"/>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rot="10800000" flipV="1">
            <a:off x="3130952" y="4083226"/>
            <a:ext cx="233718" cy="1320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937003" y="3525337"/>
            <a:ext cx="1442734" cy="553998"/>
          </a:xfrm>
          <a:prstGeom prst="rect">
            <a:avLst/>
          </a:prstGeom>
          <a:noFill/>
        </p:spPr>
        <p:txBody>
          <a:bodyPr wrap="square" rtlCol="0">
            <a:spAutoFit/>
          </a:bodyPr>
          <a:lstStyle/>
          <a:p>
            <a:r>
              <a:rPr lang="pl-PL" sz="1000" dirty="0"/>
              <a:t>Tighten with an M2 cap screws as indicated by the red arrows</a:t>
            </a:r>
          </a:p>
        </p:txBody>
      </p:sp>
      <p:sp>
        <p:nvSpPr>
          <p:cNvPr id="60" name="TextBox 59"/>
          <p:cNvSpPr txBox="1"/>
          <p:nvPr/>
        </p:nvSpPr>
        <p:spPr>
          <a:xfrm>
            <a:off x="527431" y="5268221"/>
            <a:ext cx="1072929" cy="861774"/>
          </a:xfrm>
          <a:prstGeom prst="rect">
            <a:avLst/>
          </a:prstGeom>
          <a:noFill/>
        </p:spPr>
        <p:txBody>
          <a:bodyPr wrap="square" rtlCol="0">
            <a:spAutoFit/>
          </a:bodyPr>
          <a:lstStyle/>
          <a:p>
            <a:r>
              <a:rPr lang="pl-PL" sz="1000" dirty="0"/>
              <a:t>Tighten with 5/64in locking screws as indicated by the blue arrows</a:t>
            </a:r>
          </a:p>
        </p:txBody>
      </p:sp>
      <p:cxnSp>
        <p:nvCxnSpPr>
          <p:cNvPr id="62" name="Straight Arrow Connector 61"/>
          <p:cNvCxnSpPr/>
          <p:nvPr/>
        </p:nvCxnSpPr>
        <p:spPr>
          <a:xfrm flipV="1">
            <a:off x="1759754" y="5037913"/>
            <a:ext cx="233718" cy="13208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rot="10800000" flipV="1">
            <a:off x="3143415" y="4388516"/>
            <a:ext cx="233718" cy="13208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96" name="Picture 95"/>
          <p:cNvPicPr>
            <a:picLocks noChangeAspect="1"/>
          </p:cNvPicPr>
          <p:nvPr/>
        </p:nvPicPr>
        <p:blipFill>
          <a:blip r:embed="rId8"/>
          <a:stretch>
            <a:fillRect/>
          </a:stretch>
        </p:blipFill>
        <p:spPr>
          <a:xfrm>
            <a:off x="5875680" y="3452771"/>
            <a:ext cx="2995119" cy="3161514"/>
          </a:xfrm>
          <a:prstGeom prst="rect">
            <a:avLst/>
          </a:prstGeom>
        </p:spPr>
      </p:pic>
      <p:sp>
        <p:nvSpPr>
          <p:cNvPr id="74" name="Down Arrow 73"/>
          <p:cNvSpPr/>
          <p:nvPr/>
        </p:nvSpPr>
        <p:spPr>
          <a:xfrm>
            <a:off x="6364905" y="4388516"/>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Down Arrow 74"/>
          <p:cNvSpPr/>
          <p:nvPr/>
        </p:nvSpPr>
        <p:spPr>
          <a:xfrm>
            <a:off x="6789261" y="4388516"/>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78" name="Straight Arrow Connector 77"/>
          <p:cNvCxnSpPr/>
          <p:nvPr/>
        </p:nvCxnSpPr>
        <p:spPr>
          <a:xfrm>
            <a:off x="6454509" y="5027047"/>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862873" y="5023669"/>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4480417" y="4067892"/>
            <a:ext cx="1442734" cy="1631216"/>
          </a:xfrm>
          <a:prstGeom prst="rect">
            <a:avLst/>
          </a:prstGeom>
          <a:noFill/>
        </p:spPr>
        <p:txBody>
          <a:bodyPr wrap="square" rtlCol="0">
            <a:spAutoFit/>
          </a:bodyPr>
          <a:lstStyle/>
          <a:p>
            <a:r>
              <a:rPr lang="pl-PL" sz="1000" dirty="0"/>
              <a:t>Insert both holders tightly into dedicated slots, paying attention to the orientation of the holder.</a:t>
            </a:r>
          </a:p>
          <a:p>
            <a:endParaRPr lang="pl-PL" sz="1000" dirty="0"/>
          </a:p>
          <a:p>
            <a:r>
              <a:rPr lang="pl-PL" sz="1000" dirty="0"/>
              <a:t>Secure with M3 cap screws inserted from the bottom as indicated by the blue arrows.</a:t>
            </a:r>
          </a:p>
        </p:txBody>
      </p:sp>
      <p:cxnSp>
        <p:nvCxnSpPr>
          <p:cNvPr id="86" name="Straight Arrow Connector 85"/>
          <p:cNvCxnSpPr/>
          <p:nvPr/>
        </p:nvCxnSpPr>
        <p:spPr>
          <a:xfrm rot="10800000">
            <a:off x="6380897" y="6133373"/>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rot="10800000">
            <a:off x="6789261" y="6129995"/>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98" name="Picture 97"/>
          <p:cNvPicPr>
            <a:picLocks noChangeAspect="1"/>
          </p:cNvPicPr>
          <p:nvPr/>
        </p:nvPicPr>
        <p:blipFill>
          <a:blip r:embed="rId9"/>
          <a:stretch>
            <a:fillRect/>
          </a:stretch>
        </p:blipFill>
        <p:spPr>
          <a:xfrm>
            <a:off x="9160286" y="3358234"/>
            <a:ext cx="2919461" cy="3491437"/>
          </a:xfrm>
          <a:prstGeom prst="rect">
            <a:avLst/>
          </a:prstGeom>
        </p:spPr>
      </p:pic>
      <p:sp>
        <p:nvSpPr>
          <p:cNvPr id="76" name="Down Arrow 75"/>
          <p:cNvSpPr/>
          <p:nvPr/>
        </p:nvSpPr>
        <p:spPr>
          <a:xfrm>
            <a:off x="11082285" y="4107066"/>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7" name="Down Arrow 76"/>
          <p:cNvSpPr/>
          <p:nvPr/>
        </p:nvSpPr>
        <p:spPr>
          <a:xfrm>
            <a:off x="11506641" y="4107066"/>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83" name="Straight Arrow Connector 82"/>
          <p:cNvCxnSpPr/>
          <p:nvPr/>
        </p:nvCxnSpPr>
        <p:spPr>
          <a:xfrm>
            <a:off x="11146615" y="4674278"/>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rot="10800000">
            <a:off x="11233146" y="5720623"/>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rot="10800000">
            <a:off x="11644298" y="5460065"/>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752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4" name="Picture 3"/>
          <p:cNvPicPr>
            <a:picLocks noChangeAspect="1"/>
          </p:cNvPicPr>
          <p:nvPr/>
        </p:nvPicPr>
        <p:blipFill>
          <a:blip r:embed="rId3"/>
          <a:stretch>
            <a:fillRect/>
          </a:stretch>
        </p:blipFill>
        <p:spPr>
          <a:xfrm>
            <a:off x="323897" y="1041254"/>
            <a:ext cx="4781059" cy="5149339"/>
          </a:xfrm>
          <a:prstGeom prst="rect">
            <a:avLst/>
          </a:prstGeom>
        </p:spPr>
      </p:pic>
      <p:pic>
        <p:nvPicPr>
          <p:cNvPr id="5" name="Picture 4"/>
          <p:cNvPicPr>
            <a:picLocks noChangeAspect="1"/>
          </p:cNvPicPr>
          <p:nvPr/>
        </p:nvPicPr>
        <p:blipFill>
          <a:blip r:embed="rId4"/>
          <a:stretch>
            <a:fillRect/>
          </a:stretch>
        </p:blipFill>
        <p:spPr>
          <a:xfrm>
            <a:off x="5239667" y="820536"/>
            <a:ext cx="6563450" cy="4848675"/>
          </a:xfrm>
          <a:prstGeom prst="rect">
            <a:avLst/>
          </a:prstGeom>
        </p:spPr>
      </p:pic>
      <p:sp>
        <p:nvSpPr>
          <p:cNvPr id="8" name="Rectangle 7"/>
          <p:cNvSpPr/>
          <p:nvPr/>
        </p:nvSpPr>
        <p:spPr>
          <a:xfrm>
            <a:off x="88971" y="4515"/>
            <a:ext cx="2019207" cy="369332"/>
          </a:xfrm>
          <a:prstGeom prst="rect">
            <a:avLst/>
          </a:prstGeom>
        </p:spPr>
        <p:txBody>
          <a:bodyPr wrap="none">
            <a:spAutoFit/>
          </a:bodyPr>
          <a:lstStyle/>
          <a:p>
            <a:r>
              <a:rPr lang="pl-PL" dirty="0"/>
              <a:t>STAGE 1 COMPLETE</a:t>
            </a:r>
          </a:p>
        </p:txBody>
      </p:sp>
    </p:spTree>
    <p:extLst>
      <p:ext uri="{BB962C8B-B14F-4D97-AF65-F5344CB8AC3E}">
        <p14:creationId xmlns:p14="http://schemas.microsoft.com/office/powerpoint/2010/main" val="317060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7" name="Picture 6"/>
          <p:cNvPicPr>
            <a:picLocks noChangeAspect="1"/>
          </p:cNvPicPr>
          <p:nvPr/>
        </p:nvPicPr>
        <p:blipFill>
          <a:blip r:embed="rId3"/>
          <a:stretch>
            <a:fillRect/>
          </a:stretch>
        </p:blipFill>
        <p:spPr>
          <a:xfrm>
            <a:off x="0" y="839298"/>
            <a:ext cx="6205345" cy="4993943"/>
          </a:xfrm>
          <a:prstGeom prst="rect">
            <a:avLst/>
          </a:prstGeom>
        </p:spPr>
      </p:pic>
      <p:pic>
        <p:nvPicPr>
          <p:cNvPr id="2" name="Picture 1"/>
          <p:cNvPicPr>
            <a:picLocks noChangeAspect="1"/>
          </p:cNvPicPr>
          <p:nvPr/>
        </p:nvPicPr>
        <p:blipFill>
          <a:blip r:embed="rId4"/>
          <a:stretch>
            <a:fillRect/>
          </a:stretch>
        </p:blipFill>
        <p:spPr>
          <a:xfrm>
            <a:off x="6205345" y="92203"/>
            <a:ext cx="5467117" cy="5823479"/>
          </a:xfrm>
          <a:prstGeom prst="rect">
            <a:avLst/>
          </a:prstGeom>
        </p:spPr>
      </p:pic>
      <p:sp>
        <p:nvSpPr>
          <p:cNvPr id="8" name="Rectangle 7"/>
          <p:cNvSpPr/>
          <p:nvPr/>
        </p:nvSpPr>
        <p:spPr>
          <a:xfrm>
            <a:off x="88971" y="4515"/>
            <a:ext cx="2019207" cy="369332"/>
          </a:xfrm>
          <a:prstGeom prst="rect">
            <a:avLst/>
          </a:prstGeom>
        </p:spPr>
        <p:txBody>
          <a:bodyPr wrap="none">
            <a:spAutoFit/>
          </a:bodyPr>
          <a:lstStyle/>
          <a:p>
            <a:r>
              <a:rPr lang="pl-PL" dirty="0"/>
              <a:t>STAGE 1 COMPLETE</a:t>
            </a:r>
          </a:p>
        </p:txBody>
      </p:sp>
    </p:spTree>
    <p:extLst>
      <p:ext uri="{BB962C8B-B14F-4D97-AF65-F5344CB8AC3E}">
        <p14:creationId xmlns:p14="http://schemas.microsoft.com/office/powerpoint/2010/main" val="284994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1344942" cy="646331"/>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en-US" dirty="0">
                <a:cs typeface="Times New Roman" panose="02020603050405020304" pitchFamily="18" charset="0"/>
              </a:rPr>
              <a:t> 12_FDML_stimfix_Badal_stage_bottom</a:t>
            </a:r>
            <a:endParaRPr lang="pl-PL" dirty="0">
              <a:cs typeface="Times New Roman" panose="02020603050405020304" pitchFamily="18" charset="0"/>
            </a:endParaRPr>
          </a:p>
          <a:p>
            <a:r>
              <a:rPr lang="pl-PL" dirty="0"/>
              <a:t>2 </a:t>
            </a:r>
            <a:r>
              <a:rPr lang="pl-PL" dirty="0">
                <a:cs typeface="Times New Roman" panose="02020603050405020304" pitchFamily="18" charset="0"/>
              </a:rPr>
              <a:t>×</a:t>
            </a:r>
            <a:r>
              <a:rPr lang="en-US" dirty="0">
                <a:cs typeface="Times New Roman" panose="02020603050405020304" pitchFamily="18" charset="0"/>
              </a:rPr>
              <a:t> </a:t>
            </a:r>
            <a:r>
              <a:rPr lang="pl-PL" dirty="0"/>
              <a:t>model_04_stimfix_Badal_stage_sliding_rod_200mm</a:t>
            </a:r>
          </a:p>
        </p:txBody>
      </p:sp>
      <p:pic>
        <p:nvPicPr>
          <p:cNvPr id="10" name="Picture 9"/>
          <p:cNvPicPr>
            <a:picLocks noChangeAspect="1"/>
          </p:cNvPicPr>
          <p:nvPr/>
        </p:nvPicPr>
        <p:blipFill>
          <a:blip r:embed="rId3"/>
          <a:stretch>
            <a:fillRect/>
          </a:stretch>
        </p:blipFill>
        <p:spPr>
          <a:xfrm>
            <a:off x="6482910" y="230551"/>
            <a:ext cx="4857244" cy="3458060"/>
          </a:xfrm>
          <a:prstGeom prst="rect">
            <a:avLst/>
          </a:prstGeom>
        </p:spPr>
      </p:pic>
      <p:cxnSp>
        <p:nvCxnSpPr>
          <p:cNvPr id="24" name="Straight Arrow Connector 23"/>
          <p:cNvCxnSpPr/>
          <p:nvPr/>
        </p:nvCxnSpPr>
        <p:spPr>
          <a:xfrm flipH="1" flipV="1">
            <a:off x="9773666" y="3503327"/>
            <a:ext cx="258700" cy="1927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10159632" y="3495865"/>
            <a:ext cx="258700" cy="1927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flipV="1">
            <a:off x="11006036" y="2991822"/>
            <a:ext cx="258700" cy="1927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11210804" y="2673592"/>
            <a:ext cx="258700" cy="1927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0572466" y="3349358"/>
            <a:ext cx="1481625" cy="1569660"/>
          </a:xfrm>
          <a:prstGeom prst="rect">
            <a:avLst/>
          </a:prstGeom>
          <a:noFill/>
        </p:spPr>
        <p:txBody>
          <a:bodyPr wrap="square" rtlCol="0">
            <a:spAutoFit/>
          </a:bodyPr>
          <a:lstStyle/>
          <a:p>
            <a:r>
              <a:rPr lang="en-US" sz="1600" dirty="0"/>
              <a:t>Mold the </a:t>
            </a:r>
            <a:r>
              <a:rPr lang="pl-PL" sz="1600" dirty="0"/>
              <a:t>M</a:t>
            </a:r>
            <a:r>
              <a:rPr lang="en-GB" sz="1600" dirty="0"/>
              <a:t>3 </a:t>
            </a:r>
            <a:r>
              <a:rPr lang="en-US" sz="1600" dirty="0"/>
              <a:t>threaded inserts into the designated holes</a:t>
            </a:r>
            <a:r>
              <a:rPr lang="pl-PL" sz="1600" dirty="0"/>
              <a:t> </a:t>
            </a:r>
            <a:r>
              <a:rPr lang="en-US" sz="1600" dirty="0"/>
              <a:t>using a soldering tool. </a:t>
            </a:r>
            <a:endParaRPr lang="pl-PL" sz="1600" dirty="0"/>
          </a:p>
        </p:txBody>
      </p:sp>
      <p:pic>
        <p:nvPicPr>
          <p:cNvPr id="4" name="Picture 3"/>
          <p:cNvPicPr>
            <a:picLocks noChangeAspect="1"/>
          </p:cNvPicPr>
          <p:nvPr/>
        </p:nvPicPr>
        <p:blipFill>
          <a:blip r:embed="rId4"/>
          <a:stretch>
            <a:fillRect/>
          </a:stretch>
        </p:blipFill>
        <p:spPr>
          <a:xfrm>
            <a:off x="590645" y="1269072"/>
            <a:ext cx="5772150" cy="4057650"/>
          </a:xfrm>
          <a:prstGeom prst="rect">
            <a:avLst/>
          </a:prstGeom>
        </p:spPr>
      </p:pic>
      <p:sp>
        <p:nvSpPr>
          <p:cNvPr id="13" name="TextBox 12"/>
          <p:cNvSpPr txBox="1"/>
          <p:nvPr/>
        </p:nvSpPr>
        <p:spPr>
          <a:xfrm>
            <a:off x="355742" y="5645238"/>
            <a:ext cx="2957581" cy="830997"/>
          </a:xfrm>
          <a:prstGeom prst="rect">
            <a:avLst/>
          </a:prstGeom>
          <a:noFill/>
        </p:spPr>
        <p:txBody>
          <a:bodyPr wrap="square" rtlCol="0">
            <a:spAutoFit/>
          </a:bodyPr>
          <a:lstStyle/>
          <a:p>
            <a:r>
              <a:rPr lang="en-US" sz="1600" dirty="0"/>
              <a:t>Mold the </a:t>
            </a:r>
            <a:r>
              <a:rPr lang="pl-PL" sz="1600" dirty="0"/>
              <a:t>M</a:t>
            </a:r>
            <a:r>
              <a:rPr lang="en-US" sz="1600" dirty="0"/>
              <a:t>6</a:t>
            </a:r>
            <a:r>
              <a:rPr lang="pl-PL" sz="1600" dirty="0"/>
              <a:t> </a:t>
            </a:r>
            <a:r>
              <a:rPr lang="en-US" sz="1600" dirty="0"/>
              <a:t>threaded inserts into the designated holes</a:t>
            </a:r>
            <a:r>
              <a:rPr lang="pl-PL" sz="1600" dirty="0"/>
              <a:t> </a:t>
            </a:r>
            <a:r>
              <a:rPr lang="en-US" sz="1600" dirty="0"/>
              <a:t>using a soldering tool. </a:t>
            </a:r>
            <a:endParaRPr lang="pl-PL" sz="1600" dirty="0"/>
          </a:p>
        </p:txBody>
      </p:sp>
      <p:cxnSp>
        <p:nvCxnSpPr>
          <p:cNvPr id="14" name="Straight Arrow Connector 13"/>
          <p:cNvCxnSpPr/>
          <p:nvPr/>
        </p:nvCxnSpPr>
        <p:spPr>
          <a:xfrm rot="10800000">
            <a:off x="2348607" y="5012046"/>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1027196" y="4250543"/>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0800000">
            <a:off x="2750389" y="5234023"/>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930023" y="2633494"/>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711476" y="2226479"/>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476719" y="1766038"/>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241962" y="1329184"/>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492933" y="3696073"/>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274386" y="3259874"/>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039629" y="2828617"/>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804872" y="2296092"/>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19138" y="1194118"/>
            <a:ext cx="2957581" cy="830997"/>
          </a:xfrm>
          <a:prstGeom prst="rect">
            <a:avLst/>
          </a:prstGeom>
          <a:noFill/>
        </p:spPr>
        <p:txBody>
          <a:bodyPr wrap="square" rtlCol="0">
            <a:spAutoFit/>
          </a:bodyPr>
          <a:lstStyle/>
          <a:p>
            <a:r>
              <a:rPr lang="en-US" sz="1600" dirty="0"/>
              <a:t>Mold the </a:t>
            </a:r>
            <a:r>
              <a:rPr lang="pl-PL" sz="1600" dirty="0"/>
              <a:t>M</a:t>
            </a:r>
            <a:r>
              <a:rPr lang="en-GB" sz="1600" dirty="0"/>
              <a:t>2 </a:t>
            </a:r>
            <a:r>
              <a:rPr lang="en-US" sz="1600" dirty="0"/>
              <a:t>threaded inserts into the designated holes</a:t>
            </a:r>
            <a:r>
              <a:rPr lang="pl-PL" sz="1600" dirty="0"/>
              <a:t> on  both sides</a:t>
            </a:r>
            <a:r>
              <a:rPr lang="en-US" sz="1600" dirty="0"/>
              <a:t> using a soldering tool. </a:t>
            </a:r>
            <a:endParaRPr lang="pl-PL" sz="1600" dirty="0"/>
          </a:p>
        </p:txBody>
      </p:sp>
      <p:pic>
        <p:nvPicPr>
          <p:cNvPr id="5" name="Picture 4"/>
          <p:cNvPicPr>
            <a:picLocks noChangeAspect="1"/>
          </p:cNvPicPr>
          <p:nvPr/>
        </p:nvPicPr>
        <p:blipFill>
          <a:blip r:embed="rId5"/>
          <a:stretch>
            <a:fillRect/>
          </a:stretch>
        </p:blipFill>
        <p:spPr>
          <a:xfrm>
            <a:off x="4926261" y="4074630"/>
            <a:ext cx="3632885" cy="2212233"/>
          </a:xfrm>
          <a:prstGeom prst="rect">
            <a:avLst/>
          </a:prstGeom>
        </p:spPr>
      </p:pic>
    </p:spTree>
    <p:extLst>
      <p:ext uri="{BB962C8B-B14F-4D97-AF65-F5344CB8AC3E}">
        <p14:creationId xmlns:p14="http://schemas.microsoft.com/office/powerpoint/2010/main" val="3992517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20104" y="0"/>
            <a:ext cx="12192000" cy="6858000"/>
          </a:xfrm>
          <a:prstGeom prst="rect">
            <a:avLst/>
          </a:prstGeom>
        </p:spPr>
      </p:pic>
      <p:pic>
        <p:nvPicPr>
          <p:cNvPr id="4" name="Picture 3"/>
          <p:cNvPicPr>
            <a:picLocks noChangeAspect="1"/>
          </p:cNvPicPr>
          <p:nvPr/>
        </p:nvPicPr>
        <p:blipFill>
          <a:blip r:embed="rId3"/>
          <a:stretch>
            <a:fillRect/>
          </a:stretch>
        </p:blipFill>
        <p:spPr>
          <a:xfrm>
            <a:off x="41042" y="1307609"/>
            <a:ext cx="7077595" cy="4475538"/>
          </a:xfrm>
          <a:prstGeom prst="rect">
            <a:avLst/>
          </a:prstGeom>
        </p:spPr>
      </p:pic>
      <p:pic>
        <p:nvPicPr>
          <p:cNvPr id="10" name="Picture 9"/>
          <p:cNvPicPr>
            <a:picLocks noChangeAspect="1"/>
          </p:cNvPicPr>
          <p:nvPr/>
        </p:nvPicPr>
        <p:blipFill>
          <a:blip r:embed="rId4"/>
          <a:stretch>
            <a:fillRect/>
          </a:stretch>
        </p:blipFill>
        <p:spPr>
          <a:xfrm>
            <a:off x="7557639" y="320040"/>
            <a:ext cx="4287500" cy="3071867"/>
          </a:xfrm>
          <a:prstGeom prst="rect">
            <a:avLst/>
          </a:prstGeom>
        </p:spPr>
      </p:pic>
      <p:sp>
        <p:nvSpPr>
          <p:cNvPr id="14" name="Down Arrow 13"/>
          <p:cNvSpPr/>
          <p:nvPr/>
        </p:nvSpPr>
        <p:spPr>
          <a:xfrm rot="7218441" flipH="1">
            <a:off x="3408843" y="3765370"/>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Down Arrow 14"/>
          <p:cNvSpPr/>
          <p:nvPr/>
        </p:nvSpPr>
        <p:spPr>
          <a:xfrm rot="7218441" flipH="1">
            <a:off x="4028345" y="3419456"/>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1" name="Picture 10"/>
          <p:cNvPicPr>
            <a:picLocks noChangeAspect="1"/>
          </p:cNvPicPr>
          <p:nvPr/>
        </p:nvPicPr>
        <p:blipFill>
          <a:blip r:embed="rId5"/>
          <a:stretch>
            <a:fillRect/>
          </a:stretch>
        </p:blipFill>
        <p:spPr>
          <a:xfrm>
            <a:off x="7770660" y="3444174"/>
            <a:ext cx="3826340" cy="2363186"/>
          </a:xfrm>
          <a:prstGeom prst="rect">
            <a:avLst/>
          </a:prstGeom>
        </p:spPr>
      </p:pic>
      <p:cxnSp>
        <p:nvCxnSpPr>
          <p:cNvPr id="16" name="Straight Connector 15"/>
          <p:cNvCxnSpPr/>
          <p:nvPr/>
        </p:nvCxnSpPr>
        <p:spPr>
          <a:xfrm>
            <a:off x="718373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745170" y="1542387"/>
            <a:ext cx="2957581" cy="584775"/>
          </a:xfrm>
          <a:prstGeom prst="rect">
            <a:avLst/>
          </a:prstGeom>
          <a:noFill/>
        </p:spPr>
        <p:txBody>
          <a:bodyPr wrap="square" rtlCol="0">
            <a:spAutoFit/>
          </a:bodyPr>
          <a:lstStyle/>
          <a:p>
            <a:r>
              <a:rPr lang="en-US" sz="1600" dirty="0"/>
              <a:t>Slide the rods into the designated slots for a tight fit.</a:t>
            </a:r>
            <a:endParaRPr lang="pl-PL" sz="1600" dirty="0"/>
          </a:p>
        </p:txBody>
      </p:sp>
      <p:sp>
        <p:nvSpPr>
          <p:cNvPr id="20" name="Rectangle 19"/>
          <p:cNvSpPr/>
          <p:nvPr/>
        </p:nvSpPr>
        <p:spPr>
          <a:xfrm>
            <a:off x="66876" y="-13850"/>
            <a:ext cx="301686" cy="369332"/>
          </a:xfrm>
          <a:prstGeom prst="rect">
            <a:avLst/>
          </a:prstGeom>
        </p:spPr>
        <p:txBody>
          <a:bodyPr wrap="none">
            <a:spAutoFit/>
          </a:bodyPr>
          <a:lstStyle/>
          <a:p>
            <a:r>
              <a:rPr lang="pl-PL" dirty="0"/>
              <a:t>1</a:t>
            </a:r>
          </a:p>
        </p:txBody>
      </p:sp>
      <p:sp>
        <p:nvSpPr>
          <p:cNvPr id="21" name="Rectangle 20"/>
          <p:cNvSpPr/>
          <p:nvPr/>
        </p:nvSpPr>
        <p:spPr>
          <a:xfrm>
            <a:off x="7255953" y="-13850"/>
            <a:ext cx="301686" cy="369332"/>
          </a:xfrm>
          <a:prstGeom prst="rect">
            <a:avLst/>
          </a:prstGeom>
        </p:spPr>
        <p:txBody>
          <a:bodyPr wrap="none">
            <a:spAutoFit/>
          </a:bodyPr>
          <a:lstStyle/>
          <a:p>
            <a:r>
              <a:rPr lang="pl-PL" dirty="0"/>
              <a:t>2</a:t>
            </a:r>
          </a:p>
        </p:txBody>
      </p:sp>
      <p:sp>
        <p:nvSpPr>
          <p:cNvPr id="22" name="TextBox 21"/>
          <p:cNvSpPr txBox="1"/>
          <p:nvPr/>
        </p:nvSpPr>
        <p:spPr>
          <a:xfrm>
            <a:off x="8497383" y="5790413"/>
            <a:ext cx="2957581" cy="584775"/>
          </a:xfrm>
          <a:prstGeom prst="rect">
            <a:avLst/>
          </a:prstGeom>
          <a:noFill/>
        </p:spPr>
        <p:txBody>
          <a:bodyPr wrap="square" rtlCol="0">
            <a:spAutoFit/>
          </a:bodyPr>
          <a:lstStyle/>
          <a:p>
            <a:r>
              <a:rPr lang="en-US" sz="1600" dirty="0"/>
              <a:t>Ensure the end tips of the rods are flush with the encasing</a:t>
            </a:r>
            <a:endParaRPr lang="pl-PL" sz="1600" dirty="0"/>
          </a:p>
        </p:txBody>
      </p:sp>
      <p:cxnSp>
        <p:nvCxnSpPr>
          <p:cNvPr id="23" name="Straight Arrow Connector 22"/>
          <p:cNvCxnSpPr/>
          <p:nvPr/>
        </p:nvCxnSpPr>
        <p:spPr>
          <a:xfrm rot="5400000">
            <a:off x="11753778" y="4221318"/>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11753778" y="5113021"/>
            <a:ext cx="0" cy="3135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344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10" name="Picture 9"/>
          <p:cNvPicPr>
            <a:picLocks noChangeAspect="1"/>
          </p:cNvPicPr>
          <p:nvPr/>
        </p:nvPicPr>
        <p:blipFill>
          <a:blip r:embed="rId3"/>
          <a:stretch>
            <a:fillRect/>
          </a:stretch>
        </p:blipFill>
        <p:spPr>
          <a:xfrm>
            <a:off x="6101678" y="2707414"/>
            <a:ext cx="2635471" cy="1807768"/>
          </a:xfrm>
          <a:prstGeom prst="rect">
            <a:avLst/>
          </a:prstGeom>
        </p:spPr>
      </p:pic>
      <p:pic>
        <p:nvPicPr>
          <p:cNvPr id="15" name="Picture 14"/>
          <p:cNvPicPr>
            <a:picLocks noChangeAspect="1"/>
          </p:cNvPicPr>
          <p:nvPr/>
        </p:nvPicPr>
        <p:blipFill>
          <a:blip r:embed="rId4"/>
          <a:stretch>
            <a:fillRect/>
          </a:stretch>
        </p:blipFill>
        <p:spPr>
          <a:xfrm>
            <a:off x="9021283" y="2585818"/>
            <a:ext cx="727793" cy="1170797"/>
          </a:xfrm>
          <a:prstGeom prst="rect">
            <a:avLst/>
          </a:prstGeom>
        </p:spPr>
      </p:pic>
      <p:pic>
        <p:nvPicPr>
          <p:cNvPr id="16" name="Picture 15"/>
          <p:cNvPicPr>
            <a:picLocks noChangeAspect="1"/>
          </p:cNvPicPr>
          <p:nvPr/>
        </p:nvPicPr>
        <p:blipFill>
          <a:blip r:embed="rId4"/>
          <a:stretch>
            <a:fillRect/>
          </a:stretch>
        </p:blipFill>
        <p:spPr>
          <a:xfrm>
            <a:off x="8240268" y="2570927"/>
            <a:ext cx="699106" cy="1124649"/>
          </a:xfrm>
          <a:prstGeom prst="rect">
            <a:avLst/>
          </a:prstGeom>
        </p:spPr>
      </p:pic>
      <p:pic>
        <p:nvPicPr>
          <p:cNvPr id="17" name="Picture 16"/>
          <p:cNvPicPr>
            <a:picLocks noChangeAspect="1"/>
          </p:cNvPicPr>
          <p:nvPr/>
        </p:nvPicPr>
        <p:blipFill>
          <a:blip r:embed="rId5"/>
          <a:stretch>
            <a:fillRect/>
          </a:stretch>
        </p:blipFill>
        <p:spPr>
          <a:xfrm>
            <a:off x="10007382" y="2739690"/>
            <a:ext cx="856017" cy="955886"/>
          </a:xfrm>
          <a:prstGeom prst="rect">
            <a:avLst/>
          </a:prstGeom>
        </p:spPr>
      </p:pic>
      <p:pic>
        <p:nvPicPr>
          <p:cNvPr id="19" name="Picture 18"/>
          <p:cNvPicPr>
            <a:picLocks noChangeAspect="1"/>
          </p:cNvPicPr>
          <p:nvPr/>
        </p:nvPicPr>
        <p:blipFill>
          <a:blip r:embed="rId6"/>
          <a:stretch>
            <a:fillRect/>
          </a:stretch>
        </p:blipFill>
        <p:spPr>
          <a:xfrm>
            <a:off x="7459584" y="4651802"/>
            <a:ext cx="1556846" cy="2173844"/>
          </a:xfrm>
          <a:prstGeom prst="rect">
            <a:avLst/>
          </a:prstGeom>
        </p:spPr>
      </p:pic>
      <p:pic>
        <p:nvPicPr>
          <p:cNvPr id="20" name="Picture 19"/>
          <p:cNvPicPr>
            <a:picLocks noChangeAspect="1"/>
          </p:cNvPicPr>
          <p:nvPr/>
        </p:nvPicPr>
        <p:blipFill>
          <a:blip r:embed="rId7"/>
          <a:stretch>
            <a:fillRect/>
          </a:stretch>
        </p:blipFill>
        <p:spPr>
          <a:xfrm>
            <a:off x="10592939" y="4725848"/>
            <a:ext cx="1481858" cy="2099798"/>
          </a:xfrm>
          <a:prstGeom prst="rect">
            <a:avLst/>
          </a:prstGeom>
        </p:spPr>
      </p:pic>
      <p:pic>
        <p:nvPicPr>
          <p:cNvPr id="21" name="Picture 20"/>
          <p:cNvPicPr>
            <a:picLocks noChangeAspect="1"/>
          </p:cNvPicPr>
          <p:nvPr/>
        </p:nvPicPr>
        <p:blipFill>
          <a:blip r:embed="rId8"/>
          <a:stretch>
            <a:fillRect/>
          </a:stretch>
        </p:blipFill>
        <p:spPr>
          <a:xfrm>
            <a:off x="6017102" y="4605404"/>
            <a:ext cx="1308454" cy="1998626"/>
          </a:xfrm>
          <a:prstGeom prst="rect">
            <a:avLst/>
          </a:prstGeom>
        </p:spPr>
      </p:pic>
      <p:pic>
        <p:nvPicPr>
          <p:cNvPr id="23" name="Picture 22"/>
          <p:cNvPicPr>
            <a:picLocks noChangeAspect="1"/>
          </p:cNvPicPr>
          <p:nvPr/>
        </p:nvPicPr>
        <p:blipFill>
          <a:blip r:embed="rId8"/>
          <a:stretch>
            <a:fillRect/>
          </a:stretch>
        </p:blipFill>
        <p:spPr>
          <a:xfrm>
            <a:off x="9150458" y="4605404"/>
            <a:ext cx="1308454" cy="1998626"/>
          </a:xfrm>
          <a:prstGeom prst="rect">
            <a:avLst/>
          </a:prstGeom>
        </p:spPr>
      </p:pic>
      <p:pic>
        <p:nvPicPr>
          <p:cNvPr id="24" name="Picture 23"/>
          <p:cNvPicPr>
            <a:picLocks noChangeAspect="1"/>
          </p:cNvPicPr>
          <p:nvPr/>
        </p:nvPicPr>
        <p:blipFill>
          <a:blip r:embed="rId5"/>
          <a:stretch>
            <a:fillRect/>
          </a:stretch>
        </p:blipFill>
        <p:spPr>
          <a:xfrm>
            <a:off x="10983313" y="2735722"/>
            <a:ext cx="856017" cy="955886"/>
          </a:xfrm>
          <a:prstGeom prst="rect">
            <a:avLst/>
          </a:prstGeom>
        </p:spPr>
      </p:pic>
      <p:pic>
        <p:nvPicPr>
          <p:cNvPr id="28" name="Picture 27"/>
          <p:cNvPicPr>
            <a:picLocks noChangeAspect="1"/>
          </p:cNvPicPr>
          <p:nvPr/>
        </p:nvPicPr>
        <p:blipFill>
          <a:blip r:embed="rId9"/>
          <a:stretch>
            <a:fillRect/>
          </a:stretch>
        </p:blipFill>
        <p:spPr>
          <a:xfrm>
            <a:off x="180867" y="1916679"/>
            <a:ext cx="5893904" cy="4313164"/>
          </a:xfrm>
          <a:prstGeom prst="rect">
            <a:avLst/>
          </a:prstGeom>
        </p:spPr>
      </p:pic>
      <p:pic>
        <p:nvPicPr>
          <p:cNvPr id="25" name="Picture 24"/>
          <p:cNvPicPr>
            <a:picLocks noChangeAspect="1"/>
          </p:cNvPicPr>
          <p:nvPr/>
        </p:nvPicPr>
        <p:blipFill>
          <a:blip r:embed="rId10"/>
          <a:stretch>
            <a:fillRect/>
          </a:stretch>
        </p:blipFill>
        <p:spPr>
          <a:xfrm>
            <a:off x="3240661" y="5738724"/>
            <a:ext cx="749537" cy="696199"/>
          </a:xfrm>
          <a:prstGeom prst="rect">
            <a:avLst/>
          </a:prstGeom>
        </p:spPr>
      </p:pic>
      <p:pic>
        <p:nvPicPr>
          <p:cNvPr id="26" name="Picture 25"/>
          <p:cNvPicPr>
            <a:picLocks noChangeAspect="1"/>
          </p:cNvPicPr>
          <p:nvPr/>
        </p:nvPicPr>
        <p:blipFill>
          <a:blip r:embed="rId11"/>
          <a:stretch>
            <a:fillRect/>
          </a:stretch>
        </p:blipFill>
        <p:spPr>
          <a:xfrm>
            <a:off x="4039889" y="5226782"/>
            <a:ext cx="862760" cy="755869"/>
          </a:xfrm>
          <a:prstGeom prst="rect">
            <a:avLst/>
          </a:prstGeom>
        </p:spPr>
      </p:pic>
      <p:pic>
        <p:nvPicPr>
          <p:cNvPr id="27" name="Picture 26"/>
          <p:cNvPicPr>
            <a:picLocks noChangeAspect="1"/>
          </p:cNvPicPr>
          <p:nvPr/>
        </p:nvPicPr>
        <p:blipFill>
          <a:blip r:embed="rId11"/>
          <a:stretch>
            <a:fillRect/>
          </a:stretch>
        </p:blipFill>
        <p:spPr>
          <a:xfrm>
            <a:off x="4703947" y="5810830"/>
            <a:ext cx="862760" cy="755869"/>
          </a:xfrm>
          <a:prstGeom prst="rect">
            <a:avLst/>
          </a:prstGeom>
        </p:spPr>
      </p:pic>
      <p:sp>
        <p:nvSpPr>
          <p:cNvPr id="3" name="TextBox 2"/>
          <p:cNvSpPr txBox="1"/>
          <p:nvPr/>
        </p:nvSpPr>
        <p:spPr>
          <a:xfrm>
            <a:off x="-2" y="0"/>
            <a:ext cx="11344942" cy="2308324"/>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en-US" dirty="0">
                <a:cs typeface="Times New Roman" panose="02020603050405020304" pitchFamily="18" charset="0"/>
              </a:rPr>
              <a:t> 13_FDML_stimfix_Badal_stage_top</a:t>
            </a:r>
          </a:p>
          <a:p>
            <a:r>
              <a:rPr lang="en-GB" dirty="0"/>
              <a:t>2</a:t>
            </a:r>
            <a:r>
              <a:rPr lang="pl-PL" dirty="0"/>
              <a:t> </a:t>
            </a:r>
            <a:r>
              <a:rPr lang="pl-PL" dirty="0">
                <a:cs typeface="Times New Roman" panose="02020603050405020304" pitchFamily="18" charset="0"/>
              </a:rPr>
              <a:t>×</a:t>
            </a:r>
            <a:r>
              <a:rPr lang="en-US" dirty="0">
                <a:cs typeface="Times New Roman" panose="02020603050405020304" pitchFamily="18" charset="0"/>
              </a:rPr>
              <a:t> 14_FDML_stimfix_square_mirror_support_Badal_stage</a:t>
            </a:r>
          </a:p>
          <a:p>
            <a:r>
              <a:rPr lang="en-GB" dirty="0"/>
              <a:t>2</a:t>
            </a:r>
            <a:r>
              <a:rPr lang="pl-PL" dirty="0"/>
              <a:t> </a:t>
            </a:r>
            <a:r>
              <a:rPr lang="pl-PL" dirty="0">
                <a:cs typeface="Times New Roman" panose="02020603050405020304" pitchFamily="18" charset="0"/>
              </a:rPr>
              <a:t>× Thorlabs_KMSS_M (</a:t>
            </a:r>
            <a:r>
              <a:rPr lang="pl-PL" dirty="0"/>
              <a:t>https://www.thorlabs.com/thorproduct.cfm?partnumber=KMSS/M)</a:t>
            </a:r>
          </a:p>
          <a:p>
            <a:r>
              <a:rPr lang="pl-PL" dirty="0"/>
              <a:t>1 </a:t>
            </a:r>
            <a:r>
              <a:rPr lang="pl-PL" dirty="0">
                <a:cs typeface="Times New Roman" panose="02020603050405020304" pitchFamily="18" charset="0"/>
              </a:rPr>
              <a:t>×</a:t>
            </a:r>
            <a:r>
              <a:rPr lang="en-US" dirty="0">
                <a:cs typeface="Times New Roman" panose="02020603050405020304" pitchFamily="18" charset="0"/>
              </a:rPr>
              <a:t> 15_FDML_stimfix_square_mirror_holder_large</a:t>
            </a:r>
          </a:p>
          <a:p>
            <a:r>
              <a:rPr lang="pl-PL" dirty="0"/>
              <a:t>1 </a:t>
            </a:r>
            <a:r>
              <a:rPr lang="pl-PL" dirty="0">
                <a:cs typeface="Times New Roman" panose="02020603050405020304" pitchFamily="18" charset="0"/>
              </a:rPr>
              <a:t>×</a:t>
            </a:r>
            <a:r>
              <a:rPr lang="en-US" dirty="0">
                <a:cs typeface="Times New Roman" panose="02020603050405020304" pitchFamily="18" charset="0"/>
              </a:rPr>
              <a:t> 16_FDML_stimfix_square_mirror_holder_large_cut_corner</a:t>
            </a:r>
          </a:p>
          <a:p>
            <a:r>
              <a:rPr lang="en-GB" dirty="0"/>
              <a:t>2</a:t>
            </a:r>
            <a:r>
              <a:rPr lang="pl-PL" dirty="0"/>
              <a:t> </a:t>
            </a:r>
            <a:r>
              <a:rPr lang="pl-PL" dirty="0">
                <a:cs typeface="Times New Roman" panose="02020603050405020304" pitchFamily="18" charset="0"/>
              </a:rPr>
              <a:t>× </a:t>
            </a:r>
            <a:r>
              <a:rPr lang="en-US" dirty="0">
                <a:cs typeface="Times New Roman" panose="02020603050405020304" pitchFamily="18" charset="0"/>
              </a:rPr>
              <a:t>EdmundOptics_88541 (</a:t>
            </a:r>
            <a:r>
              <a:rPr lang="en-US" dirty="0">
                <a:cs typeface="Times New Roman" panose="02020603050405020304" pitchFamily="18" charset="0"/>
                <a:hlinkClick r:id="rId12"/>
              </a:rPr>
              <a:t>https://www.edmundoptics.com/p/75-x-75mm-protected-silver-lambda4-mirror/30799/</a:t>
            </a:r>
            <a:r>
              <a:rPr lang="en-US" dirty="0">
                <a:cs typeface="Times New Roman" panose="02020603050405020304" pitchFamily="18" charset="0"/>
              </a:rPr>
              <a:t>)</a:t>
            </a:r>
          </a:p>
          <a:p>
            <a:r>
              <a:rPr lang="en-GB" dirty="0"/>
              <a:t>1</a:t>
            </a:r>
            <a:r>
              <a:rPr lang="pl-PL" dirty="0"/>
              <a:t> </a:t>
            </a:r>
            <a:r>
              <a:rPr lang="pl-PL" dirty="0">
                <a:cs typeface="Times New Roman" panose="02020603050405020304" pitchFamily="18" charset="0"/>
              </a:rPr>
              <a:t>× model_05_hex_coupling_nut</a:t>
            </a:r>
            <a:endParaRPr lang="en-GB" dirty="0">
              <a:cs typeface="Times New Roman" panose="02020603050405020304" pitchFamily="18" charset="0"/>
            </a:endParaRPr>
          </a:p>
          <a:p>
            <a:r>
              <a:rPr lang="en-GB" dirty="0"/>
              <a:t>2</a:t>
            </a:r>
            <a:r>
              <a:rPr lang="pl-PL" dirty="0"/>
              <a:t> </a:t>
            </a:r>
            <a:r>
              <a:rPr lang="pl-PL" dirty="0">
                <a:cs typeface="Times New Roman" panose="02020603050405020304" pitchFamily="18" charset="0"/>
              </a:rPr>
              <a:t>× model_06_linear_ball_bearing_6mm</a:t>
            </a:r>
            <a:endParaRPr lang="pl-PL" dirty="0"/>
          </a:p>
        </p:txBody>
      </p:sp>
    </p:spTree>
    <p:extLst>
      <p:ext uri="{BB962C8B-B14F-4D97-AF65-F5344CB8AC3E}">
        <p14:creationId xmlns:p14="http://schemas.microsoft.com/office/powerpoint/2010/main" val="1139110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cxnSp>
        <p:nvCxnSpPr>
          <p:cNvPr id="38" name="Straight Connector 37"/>
          <p:cNvCxnSpPr/>
          <p:nvPr/>
        </p:nvCxnSpPr>
        <p:spPr>
          <a:xfrm>
            <a:off x="3634503" y="-14075"/>
            <a:ext cx="0" cy="6872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6876" y="-13850"/>
            <a:ext cx="301686" cy="369332"/>
          </a:xfrm>
          <a:prstGeom prst="rect">
            <a:avLst/>
          </a:prstGeom>
        </p:spPr>
        <p:txBody>
          <a:bodyPr wrap="none">
            <a:spAutoFit/>
          </a:bodyPr>
          <a:lstStyle/>
          <a:p>
            <a:r>
              <a:rPr lang="pl-PL" dirty="0"/>
              <a:t>1</a:t>
            </a:r>
          </a:p>
        </p:txBody>
      </p:sp>
      <p:sp>
        <p:nvSpPr>
          <p:cNvPr id="44" name="Rectangle 43"/>
          <p:cNvSpPr/>
          <p:nvPr/>
        </p:nvSpPr>
        <p:spPr>
          <a:xfrm>
            <a:off x="3658370" y="-13850"/>
            <a:ext cx="301686" cy="369332"/>
          </a:xfrm>
          <a:prstGeom prst="rect">
            <a:avLst/>
          </a:prstGeom>
        </p:spPr>
        <p:txBody>
          <a:bodyPr wrap="none">
            <a:spAutoFit/>
          </a:bodyPr>
          <a:lstStyle/>
          <a:p>
            <a:r>
              <a:rPr lang="pl-PL" dirty="0"/>
              <a:t>2</a:t>
            </a:r>
          </a:p>
        </p:txBody>
      </p:sp>
      <p:cxnSp>
        <p:nvCxnSpPr>
          <p:cNvPr id="40" name="Straight Connector 39"/>
          <p:cNvCxnSpPr/>
          <p:nvPr/>
        </p:nvCxnSpPr>
        <p:spPr>
          <a:xfrm>
            <a:off x="0" y="326099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nvPicPr>
        <p:blipFill>
          <a:blip r:embed="rId3"/>
          <a:stretch>
            <a:fillRect/>
          </a:stretch>
        </p:blipFill>
        <p:spPr>
          <a:xfrm>
            <a:off x="910436" y="355482"/>
            <a:ext cx="2635471" cy="1807768"/>
          </a:xfrm>
          <a:prstGeom prst="rect">
            <a:avLst/>
          </a:prstGeom>
        </p:spPr>
      </p:pic>
      <p:pic>
        <p:nvPicPr>
          <p:cNvPr id="71" name="Picture 70"/>
          <p:cNvPicPr>
            <a:picLocks noChangeAspect="1"/>
          </p:cNvPicPr>
          <p:nvPr/>
        </p:nvPicPr>
        <p:blipFill>
          <a:blip r:embed="rId4"/>
          <a:stretch>
            <a:fillRect/>
          </a:stretch>
        </p:blipFill>
        <p:spPr>
          <a:xfrm>
            <a:off x="1199225" y="2292783"/>
            <a:ext cx="569093" cy="498586"/>
          </a:xfrm>
          <a:prstGeom prst="rect">
            <a:avLst/>
          </a:prstGeom>
        </p:spPr>
      </p:pic>
      <p:sp>
        <p:nvSpPr>
          <p:cNvPr id="72" name="Down Arrow 71"/>
          <p:cNvSpPr/>
          <p:nvPr/>
        </p:nvSpPr>
        <p:spPr>
          <a:xfrm rot="14381559">
            <a:off x="1448533" y="1695346"/>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Down Arrow 79"/>
          <p:cNvSpPr/>
          <p:nvPr/>
        </p:nvSpPr>
        <p:spPr>
          <a:xfrm rot="14381559">
            <a:off x="1917831" y="1960552"/>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Down Arrow 72"/>
          <p:cNvSpPr/>
          <p:nvPr/>
        </p:nvSpPr>
        <p:spPr>
          <a:xfrm rot="14381559">
            <a:off x="1030036" y="1365141"/>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81" name="Picture 80"/>
          <p:cNvPicPr>
            <a:picLocks noChangeAspect="1"/>
          </p:cNvPicPr>
          <p:nvPr/>
        </p:nvPicPr>
        <p:blipFill>
          <a:blip r:embed="rId4"/>
          <a:stretch>
            <a:fillRect/>
          </a:stretch>
        </p:blipFill>
        <p:spPr>
          <a:xfrm>
            <a:off x="343986" y="1655400"/>
            <a:ext cx="569093" cy="498586"/>
          </a:xfrm>
          <a:prstGeom prst="rect">
            <a:avLst/>
          </a:prstGeom>
        </p:spPr>
      </p:pic>
      <p:pic>
        <p:nvPicPr>
          <p:cNvPr id="66" name="Picture 65"/>
          <p:cNvPicPr>
            <a:picLocks noChangeAspect="1"/>
          </p:cNvPicPr>
          <p:nvPr/>
        </p:nvPicPr>
        <p:blipFill>
          <a:blip r:embed="rId5"/>
          <a:stretch>
            <a:fillRect/>
          </a:stretch>
        </p:blipFill>
        <p:spPr>
          <a:xfrm>
            <a:off x="759803" y="1989668"/>
            <a:ext cx="533172" cy="495230"/>
          </a:xfrm>
          <a:prstGeom prst="rect">
            <a:avLst/>
          </a:prstGeom>
        </p:spPr>
      </p:pic>
      <p:sp>
        <p:nvSpPr>
          <p:cNvPr id="82" name="TextBox 81"/>
          <p:cNvSpPr txBox="1"/>
          <p:nvPr/>
        </p:nvSpPr>
        <p:spPr>
          <a:xfrm>
            <a:off x="2135674" y="229316"/>
            <a:ext cx="1469100" cy="707886"/>
          </a:xfrm>
          <a:prstGeom prst="rect">
            <a:avLst/>
          </a:prstGeom>
          <a:noFill/>
        </p:spPr>
        <p:txBody>
          <a:bodyPr wrap="square" rtlCol="0">
            <a:spAutoFit/>
          </a:bodyPr>
          <a:lstStyle/>
          <a:p>
            <a:r>
              <a:rPr lang="en-US" sz="1000" dirty="0"/>
              <a:t>Insert the ball bearings and the hex coupling nut into the designated slots, ensuring a tight fit.</a:t>
            </a:r>
            <a:endParaRPr lang="pl-PL" sz="1000" dirty="0"/>
          </a:p>
        </p:txBody>
      </p:sp>
      <p:grpSp>
        <p:nvGrpSpPr>
          <p:cNvPr id="15" name="Group 14"/>
          <p:cNvGrpSpPr/>
          <p:nvPr/>
        </p:nvGrpSpPr>
        <p:grpSpPr>
          <a:xfrm>
            <a:off x="9300749" y="49781"/>
            <a:ext cx="2933987" cy="3025617"/>
            <a:chOff x="6535148" y="562"/>
            <a:chExt cx="2933987" cy="3025617"/>
          </a:xfrm>
        </p:grpSpPr>
        <p:pic>
          <p:nvPicPr>
            <p:cNvPr id="4" name="Picture 3"/>
            <p:cNvPicPr>
              <a:picLocks noChangeAspect="1"/>
            </p:cNvPicPr>
            <p:nvPr/>
          </p:nvPicPr>
          <p:blipFill>
            <a:blip r:embed="rId6"/>
            <a:stretch>
              <a:fillRect/>
            </a:stretch>
          </p:blipFill>
          <p:spPr>
            <a:xfrm>
              <a:off x="6811848" y="534000"/>
              <a:ext cx="2495865" cy="2492179"/>
            </a:xfrm>
            <a:prstGeom prst="rect">
              <a:avLst/>
            </a:prstGeom>
          </p:spPr>
        </p:pic>
        <p:cxnSp>
          <p:nvCxnSpPr>
            <p:cNvPr id="90" name="Straight Arrow Connector 89"/>
            <p:cNvCxnSpPr/>
            <p:nvPr/>
          </p:nvCxnSpPr>
          <p:spPr>
            <a:xfrm>
              <a:off x="8049506" y="1074297"/>
              <a:ext cx="0" cy="239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8998817" y="294404"/>
              <a:ext cx="0" cy="239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rot="16200000">
              <a:off x="7442064" y="1660291"/>
              <a:ext cx="0" cy="23959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rot="16200000">
              <a:off x="6654946" y="2084316"/>
              <a:ext cx="0" cy="23959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6703149" y="562"/>
              <a:ext cx="2765986" cy="523220"/>
            </a:xfrm>
            <a:prstGeom prst="rect">
              <a:avLst/>
            </a:prstGeom>
          </p:spPr>
          <p:txBody>
            <a:bodyPr wrap="square">
              <a:spAutoFit/>
            </a:bodyPr>
            <a:lstStyle/>
            <a:p>
              <a:r>
                <a:rPr lang="pl-PL" sz="1400" dirty="0"/>
                <a:t>Ensure the corresponding surfaces are as paralell as possible</a:t>
              </a:r>
            </a:p>
          </p:txBody>
        </p:sp>
      </p:grpSp>
      <p:sp>
        <p:nvSpPr>
          <p:cNvPr id="46" name="Rectangle 45"/>
          <p:cNvSpPr/>
          <p:nvPr/>
        </p:nvSpPr>
        <p:spPr>
          <a:xfrm>
            <a:off x="9273946" y="-13850"/>
            <a:ext cx="301686" cy="369332"/>
          </a:xfrm>
          <a:prstGeom prst="rect">
            <a:avLst/>
          </a:prstGeom>
        </p:spPr>
        <p:txBody>
          <a:bodyPr wrap="none">
            <a:spAutoFit/>
          </a:bodyPr>
          <a:lstStyle/>
          <a:p>
            <a:r>
              <a:rPr lang="en-GB" dirty="0"/>
              <a:t>3</a:t>
            </a:r>
            <a:endParaRPr lang="pl-PL" dirty="0"/>
          </a:p>
        </p:txBody>
      </p:sp>
      <p:sp>
        <p:nvSpPr>
          <p:cNvPr id="121" name="Rectangle 120"/>
          <p:cNvSpPr/>
          <p:nvPr/>
        </p:nvSpPr>
        <p:spPr>
          <a:xfrm>
            <a:off x="3710905" y="3290017"/>
            <a:ext cx="301686" cy="369332"/>
          </a:xfrm>
          <a:prstGeom prst="rect">
            <a:avLst/>
          </a:prstGeom>
        </p:spPr>
        <p:txBody>
          <a:bodyPr wrap="none">
            <a:spAutoFit/>
          </a:bodyPr>
          <a:lstStyle/>
          <a:p>
            <a:r>
              <a:rPr lang="en-GB" dirty="0"/>
              <a:t>4</a:t>
            </a:r>
            <a:endParaRPr lang="pl-PL" dirty="0"/>
          </a:p>
        </p:txBody>
      </p:sp>
      <p:grpSp>
        <p:nvGrpSpPr>
          <p:cNvPr id="26" name="Group 25"/>
          <p:cNvGrpSpPr/>
          <p:nvPr/>
        </p:nvGrpSpPr>
        <p:grpSpPr>
          <a:xfrm>
            <a:off x="3723488" y="257923"/>
            <a:ext cx="5577261" cy="2716993"/>
            <a:chOff x="3809213" y="257923"/>
            <a:chExt cx="5577261" cy="2716993"/>
          </a:xfrm>
        </p:grpSpPr>
        <p:pic>
          <p:nvPicPr>
            <p:cNvPr id="3" name="Picture 2"/>
            <p:cNvPicPr>
              <a:picLocks noChangeAspect="1"/>
            </p:cNvPicPr>
            <p:nvPr/>
          </p:nvPicPr>
          <p:blipFill>
            <a:blip r:embed="rId7"/>
            <a:stretch>
              <a:fillRect/>
            </a:stretch>
          </p:blipFill>
          <p:spPr>
            <a:xfrm>
              <a:off x="3809213" y="257923"/>
              <a:ext cx="2809768" cy="2716993"/>
            </a:xfrm>
            <a:prstGeom prst="rect">
              <a:avLst/>
            </a:prstGeom>
          </p:spPr>
        </p:pic>
        <p:sp>
          <p:nvSpPr>
            <p:cNvPr id="100" name="Down Arrow 99"/>
            <p:cNvSpPr/>
            <p:nvPr/>
          </p:nvSpPr>
          <p:spPr>
            <a:xfrm rot="14100000">
              <a:off x="4068006" y="1954638"/>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1" name="Rectangle 100"/>
            <p:cNvSpPr/>
            <p:nvPr/>
          </p:nvSpPr>
          <p:spPr>
            <a:xfrm>
              <a:off x="5517998" y="1974388"/>
              <a:ext cx="1031238" cy="364628"/>
            </a:xfrm>
            <a:prstGeom prst="rect">
              <a:avLst/>
            </a:prstGeom>
          </p:spPr>
          <p:txBody>
            <a:bodyPr wrap="square">
              <a:spAutoFit/>
            </a:bodyPr>
            <a:lstStyle/>
            <a:p>
              <a:r>
                <a:rPr lang="en-US" sz="1400" dirty="0"/>
                <a:t>Secure using </a:t>
              </a:r>
              <a:r>
                <a:rPr lang="pl-PL" sz="1400" dirty="0"/>
                <a:t>4-40</a:t>
              </a:r>
              <a:r>
                <a:rPr lang="en-US" sz="1400" dirty="0"/>
                <a:t> cap screws </a:t>
              </a:r>
              <a:endParaRPr lang="pl-PL" sz="1400" dirty="0"/>
            </a:p>
          </p:txBody>
        </p:sp>
        <p:sp>
          <p:nvSpPr>
            <p:cNvPr id="139" name="Down Arrow 138"/>
            <p:cNvSpPr/>
            <p:nvPr/>
          </p:nvSpPr>
          <p:spPr>
            <a:xfrm rot="14100000">
              <a:off x="5482531" y="905185"/>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nvGrpSpPr>
            <p:cNvPr id="19" name="Group 18"/>
            <p:cNvGrpSpPr/>
            <p:nvPr/>
          </p:nvGrpSpPr>
          <p:grpSpPr>
            <a:xfrm>
              <a:off x="6622611" y="289051"/>
              <a:ext cx="2763863" cy="2663709"/>
              <a:chOff x="241950" y="3546592"/>
              <a:chExt cx="2763863" cy="2663709"/>
            </a:xfrm>
          </p:grpSpPr>
          <p:pic>
            <p:nvPicPr>
              <p:cNvPr id="122" name="Picture 121"/>
              <p:cNvPicPr>
                <a:picLocks noChangeAspect="1"/>
              </p:cNvPicPr>
              <p:nvPr/>
            </p:nvPicPr>
            <p:blipFill rotWithShape="1">
              <a:blip r:embed="rId7"/>
              <a:srcRect l="73365" b="68920"/>
              <a:stretch/>
            </p:blipFill>
            <p:spPr>
              <a:xfrm>
                <a:off x="2257425" y="3546592"/>
                <a:ext cx="748388" cy="844434"/>
              </a:xfrm>
              <a:prstGeom prst="rect">
                <a:avLst/>
              </a:prstGeom>
            </p:spPr>
          </p:pic>
          <p:pic>
            <p:nvPicPr>
              <p:cNvPr id="138" name="Picture 137"/>
              <p:cNvPicPr>
                <a:picLocks noChangeAspect="1"/>
              </p:cNvPicPr>
              <p:nvPr/>
            </p:nvPicPr>
            <p:blipFill>
              <a:blip r:embed="rId8"/>
              <a:stretch>
                <a:fillRect/>
              </a:stretch>
            </p:blipFill>
            <p:spPr>
              <a:xfrm>
                <a:off x="241950" y="4118825"/>
                <a:ext cx="1453500" cy="2091476"/>
              </a:xfrm>
              <a:prstGeom prst="rect">
                <a:avLst/>
              </a:prstGeom>
            </p:spPr>
          </p:pic>
          <p:sp>
            <p:nvSpPr>
              <p:cNvPr id="144" name="Down Arrow 143"/>
              <p:cNvSpPr/>
              <p:nvPr/>
            </p:nvSpPr>
            <p:spPr>
              <a:xfrm rot="14100000">
                <a:off x="1740675" y="4217987"/>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5" name="Down Arrow 144"/>
              <p:cNvSpPr/>
              <p:nvPr/>
            </p:nvSpPr>
            <p:spPr>
              <a:xfrm rot="14100000">
                <a:off x="500244" y="5178368"/>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28" name="Group 27"/>
          <p:cNvGrpSpPr/>
          <p:nvPr/>
        </p:nvGrpSpPr>
        <p:grpSpPr>
          <a:xfrm>
            <a:off x="4331978" y="3444537"/>
            <a:ext cx="6447816" cy="3214516"/>
            <a:chOff x="5842830" y="3583072"/>
            <a:chExt cx="5892336" cy="2937585"/>
          </a:xfrm>
        </p:grpSpPr>
        <p:pic>
          <p:nvPicPr>
            <p:cNvPr id="130" name="Picture 129"/>
            <p:cNvPicPr>
              <a:picLocks noChangeAspect="1"/>
            </p:cNvPicPr>
            <p:nvPr/>
          </p:nvPicPr>
          <p:blipFill rotWithShape="1">
            <a:blip r:embed="rId9"/>
            <a:srcRect t="34469" r="50718"/>
            <a:stretch/>
          </p:blipFill>
          <p:spPr>
            <a:xfrm>
              <a:off x="5842830" y="4524375"/>
              <a:ext cx="1348545" cy="1918577"/>
            </a:xfrm>
            <a:prstGeom prst="rect">
              <a:avLst/>
            </a:prstGeom>
          </p:spPr>
        </p:pic>
        <p:sp>
          <p:nvSpPr>
            <p:cNvPr id="133" name="Rectangle 132"/>
            <p:cNvSpPr/>
            <p:nvPr/>
          </p:nvSpPr>
          <p:spPr>
            <a:xfrm>
              <a:off x="7415689" y="5600116"/>
              <a:ext cx="1657987" cy="738664"/>
            </a:xfrm>
            <a:prstGeom prst="rect">
              <a:avLst/>
            </a:prstGeom>
          </p:spPr>
          <p:txBody>
            <a:bodyPr wrap="square">
              <a:spAutoFit/>
            </a:bodyPr>
            <a:lstStyle/>
            <a:p>
              <a:r>
                <a:rPr lang="pl-PL" sz="1400" dirty="0"/>
                <a:t>Insert the mirror</a:t>
              </a:r>
              <a:r>
                <a:rPr lang="en-GB" sz="1400" dirty="0"/>
                <a:t>s</a:t>
              </a:r>
              <a:r>
                <a:rPr lang="pl-PL" sz="1400" dirty="0"/>
                <a:t> into the holder</a:t>
              </a:r>
              <a:r>
                <a:rPr lang="en-GB" sz="1400" dirty="0"/>
                <a:t>s</a:t>
              </a:r>
              <a:r>
                <a:rPr lang="pl-PL" sz="1400" dirty="0"/>
                <a:t> with a tight fit</a:t>
              </a:r>
            </a:p>
          </p:txBody>
        </p:sp>
        <p:grpSp>
          <p:nvGrpSpPr>
            <p:cNvPr id="13" name="Group 12"/>
            <p:cNvGrpSpPr/>
            <p:nvPr/>
          </p:nvGrpSpPr>
          <p:grpSpPr>
            <a:xfrm>
              <a:off x="8998817" y="3592918"/>
              <a:ext cx="2736349" cy="2927739"/>
              <a:chOff x="9107621" y="3355128"/>
              <a:chExt cx="2736349" cy="2927739"/>
            </a:xfrm>
          </p:grpSpPr>
          <p:pic>
            <p:nvPicPr>
              <p:cNvPr id="7" name="Picture 6"/>
              <p:cNvPicPr>
                <a:picLocks noChangeAspect="1"/>
              </p:cNvPicPr>
              <p:nvPr/>
            </p:nvPicPr>
            <p:blipFill>
              <a:blip r:embed="rId9"/>
              <a:stretch>
                <a:fillRect/>
              </a:stretch>
            </p:blipFill>
            <p:spPr>
              <a:xfrm>
                <a:off x="9107621" y="3355128"/>
                <a:ext cx="2736349" cy="2927739"/>
              </a:xfrm>
              <a:prstGeom prst="rect">
                <a:avLst/>
              </a:prstGeom>
            </p:spPr>
          </p:pic>
          <p:sp>
            <p:nvSpPr>
              <p:cNvPr id="141" name="Down Arrow 140"/>
              <p:cNvSpPr/>
              <p:nvPr/>
            </p:nvSpPr>
            <p:spPr>
              <a:xfrm rot="14100000">
                <a:off x="10298915" y="4571837"/>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147" name="Picture 146"/>
            <p:cNvPicPr>
              <a:picLocks noChangeAspect="1"/>
            </p:cNvPicPr>
            <p:nvPr/>
          </p:nvPicPr>
          <p:blipFill>
            <a:blip r:embed="rId8"/>
            <a:stretch>
              <a:fillRect/>
            </a:stretch>
          </p:blipFill>
          <p:spPr>
            <a:xfrm>
              <a:off x="7281481" y="3583072"/>
              <a:ext cx="1269788" cy="1827128"/>
            </a:xfrm>
            <a:prstGeom prst="rect">
              <a:avLst/>
            </a:prstGeom>
          </p:spPr>
        </p:pic>
        <p:sp>
          <p:nvSpPr>
            <p:cNvPr id="142" name="Down Arrow 141"/>
            <p:cNvSpPr/>
            <p:nvPr/>
          </p:nvSpPr>
          <p:spPr>
            <a:xfrm rot="14100000">
              <a:off x="7052093" y="4710010"/>
              <a:ext cx="198120" cy="47321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30" name="Group 29"/>
          <p:cNvGrpSpPr/>
          <p:nvPr/>
        </p:nvGrpSpPr>
        <p:grpSpPr>
          <a:xfrm>
            <a:off x="343986" y="3471653"/>
            <a:ext cx="2933987" cy="3036862"/>
            <a:chOff x="541498" y="3360972"/>
            <a:chExt cx="2933987" cy="3036862"/>
          </a:xfrm>
        </p:grpSpPr>
        <p:pic>
          <p:nvPicPr>
            <p:cNvPr id="150" name="Picture 149"/>
            <p:cNvPicPr>
              <a:picLocks noChangeAspect="1"/>
            </p:cNvPicPr>
            <p:nvPr/>
          </p:nvPicPr>
          <p:blipFill>
            <a:blip r:embed="rId10"/>
            <a:stretch>
              <a:fillRect/>
            </a:stretch>
          </p:blipFill>
          <p:spPr>
            <a:xfrm>
              <a:off x="801322" y="3889109"/>
              <a:ext cx="2501380" cy="2508725"/>
            </a:xfrm>
            <a:prstGeom prst="rect">
              <a:avLst/>
            </a:prstGeom>
          </p:spPr>
        </p:pic>
        <p:grpSp>
          <p:nvGrpSpPr>
            <p:cNvPr id="152" name="Group 151"/>
            <p:cNvGrpSpPr/>
            <p:nvPr/>
          </p:nvGrpSpPr>
          <p:grpSpPr>
            <a:xfrm>
              <a:off x="541498" y="3360972"/>
              <a:ext cx="2933987" cy="2203552"/>
              <a:chOff x="6535148" y="562"/>
              <a:chExt cx="2933987" cy="2203552"/>
            </a:xfrm>
          </p:grpSpPr>
          <p:cxnSp>
            <p:nvCxnSpPr>
              <p:cNvPr id="154" name="Straight Arrow Connector 153"/>
              <p:cNvCxnSpPr/>
              <p:nvPr/>
            </p:nvCxnSpPr>
            <p:spPr>
              <a:xfrm>
                <a:off x="8049506" y="1074297"/>
                <a:ext cx="0" cy="239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p:nvPr/>
            </p:nvCxnSpPr>
            <p:spPr>
              <a:xfrm>
                <a:off x="8998817" y="294404"/>
                <a:ext cx="0" cy="239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p:nvPr/>
            </p:nvCxnSpPr>
            <p:spPr>
              <a:xfrm rot="16200000">
                <a:off x="7442064" y="1660291"/>
                <a:ext cx="0" cy="23959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p:nvPr/>
            </p:nvCxnSpPr>
            <p:spPr>
              <a:xfrm rot="16200000">
                <a:off x="6654946" y="2084316"/>
                <a:ext cx="0" cy="23959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58" name="Rectangle 157"/>
              <p:cNvSpPr/>
              <p:nvPr/>
            </p:nvSpPr>
            <p:spPr>
              <a:xfrm>
                <a:off x="6703149" y="562"/>
                <a:ext cx="2765986" cy="523220"/>
              </a:xfrm>
              <a:prstGeom prst="rect">
                <a:avLst/>
              </a:prstGeom>
            </p:spPr>
            <p:txBody>
              <a:bodyPr wrap="square">
                <a:spAutoFit/>
              </a:bodyPr>
              <a:lstStyle/>
              <a:p>
                <a:r>
                  <a:rPr lang="pl-PL" sz="1400" dirty="0"/>
                  <a:t>Ensure the corresponding surfaces are as paralell as possible</a:t>
                </a:r>
              </a:p>
            </p:txBody>
          </p:sp>
        </p:grpSp>
      </p:grpSp>
      <p:cxnSp>
        <p:nvCxnSpPr>
          <p:cNvPr id="43" name="Straight Connector 42"/>
          <p:cNvCxnSpPr/>
          <p:nvPr/>
        </p:nvCxnSpPr>
        <p:spPr>
          <a:xfrm>
            <a:off x="9291934" y="3389"/>
            <a:ext cx="0" cy="32562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044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9" name="Rectangle 38"/>
          <p:cNvSpPr/>
          <p:nvPr/>
        </p:nvSpPr>
        <p:spPr>
          <a:xfrm>
            <a:off x="66876" y="-13850"/>
            <a:ext cx="301686" cy="369332"/>
          </a:xfrm>
          <a:prstGeom prst="rect">
            <a:avLst/>
          </a:prstGeom>
        </p:spPr>
        <p:txBody>
          <a:bodyPr wrap="none">
            <a:spAutoFit/>
          </a:bodyPr>
          <a:lstStyle/>
          <a:p>
            <a:r>
              <a:rPr lang="pl-PL" dirty="0"/>
              <a:t>1</a:t>
            </a:r>
          </a:p>
        </p:txBody>
      </p:sp>
      <p:sp>
        <p:nvSpPr>
          <p:cNvPr id="44" name="Rectangle 43"/>
          <p:cNvSpPr/>
          <p:nvPr/>
        </p:nvSpPr>
        <p:spPr>
          <a:xfrm>
            <a:off x="103624" y="2985398"/>
            <a:ext cx="301686" cy="369332"/>
          </a:xfrm>
          <a:prstGeom prst="rect">
            <a:avLst/>
          </a:prstGeom>
        </p:spPr>
        <p:txBody>
          <a:bodyPr wrap="none">
            <a:spAutoFit/>
          </a:bodyPr>
          <a:lstStyle/>
          <a:p>
            <a:r>
              <a:rPr lang="pl-PL" dirty="0"/>
              <a:t>2</a:t>
            </a:r>
          </a:p>
        </p:txBody>
      </p:sp>
      <p:cxnSp>
        <p:nvCxnSpPr>
          <p:cNvPr id="40" name="Straight Connector 39"/>
          <p:cNvCxnSpPr/>
          <p:nvPr/>
        </p:nvCxnSpPr>
        <p:spPr>
          <a:xfrm>
            <a:off x="0" y="287999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496070" y="96005"/>
            <a:ext cx="11160268" cy="3072453"/>
            <a:chOff x="1120342" y="210243"/>
            <a:chExt cx="9467931" cy="2606549"/>
          </a:xfrm>
        </p:grpSpPr>
        <p:pic>
          <p:nvPicPr>
            <p:cNvPr id="2" name="Picture 1"/>
            <p:cNvPicPr>
              <a:picLocks noChangeAspect="1"/>
            </p:cNvPicPr>
            <p:nvPr/>
          </p:nvPicPr>
          <p:blipFill>
            <a:blip r:embed="rId3"/>
            <a:stretch>
              <a:fillRect/>
            </a:stretch>
          </p:blipFill>
          <p:spPr>
            <a:xfrm>
              <a:off x="1120342" y="210243"/>
              <a:ext cx="4404063" cy="2177715"/>
            </a:xfrm>
            <a:prstGeom prst="rect">
              <a:avLst/>
            </a:prstGeom>
          </p:spPr>
        </p:pic>
        <p:pic>
          <p:nvPicPr>
            <p:cNvPr id="60" name="Picture 59"/>
            <p:cNvPicPr>
              <a:picLocks noChangeAspect="1"/>
            </p:cNvPicPr>
            <p:nvPr/>
          </p:nvPicPr>
          <p:blipFill>
            <a:blip r:embed="rId4"/>
            <a:stretch>
              <a:fillRect/>
            </a:stretch>
          </p:blipFill>
          <p:spPr>
            <a:xfrm>
              <a:off x="5831201" y="217831"/>
              <a:ext cx="4499225" cy="2225307"/>
            </a:xfrm>
            <a:prstGeom prst="rect">
              <a:avLst/>
            </a:prstGeom>
          </p:spPr>
        </p:pic>
        <p:sp>
          <p:nvSpPr>
            <p:cNvPr id="61" name="Down Arrow 60"/>
            <p:cNvSpPr/>
            <p:nvPr/>
          </p:nvSpPr>
          <p:spPr>
            <a:xfrm rot="16200000">
              <a:off x="2555354" y="462548"/>
              <a:ext cx="244250" cy="80706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2" name="Down Arrow 61"/>
            <p:cNvSpPr/>
            <p:nvPr/>
          </p:nvSpPr>
          <p:spPr>
            <a:xfrm rot="16200000">
              <a:off x="7309008" y="462548"/>
              <a:ext cx="244250" cy="807061"/>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Rectangle 62"/>
            <p:cNvSpPr/>
            <p:nvPr/>
          </p:nvSpPr>
          <p:spPr>
            <a:xfrm>
              <a:off x="1222285" y="2293572"/>
              <a:ext cx="9365988" cy="523220"/>
            </a:xfrm>
            <a:prstGeom prst="rect">
              <a:avLst/>
            </a:prstGeom>
          </p:spPr>
          <p:txBody>
            <a:bodyPr wrap="square">
              <a:spAutoFit/>
            </a:bodyPr>
            <a:lstStyle/>
            <a:p>
              <a:r>
                <a:rPr lang="pl-PL" sz="1400" dirty="0"/>
                <a:t>Slide the kinematic mount</a:t>
              </a:r>
              <a:r>
                <a:rPr lang="en-GB" sz="1400" dirty="0"/>
                <a:t>s</a:t>
              </a:r>
              <a:r>
                <a:rPr lang="pl-PL" sz="1400" dirty="0"/>
                <a:t> into the post holder</a:t>
              </a:r>
              <a:r>
                <a:rPr lang="en-GB" sz="1400" dirty="0"/>
                <a:t>s</a:t>
              </a:r>
              <a:r>
                <a:rPr lang="pl-PL" sz="1400" dirty="0"/>
                <a:t> as tight as possible. Be careful as it may fall off – final fixing is with the M4 cap screw in the next step</a:t>
              </a:r>
            </a:p>
          </p:txBody>
        </p:sp>
      </p:grpSp>
      <p:sp>
        <p:nvSpPr>
          <p:cNvPr id="69" name="TextBox 68"/>
          <p:cNvSpPr txBox="1"/>
          <p:nvPr/>
        </p:nvSpPr>
        <p:spPr>
          <a:xfrm>
            <a:off x="3252518" y="3200170"/>
            <a:ext cx="1024207" cy="3170099"/>
          </a:xfrm>
          <a:prstGeom prst="rect">
            <a:avLst/>
          </a:prstGeom>
          <a:noFill/>
        </p:spPr>
        <p:txBody>
          <a:bodyPr wrap="square" rtlCol="0">
            <a:spAutoFit/>
          </a:bodyPr>
          <a:lstStyle/>
          <a:p>
            <a:r>
              <a:rPr lang="en-US" sz="1000" dirty="0"/>
              <a:t>Insert both holders tightly into the designated slots, ensuring proper alignment with the slot orientation and the correct positioning of the holder with the cut corner. Secure the assembly using M3 cap screws inserted from the bottom, as indicated by the blue arrows.</a:t>
            </a:r>
            <a:endParaRPr lang="pl-PL" sz="1000" dirty="0"/>
          </a:p>
        </p:txBody>
      </p:sp>
      <p:grpSp>
        <p:nvGrpSpPr>
          <p:cNvPr id="10" name="Group 9"/>
          <p:cNvGrpSpPr/>
          <p:nvPr/>
        </p:nvGrpSpPr>
        <p:grpSpPr>
          <a:xfrm>
            <a:off x="490240" y="3103173"/>
            <a:ext cx="2850565" cy="3552825"/>
            <a:chOff x="1020987" y="3276600"/>
            <a:chExt cx="2850565" cy="3552825"/>
          </a:xfrm>
        </p:grpSpPr>
        <p:pic>
          <p:nvPicPr>
            <p:cNvPr id="8" name="Picture 7"/>
            <p:cNvPicPr>
              <a:picLocks noChangeAspect="1"/>
            </p:cNvPicPr>
            <p:nvPr/>
          </p:nvPicPr>
          <p:blipFill>
            <a:blip r:embed="rId5"/>
            <a:stretch>
              <a:fillRect/>
            </a:stretch>
          </p:blipFill>
          <p:spPr>
            <a:xfrm>
              <a:off x="1020987" y="3276600"/>
              <a:ext cx="2850565" cy="3366026"/>
            </a:xfrm>
            <a:prstGeom prst="rect">
              <a:avLst/>
            </a:prstGeom>
          </p:spPr>
        </p:pic>
        <p:cxnSp>
          <p:nvCxnSpPr>
            <p:cNvPr id="67" name="Straight Arrow Connector 66"/>
            <p:cNvCxnSpPr/>
            <p:nvPr/>
          </p:nvCxnSpPr>
          <p:spPr>
            <a:xfrm>
              <a:off x="1855877" y="4865462"/>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3311057" y="5667913"/>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10800000">
              <a:off x="1855877" y="6056394"/>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10800000">
              <a:off x="3310002" y="6590382"/>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4200136" y="2890857"/>
            <a:ext cx="2560237" cy="3796878"/>
            <a:chOff x="4407214" y="3109077"/>
            <a:chExt cx="2560237" cy="3796878"/>
          </a:xfrm>
        </p:grpSpPr>
        <p:pic>
          <p:nvPicPr>
            <p:cNvPr id="9" name="Picture 8"/>
            <p:cNvPicPr>
              <a:picLocks noChangeAspect="1"/>
            </p:cNvPicPr>
            <p:nvPr/>
          </p:nvPicPr>
          <p:blipFill>
            <a:blip r:embed="rId6"/>
            <a:stretch>
              <a:fillRect/>
            </a:stretch>
          </p:blipFill>
          <p:spPr>
            <a:xfrm>
              <a:off x="4407214" y="3109077"/>
              <a:ext cx="2560237" cy="3586998"/>
            </a:xfrm>
            <a:prstGeom prst="rect">
              <a:avLst/>
            </a:prstGeom>
          </p:spPr>
        </p:pic>
        <p:cxnSp>
          <p:nvCxnSpPr>
            <p:cNvPr id="75" name="Straight Arrow Connector 74"/>
            <p:cNvCxnSpPr/>
            <p:nvPr/>
          </p:nvCxnSpPr>
          <p:spPr>
            <a:xfrm>
              <a:off x="5254157" y="5742069"/>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6540032" y="5041305"/>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rot="10800000">
              <a:off x="6558027" y="6295437"/>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rot="10800000">
              <a:off x="5254157" y="6666912"/>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79" name="Rectangle 78"/>
          <p:cNvSpPr/>
          <p:nvPr/>
        </p:nvSpPr>
        <p:spPr>
          <a:xfrm>
            <a:off x="6924706" y="2983792"/>
            <a:ext cx="301686" cy="369332"/>
          </a:xfrm>
          <a:prstGeom prst="rect">
            <a:avLst/>
          </a:prstGeom>
        </p:spPr>
        <p:txBody>
          <a:bodyPr wrap="none">
            <a:spAutoFit/>
          </a:bodyPr>
          <a:lstStyle/>
          <a:p>
            <a:r>
              <a:rPr lang="en-GB" dirty="0"/>
              <a:t>3</a:t>
            </a:r>
            <a:endParaRPr lang="pl-PL" dirty="0"/>
          </a:p>
        </p:txBody>
      </p:sp>
      <p:cxnSp>
        <p:nvCxnSpPr>
          <p:cNvPr id="83" name="Straight Connector 82"/>
          <p:cNvCxnSpPr/>
          <p:nvPr/>
        </p:nvCxnSpPr>
        <p:spPr>
          <a:xfrm>
            <a:off x="6924706" y="2884782"/>
            <a:ext cx="0" cy="397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7"/>
          <a:stretch>
            <a:fillRect/>
          </a:stretch>
        </p:blipFill>
        <p:spPr>
          <a:xfrm>
            <a:off x="7445002" y="2897822"/>
            <a:ext cx="4098645" cy="3960178"/>
          </a:xfrm>
          <a:prstGeom prst="rect">
            <a:avLst/>
          </a:prstGeom>
        </p:spPr>
      </p:pic>
    </p:spTree>
    <p:extLst>
      <p:ext uri="{BB962C8B-B14F-4D97-AF65-F5344CB8AC3E}">
        <p14:creationId xmlns:p14="http://schemas.microsoft.com/office/powerpoint/2010/main" val="3944580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1344942" cy="2031325"/>
          </a:xfrm>
          <a:prstGeom prst="rect">
            <a:avLst/>
          </a:prstGeom>
          <a:noFill/>
        </p:spPr>
        <p:txBody>
          <a:bodyPr wrap="square" rtlCol="0">
            <a:spAutoFit/>
          </a:bodyPr>
          <a:lstStyle/>
          <a:p>
            <a:r>
              <a:rPr lang="pl-PL" dirty="0"/>
              <a:t>1 </a:t>
            </a:r>
            <a:r>
              <a:rPr lang="pl-PL" dirty="0">
                <a:cs typeface="Times New Roman" panose="02020603050405020304" pitchFamily="18" charset="0"/>
              </a:rPr>
              <a:t>×</a:t>
            </a:r>
            <a:r>
              <a:rPr lang="en-GB" dirty="0">
                <a:cs typeface="Times New Roman" panose="02020603050405020304" pitchFamily="18" charset="0"/>
              </a:rPr>
              <a:t> 17_FDML_stimfix_Badal_screw_8mm_end_cap</a:t>
            </a:r>
            <a:endParaRPr lang="en-US" dirty="0">
              <a:cs typeface="Times New Roman" panose="02020603050405020304" pitchFamily="18" charset="0"/>
            </a:endParaRPr>
          </a:p>
          <a:p>
            <a:r>
              <a:rPr lang="en-GB" dirty="0"/>
              <a:t>1</a:t>
            </a:r>
            <a:r>
              <a:rPr lang="pl-PL" dirty="0"/>
              <a:t> </a:t>
            </a:r>
            <a:r>
              <a:rPr lang="pl-PL" dirty="0">
                <a:cs typeface="Times New Roman" panose="02020603050405020304" pitchFamily="18" charset="0"/>
              </a:rPr>
              <a:t>×</a:t>
            </a:r>
            <a:r>
              <a:rPr lang="en-GB" dirty="0">
                <a:cs typeface="Times New Roman" panose="02020603050405020304" pitchFamily="18" charset="0"/>
              </a:rPr>
              <a:t> 18_FDML_stimfix_Badal_screw_8mm_front_cap</a:t>
            </a:r>
          </a:p>
          <a:p>
            <a:r>
              <a:rPr lang="en-GB" dirty="0"/>
              <a:t>1</a:t>
            </a:r>
            <a:r>
              <a:rPr lang="pl-PL" dirty="0"/>
              <a:t> </a:t>
            </a:r>
            <a:r>
              <a:rPr lang="pl-PL" dirty="0">
                <a:cs typeface="Times New Roman" panose="02020603050405020304" pitchFamily="18" charset="0"/>
              </a:rPr>
              <a:t>× 19_FDML_stimfix_Badal_screw_8mm_rotating_handle</a:t>
            </a:r>
            <a:endParaRPr lang="en-GB" dirty="0">
              <a:cs typeface="Times New Roman" panose="02020603050405020304" pitchFamily="18" charset="0"/>
            </a:endParaRPr>
          </a:p>
          <a:p>
            <a:r>
              <a:rPr lang="en-GB" dirty="0"/>
              <a:t>2</a:t>
            </a:r>
            <a:r>
              <a:rPr lang="pl-PL" dirty="0"/>
              <a:t> </a:t>
            </a:r>
            <a:r>
              <a:rPr lang="pl-PL" dirty="0">
                <a:cs typeface="Times New Roman" panose="02020603050405020304" pitchFamily="18" charset="0"/>
              </a:rPr>
              <a:t>× 20_FDML_stimfix_Badal_screw_handle_fixing_bolt</a:t>
            </a:r>
            <a:endParaRPr lang="en-GB" dirty="0">
              <a:cs typeface="Times New Roman" panose="02020603050405020304" pitchFamily="18" charset="0"/>
            </a:endParaRPr>
          </a:p>
          <a:p>
            <a:r>
              <a:rPr lang="en-GB" dirty="0"/>
              <a:t>1</a:t>
            </a:r>
            <a:r>
              <a:rPr lang="pl-PL" dirty="0"/>
              <a:t> </a:t>
            </a:r>
            <a:r>
              <a:rPr lang="pl-PL" dirty="0">
                <a:cs typeface="Times New Roman" panose="02020603050405020304" pitchFamily="18" charset="0"/>
              </a:rPr>
              <a:t>× </a:t>
            </a:r>
            <a:r>
              <a:rPr lang="en-US" dirty="0">
                <a:cs typeface="Times New Roman" panose="02020603050405020304" pitchFamily="18" charset="0"/>
              </a:rPr>
              <a:t>21_FDML_stimfix_Badal_stage_cover_rear</a:t>
            </a:r>
          </a:p>
          <a:p>
            <a:r>
              <a:rPr lang="en-GB" dirty="0"/>
              <a:t>1</a:t>
            </a:r>
            <a:r>
              <a:rPr lang="pl-PL" dirty="0"/>
              <a:t> </a:t>
            </a:r>
            <a:r>
              <a:rPr lang="pl-PL" dirty="0">
                <a:cs typeface="Times New Roman" panose="02020603050405020304" pitchFamily="18" charset="0"/>
              </a:rPr>
              <a:t>×</a:t>
            </a:r>
            <a:r>
              <a:rPr lang="en-GB" dirty="0">
                <a:cs typeface="Times New Roman" panose="02020603050405020304" pitchFamily="18" charset="0"/>
              </a:rPr>
              <a:t> 22_FDML_stimfix_Badal_stage_cover_top</a:t>
            </a:r>
          </a:p>
          <a:p>
            <a:r>
              <a:rPr lang="en-GB" dirty="0"/>
              <a:t>1</a:t>
            </a:r>
            <a:r>
              <a:rPr lang="pl-PL" dirty="0"/>
              <a:t> </a:t>
            </a:r>
            <a:r>
              <a:rPr lang="pl-PL" dirty="0">
                <a:cs typeface="Times New Roman" panose="02020603050405020304" pitchFamily="18" charset="0"/>
              </a:rPr>
              <a:t>×</a:t>
            </a:r>
            <a:r>
              <a:rPr lang="en-GB" dirty="0">
                <a:cs typeface="Times New Roman" panose="02020603050405020304" pitchFamily="18" charset="0"/>
              </a:rPr>
              <a:t> </a:t>
            </a:r>
            <a:r>
              <a:rPr lang="en-US" dirty="0">
                <a:cs typeface="Times New Roman" panose="02020603050405020304" pitchFamily="18" charset="0"/>
              </a:rPr>
              <a:t>model_07_stimfix_Badal_threaded_rod_M8</a:t>
            </a:r>
          </a:p>
        </p:txBody>
      </p:sp>
      <p:pic>
        <p:nvPicPr>
          <p:cNvPr id="2" name="Picture 1"/>
          <p:cNvPicPr>
            <a:picLocks noChangeAspect="1"/>
          </p:cNvPicPr>
          <p:nvPr/>
        </p:nvPicPr>
        <p:blipFill>
          <a:blip r:embed="rId3"/>
          <a:stretch>
            <a:fillRect/>
          </a:stretch>
        </p:blipFill>
        <p:spPr>
          <a:xfrm>
            <a:off x="7466180" y="33002"/>
            <a:ext cx="2819200" cy="2723957"/>
          </a:xfrm>
          <a:prstGeom prst="rect">
            <a:avLst/>
          </a:prstGeom>
        </p:spPr>
      </p:pic>
      <p:pic>
        <p:nvPicPr>
          <p:cNvPr id="7" name="Picture 6"/>
          <p:cNvPicPr>
            <a:picLocks noChangeAspect="1"/>
          </p:cNvPicPr>
          <p:nvPr/>
        </p:nvPicPr>
        <p:blipFill>
          <a:blip r:embed="rId4"/>
          <a:stretch>
            <a:fillRect/>
          </a:stretch>
        </p:blipFill>
        <p:spPr>
          <a:xfrm>
            <a:off x="6638825" y="3476363"/>
            <a:ext cx="5106356" cy="3204105"/>
          </a:xfrm>
          <a:prstGeom prst="rect">
            <a:avLst/>
          </a:prstGeom>
        </p:spPr>
      </p:pic>
      <p:pic>
        <p:nvPicPr>
          <p:cNvPr id="6" name="Picture 5"/>
          <p:cNvPicPr>
            <a:picLocks noChangeAspect="1"/>
          </p:cNvPicPr>
          <p:nvPr/>
        </p:nvPicPr>
        <p:blipFill>
          <a:blip r:embed="rId5"/>
          <a:stretch>
            <a:fillRect/>
          </a:stretch>
        </p:blipFill>
        <p:spPr>
          <a:xfrm>
            <a:off x="9161521" y="2544614"/>
            <a:ext cx="1663632" cy="1226655"/>
          </a:xfrm>
          <a:prstGeom prst="rect">
            <a:avLst/>
          </a:prstGeom>
        </p:spPr>
      </p:pic>
      <p:pic>
        <p:nvPicPr>
          <p:cNvPr id="5" name="Picture 4"/>
          <p:cNvPicPr>
            <a:picLocks noChangeAspect="1"/>
          </p:cNvPicPr>
          <p:nvPr/>
        </p:nvPicPr>
        <p:blipFill rotWithShape="1">
          <a:blip r:embed="rId6"/>
          <a:srcRect l="-1" r="2501" b="9136"/>
          <a:stretch/>
        </p:blipFill>
        <p:spPr>
          <a:xfrm>
            <a:off x="6964531" y="3579257"/>
            <a:ext cx="1871284" cy="1425569"/>
          </a:xfrm>
          <a:prstGeom prst="rect">
            <a:avLst/>
          </a:prstGeom>
        </p:spPr>
      </p:pic>
      <p:pic>
        <p:nvPicPr>
          <p:cNvPr id="9" name="Picture 8"/>
          <p:cNvPicPr>
            <a:picLocks noChangeAspect="1"/>
          </p:cNvPicPr>
          <p:nvPr/>
        </p:nvPicPr>
        <p:blipFill>
          <a:blip r:embed="rId7"/>
          <a:stretch>
            <a:fillRect/>
          </a:stretch>
        </p:blipFill>
        <p:spPr>
          <a:xfrm>
            <a:off x="208465" y="2499142"/>
            <a:ext cx="5606331" cy="3529012"/>
          </a:xfrm>
          <a:prstGeom prst="rect">
            <a:avLst/>
          </a:prstGeom>
        </p:spPr>
      </p:pic>
      <p:pic>
        <p:nvPicPr>
          <p:cNvPr id="8" name="Picture 7"/>
          <p:cNvPicPr>
            <a:picLocks noChangeAspect="1"/>
          </p:cNvPicPr>
          <p:nvPr/>
        </p:nvPicPr>
        <p:blipFill>
          <a:blip r:embed="rId8"/>
          <a:stretch>
            <a:fillRect/>
          </a:stretch>
        </p:blipFill>
        <p:spPr>
          <a:xfrm>
            <a:off x="5103639" y="1287368"/>
            <a:ext cx="2409825" cy="2072925"/>
          </a:xfrm>
          <a:prstGeom prst="rect">
            <a:avLst/>
          </a:prstGeom>
        </p:spPr>
      </p:pic>
      <p:pic>
        <p:nvPicPr>
          <p:cNvPr id="4" name="Picture 3"/>
          <p:cNvPicPr>
            <a:picLocks noChangeAspect="1"/>
          </p:cNvPicPr>
          <p:nvPr/>
        </p:nvPicPr>
        <p:blipFill>
          <a:blip r:embed="rId9"/>
          <a:stretch>
            <a:fillRect/>
          </a:stretch>
        </p:blipFill>
        <p:spPr>
          <a:xfrm>
            <a:off x="5046963" y="5158883"/>
            <a:ext cx="1251012" cy="1021021"/>
          </a:xfrm>
          <a:prstGeom prst="rect">
            <a:avLst/>
          </a:prstGeom>
        </p:spPr>
      </p:pic>
      <p:pic>
        <p:nvPicPr>
          <p:cNvPr id="11" name="Picture 10"/>
          <p:cNvPicPr>
            <a:picLocks noChangeAspect="1"/>
          </p:cNvPicPr>
          <p:nvPr/>
        </p:nvPicPr>
        <p:blipFill>
          <a:blip r:embed="rId10"/>
          <a:stretch>
            <a:fillRect/>
          </a:stretch>
        </p:blipFill>
        <p:spPr>
          <a:xfrm>
            <a:off x="9770162" y="5461516"/>
            <a:ext cx="883132" cy="585787"/>
          </a:xfrm>
          <a:prstGeom prst="rect">
            <a:avLst/>
          </a:prstGeom>
        </p:spPr>
      </p:pic>
    </p:spTree>
    <p:extLst>
      <p:ext uri="{BB962C8B-B14F-4D97-AF65-F5344CB8AC3E}">
        <p14:creationId xmlns:p14="http://schemas.microsoft.com/office/powerpoint/2010/main" val="240848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pic>
        <p:nvPicPr>
          <p:cNvPr id="32" name="Picture 31"/>
          <p:cNvPicPr>
            <a:picLocks noChangeAspect="1"/>
          </p:cNvPicPr>
          <p:nvPr/>
        </p:nvPicPr>
        <p:blipFill>
          <a:blip r:embed="rId3"/>
          <a:stretch>
            <a:fillRect/>
          </a:stretch>
        </p:blipFill>
        <p:spPr>
          <a:xfrm>
            <a:off x="8237429" y="257795"/>
            <a:ext cx="2832156" cy="2443149"/>
          </a:xfrm>
          <a:prstGeom prst="rect">
            <a:avLst/>
          </a:prstGeom>
        </p:spPr>
      </p:pic>
      <p:grpSp>
        <p:nvGrpSpPr>
          <p:cNvPr id="16" name="Group 15"/>
          <p:cNvGrpSpPr/>
          <p:nvPr/>
        </p:nvGrpSpPr>
        <p:grpSpPr>
          <a:xfrm>
            <a:off x="7809757" y="3523258"/>
            <a:ext cx="3879729" cy="2860887"/>
            <a:chOff x="7944594" y="3640970"/>
            <a:chExt cx="3625250" cy="2673236"/>
          </a:xfrm>
        </p:grpSpPr>
        <p:pic>
          <p:nvPicPr>
            <p:cNvPr id="66" name="Picture 65"/>
            <p:cNvPicPr>
              <a:picLocks noChangeAspect="1"/>
            </p:cNvPicPr>
            <p:nvPr/>
          </p:nvPicPr>
          <p:blipFill>
            <a:blip r:embed="rId4"/>
            <a:stretch>
              <a:fillRect/>
            </a:stretch>
          </p:blipFill>
          <p:spPr>
            <a:xfrm>
              <a:off x="10111133" y="3787676"/>
              <a:ext cx="1458711" cy="869232"/>
            </a:xfrm>
            <a:prstGeom prst="rect">
              <a:avLst/>
            </a:prstGeom>
          </p:spPr>
        </p:pic>
        <p:sp>
          <p:nvSpPr>
            <p:cNvPr id="71" name="Down Arrow 70"/>
            <p:cNvSpPr/>
            <p:nvPr/>
          </p:nvSpPr>
          <p:spPr>
            <a:xfrm rot="5400000" flipH="1">
              <a:off x="9805922" y="4023954"/>
              <a:ext cx="213770" cy="288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nvGrpSpPr>
            <p:cNvPr id="50" name="Group 49"/>
            <p:cNvGrpSpPr/>
            <p:nvPr/>
          </p:nvGrpSpPr>
          <p:grpSpPr>
            <a:xfrm>
              <a:off x="9199113" y="4701762"/>
              <a:ext cx="1563936" cy="1612444"/>
              <a:chOff x="8788021" y="4521531"/>
              <a:chExt cx="2221422" cy="2290322"/>
            </a:xfrm>
          </p:grpSpPr>
          <p:pic>
            <p:nvPicPr>
              <p:cNvPr id="22" name="Picture 21"/>
              <p:cNvPicPr>
                <a:picLocks noChangeAspect="1"/>
              </p:cNvPicPr>
              <p:nvPr/>
            </p:nvPicPr>
            <p:blipFill rotWithShape="1">
              <a:blip r:embed="rId5"/>
              <a:srcRect l="21881"/>
              <a:stretch/>
            </p:blipFill>
            <p:spPr>
              <a:xfrm>
                <a:off x="8788021" y="4521531"/>
                <a:ext cx="2221422" cy="2290322"/>
              </a:xfrm>
              <a:prstGeom prst="rect">
                <a:avLst/>
              </a:prstGeom>
            </p:spPr>
          </p:pic>
          <p:cxnSp>
            <p:nvCxnSpPr>
              <p:cNvPr id="87" name="Straight Arrow Connector 86"/>
              <p:cNvCxnSpPr/>
              <p:nvPr/>
            </p:nvCxnSpPr>
            <p:spPr>
              <a:xfrm>
                <a:off x="9673400" y="5297513"/>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9970603" y="5306566"/>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pic>
          <p:nvPicPr>
            <p:cNvPr id="35" name="Picture 34"/>
            <p:cNvPicPr>
              <a:picLocks noChangeAspect="1"/>
            </p:cNvPicPr>
            <p:nvPr/>
          </p:nvPicPr>
          <p:blipFill>
            <a:blip r:embed="rId6"/>
            <a:stretch>
              <a:fillRect/>
            </a:stretch>
          </p:blipFill>
          <p:spPr>
            <a:xfrm>
              <a:off x="7944594" y="3640970"/>
              <a:ext cx="1824213" cy="1260147"/>
            </a:xfrm>
            <a:prstGeom prst="rect">
              <a:avLst/>
            </a:prstGeom>
          </p:spPr>
        </p:pic>
      </p:grpSp>
      <p:grpSp>
        <p:nvGrpSpPr>
          <p:cNvPr id="6" name="Group 5"/>
          <p:cNvGrpSpPr/>
          <p:nvPr/>
        </p:nvGrpSpPr>
        <p:grpSpPr>
          <a:xfrm>
            <a:off x="19452" y="5873"/>
            <a:ext cx="7033102" cy="3011034"/>
            <a:chOff x="931659" y="12984"/>
            <a:chExt cx="10167461" cy="4352925"/>
          </a:xfrm>
        </p:grpSpPr>
        <p:pic>
          <p:nvPicPr>
            <p:cNvPr id="5" name="Picture 4"/>
            <p:cNvPicPr>
              <a:picLocks noChangeAspect="1"/>
            </p:cNvPicPr>
            <p:nvPr/>
          </p:nvPicPr>
          <p:blipFill rotWithShape="1">
            <a:blip r:embed="rId7"/>
            <a:srcRect r="14325"/>
            <a:stretch/>
          </p:blipFill>
          <p:spPr>
            <a:xfrm>
              <a:off x="931659" y="12984"/>
              <a:ext cx="8397167" cy="4352925"/>
            </a:xfrm>
            <a:prstGeom prst="rect">
              <a:avLst/>
            </a:prstGeom>
          </p:spPr>
        </p:pic>
        <p:grpSp>
          <p:nvGrpSpPr>
            <p:cNvPr id="82" name="Group 81"/>
            <p:cNvGrpSpPr/>
            <p:nvPr/>
          </p:nvGrpSpPr>
          <p:grpSpPr>
            <a:xfrm>
              <a:off x="1968736" y="2920678"/>
              <a:ext cx="800843" cy="535285"/>
              <a:chOff x="2103527" y="67224"/>
              <a:chExt cx="706348" cy="472124"/>
            </a:xfrm>
          </p:grpSpPr>
          <p:sp>
            <p:nvSpPr>
              <p:cNvPr id="84" name="Down Arrow 83"/>
              <p:cNvSpPr/>
              <p:nvPr/>
            </p:nvSpPr>
            <p:spPr>
              <a:xfrm rot="16200000">
                <a:off x="2349816" y="-45317"/>
                <a:ext cx="213770" cy="70634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Circular Arrow 84"/>
              <p:cNvSpPr/>
              <p:nvPr/>
            </p:nvSpPr>
            <p:spPr>
              <a:xfrm>
                <a:off x="2268362" y="67224"/>
                <a:ext cx="331029" cy="472124"/>
              </a:xfrm>
              <a:prstGeom prst="circularArrow">
                <a:avLst>
                  <a:gd name="adj1" fmla="val 15974"/>
                  <a:gd name="adj2" fmla="val 3172699"/>
                  <a:gd name="adj3" fmla="val 20675820"/>
                  <a:gd name="adj4" fmla="val 4829229"/>
                  <a:gd name="adj5" fmla="val 244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86" name="Rectangle 85"/>
              <p:cNvSpPr/>
              <p:nvPr/>
            </p:nvSpPr>
            <p:spPr>
              <a:xfrm>
                <a:off x="2301255" y="250951"/>
                <a:ext cx="92253" cy="11338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45" name="Picture 44"/>
            <p:cNvPicPr>
              <a:picLocks noChangeAspect="1"/>
            </p:cNvPicPr>
            <p:nvPr/>
          </p:nvPicPr>
          <p:blipFill rotWithShape="1">
            <a:blip r:embed="rId7"/>
            <a:srcRect l="86242" t="65702" b="18431"/>
            <a:stretch/>
          </p:blipFill>
          <p:spPr>
            <a:xfrm>
              <a:off x="9750694" y="2859362"/>
              <a:ext cx="1348426" cy="690664"/>
            </a:xfrm>
            <a:prstGeom prst="rect">
              <a:avLst/>
            </a:prstGeom>
          </p:spPr>
        </p:pic>
      </p:grpSp>
      <p:sp>
        <p:nvSpPr>
          <p:cNvPr id="39" name="Rectangle 38"/>
          <p:cNvSpPr/>
          <p:nvPr/>
        </p:nvSpPr>
        <p:spPr>
          <a:xfrm>
            <a:off x="66876" y="-13850"/>
            <a:ext cx="301686" cy="369332"/>
          </a:xfrm>
          <a:prstGeom prst="rect">
            <a:avLst/>
          </a:prstGeom>
        </p:spPr>
        <p:txBody>
          <a:bodyPr wrap="none">
            <a:spAutoFit/>
          </a:bodyPr>
          <a:lstStyle/>
          <a:p>
            <a:r>
              <a:rPr lang="pl-PL" dirty="0"/>
              <a:t>1</a:t>
            </a:r>
          </a:p>
        </p:txBody>
      </p:sp>
      <p:pic>
        <p:nvPicPr>
          <p:cNvPr id="8" name="Picture 7"/>
          <p:cNvPicPr>
            <a:picLocks noChangeAspect="1"/>
          </p:cNvPicPr>
          <p:nvPr/>
        </p:nvPicPr>
        <p:blipFill>
          <a:blip r:embed="rId8"/>
          <a:stretch>
            <a:fillRect/>
          </a:stretch>
        </p:blipFill>
        <p:spPr>
          <a:xfrm>
            <a:off x="866100" y="2893245"/>
            <a:ext cx="4689932" cy="3964755"/>
          </a:xfrm>
          <a:prstGeom prst="rect">
            <a:avLst/>
          </a:prstGeom>
        </p:spPr>
      </p:pic>
      <p:sp>
        <p:nvSpPr>
          <p:cNvPr id="44" name="Rectangle 43"/>
          <p:cNvSpPr/>
          <p:nvPr/>
        </p:nvSpPr>
        <p:spPr>
          <a:xfrm>
            <a:off x="7411636" y="4012"/>
            <a:ext cx="301686" cy="369332"/>
          </a:xfrm>
          <a:prstGeom prst="rect">
            <a:avLst/>
          </a:prstGeom>
        </p:spPr>
        <p:txBody>
          <a:bodyPr wrap="none">
            <a:spAutoFit/>
          </a:bodyPr>
          <a:lstStyle/>
          <a:p>
            <a:r>
              <a:rPr lang="pl-PL" dirty="0"/>
              <a:t>2</a:t>
            </a:r>
          </a:p>
        </p:txBody>
      </p:sp>
      <p:sp>
        <p:nvSpPr>
          <p:cNvPr id="89" name="Rectangle 88"/>
          <p:cNvSpPr/>
          <p:nvPr/>
        </p:nvSpPr>
        <p:spPr>
          <a:xfrm>
            <a:off x="7411636" y="3049801"/>
            <a:ext cx="301686" cy="369332"/>
          </a:xfrm>
          <a:prstGeom prst="rect">
            <a:avLst/>
          </a:prstGeom>
        </p:spPr>
        <p:txBody>
          <a:bodyPr wrap="none">
            <a:spAutoFit/>
          </a:bodyPr>
          <a:lstStyle/>
          <a:p>
            <a:r>
              <a:rPr lang="en-GB" dirty="0"/>
              <a:t>3</a:t>
            </a:r>
            <a:endParaRPr lang="pl-PL" dirty="0"/>
          </a:p>
        </p:txBody>
      </p:sp>
      <p:cxnSp>
        <p:nvCxnSpPr>
          <p:cNvPr id="72" name="Straight Connector 71"/>
          <p:cNvCxnSpPr/>
          <p:nvPr/>
        </p:nvCxnSpPr>
        <p:spPr>
          <a:xfrm>
            <a:off x="0" y="3016907"/>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7315200"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61942" y="3049801"/>
            <a:ext cx="301686" cy="369332"/>
          </a:xfrm>
          <a:prstGeom prst="rect">
            <a:avLst/>
          </a:prstGeom>
        </p:spPr>
        <p:txBody>
          <a:bodyPr wrap="none">
            <a:spAutoFit/>
          </a:bodyPr>
          <a:lstStyle/>
          <a:p>
            <a:r>
              <a:rPr lang="en-GB" dirty="0"/>
              <a:t>4</a:t>
            </a:r>
            <a:endParaRPr lang="pl-PL" dirty="0"/>
          </a:p>
        </p:txBody>
      </p:sp>
      <p:sp>
        <p:nvSpPr>
          <p:cNvPr id="19" name="Rectangle 18"/>
          <p:cNvSpPr/>
          <p:nvPr/>
        </p:nvSpPr>
        <p:spPr>
          <a:xfrm>
            <a:off x="3514144" y="321551"/>
            <a:ext cx="3339942" cy="1169551"/>
          </a:xfrm>
          <a:prstGeom prst="rect">
            <a:avLst/>
          </a:prstGeom>
        </p:spPr>
        <p:txBody>
          <a:bodyPr wrap="square">
            <a:spAutoFit/>
          </a:bodyPr>
          <a:lstStyle/>
          <a:p>
            <a:r>
              <a:rPr lang="en-US" sz="1400" dirty="0"/>
              <a:t>Insert the threaded rod into the central assembly through the designated slot with hex coupling. Attach end and front caps by rotating as indicated by the blue arrows until the fit is tight.</a:t>
            </a:r>
            <a:endParaRPr lang="pl-PL" sz="1400" dirty="0"/>
          </a:p>
        </p:txBody>
      </p:sp>
      <p:sp>
        <p:nvSpPr>
          <p:cNvPr id="68" name="Down Arrow 67"/>
          <p:cNvSpPr/>
          <p:nvPr/>
        </p:nvSpPr>
        <p:spPr>
          <a:xfrm rot="5400000" flipH="1">
            <a:off x="5641928" y="1924499"/>
            <a:ext cx="167653" cy="55396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Circular Arrow 68"/>
          <p:cNvSpPr/>
          <p:nvPr/>
        </p:nvSpPr>
        <p:spPr>
          <a:xfrm>
            <a:off x="5563600" y="2034103"/>
            <a:ext cx="285759" cy="318585"/>
          </a:xfrm>
          <a:prstGeom prst="circularArrow">
            <a:avLst>
              <a:gd name="adj1" fmla="val 11669"/>
              <a:gd name="adj2" fmla="val 1772410"/>
              <a:gd name="adj3" fmla="val 17738868"/>
              <a:gd name="adj4" fmla="val 4741456"/>
              <a:gd name="adj5" fmla="val 215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74" name="Down Arrow 73"/>
          <p:cNvSpPr/>
          <p:nvPr/>
        </p:nvSpPr>
        <p:spPr>
          <a:xfrm rot="5400000" flipH="1">
            <a:off x="3758054" y="1924498"/>
            <a:ext cx="167653" cy="55396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Circular Arrow 74"/>
          <p:cNvSpPr/>
          <p:nvPr/>
        </p:nvSpPr>
        <p:spPr>
          <a:xfrm>
            <a:off x="3679726" y="2034102"/>
            <a:ext cx="285759" cy="318585"/>
          </a:xfrm>
          <a:prstGeom prst="circularArrow">
            <a:avLst>
              <a:gd name="adj1" fmla="val 11669"/>
              <a:gd name="adj2" fmla="val 1772410"/>
              <a:gd name="adj3" fmla="val 17738868"/>
              <a:gd name="adj4" fmla="val 4741456"/>
              <a:gd name="adj5" fmla="val 215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21" name="Rectangle 20"/>
          <p:cNvSpPr/>
          <p:nvPr/>
        </p:nvSpPr>
        <p:spPr>
          <a:xfrm>
            <a:off x="7344371" y="2169463"/>
            <a:ext cx="2716743" cy="830997"/>
          </a:xfrm>
          <a:prstGeom prst="rect">
            <a:avLst/>
          </a:prstGeom>
        </p:spPr>
        <p:txBody>
          <a:bodyPr wrap="square">
            <a:spAutoFit/>
          </a:bodyPr>
          <a:lstStyle/>
          <a:p>
            <a:r>
              <a:rPr lang="en-US" sz="1200" dirty="0"/>
              <a:t>Slide the handle part of the rod (the one with the two holes) into the slot on the rear stage holder. Ensure it fits snugly and aligns with the holder.</a:t>
            </a:r>
            <a:endParaRPr lang="pl-PL" sz="1200" dirty="0"/>
          </a:p>
        </p:txBody>
      </p:sp>
      <p:sp>
        <p:nvSpPr>
          <p:cNvPr id="76" name="Rectangle 75"/>
          <p:cNvSpPr/>
          <p:nvPr/>
        </p:nvSpPr>
        <p:spPr>
          <a:xfrm>
            <a:off x="7353497" y="6282636"/>
            <a:ext cx="3013016" cy="523220"/>
          </a:xfrm>
          <a:prstGeom prst="rect">
            <a:avLst/>
          </a:prstGeom>
        </p:spPr>
        <p:txBody>
          <a:bodyPr wrap="square">
            <a:spAutoFit/>
          </a:bodyPr>
          <a:lstStyle/>
          <a:p>
            <a:r>
              <a:rPr lang="en-US" sz="1400" dirty="0"/>
              <a:t>Attach the rotating handle and secure with the two fixing bolts </a:t>
            </a:r>
            <a:endParaRPr lang="pl-PL" sz="1400" dirty="0"/>
          </a:p>
        </p:txBody>
      </p:sp>
      <p:sp>
        <p:nvSpPr>
          <p:cNvPr id="77" name="Rectangle 76"/>
          <p:cNvSpPr/>
          <p:nvPr/>
        </p:nvSpPr>
        <p:spPr>
          <a:xfrm>
            <a:off x="3757858" y="6174914"/>
            <a:ext cx="2716743" cy="338554"/>
          </a:xfrm>
          <a:prstGeom prst="rect">
            <a:avLst/>
          </a:prstGeom>
        </p:spPr>
        <p:txBody>
          <a:bodyPr wrap="square">
            <a:spAutoFit/>
          </a:bodyPr>
          <a:lstStyle/>
          <a:p>
            <a:r>
              <a:rPr lang="en-US" sz="1600" dirty="0"/>
              <a:t>Align with the top stage cover </a:t>
            </a:r>
            <a:endParaRPr lang="pl-PL" sz="1600" dirty="0"/>
          </a:p>
        </p:txBody>
      </p:sp>
      <p:sp>
        <p:nvSpPr>
          <p:cNvPr id="78" name="Down Arrow 77"/>
          <p:cNvSpPr/>
          <p:nvPr/>
        </p:nvSpPr>
        <p:spPr>
          <a:xfrm rot="10800000">
            <a:off x="1632466" y="4731791"/>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Down Arrow 78"/>
          <p:cNvSpPr/>
          <p:nvPr/>
        </p:nvSpPr>
        <p:spPr>
          <a:xfrm rot="10800000">
            <a:off x="3211066" y="5472398"/>
            <a:ext cx="195718" cy="4674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685379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grpSp>
        <p:nvGrpSpPr>
          <p:cNvPr id="25" name="Group 24"/>
          <p:cNvGrpSpPr/>
          <p:nvPr/>
        </p:nvGrpSpPr>
        <p:grpSpPr>
          <a:xfrm>
            <a:off x="200091" y="160934"/>
            <a:ext cx="11791818" cy="6391275"/>
            <a:chOff x="31958" y="233362"/>
            <a:chExt cx="11791818" cy="6391275"/>
          </a:xfrm>
        </p:grpSpPr>
        <p:pic>
          <p:nvPicPr>
            <p:cNvPr id="2" name="Picture 1"/>
            <p:cNvPicPr>
              <a:picLocks noChangeAspect="1"/>
            </p:cNvPicPr>
            <p:nvPr/>
          </p:nvPicPr>
          <p:blipFill>
            <a:blip r:embed="rId3"/>
            <a:stretch>
              <a:fillRect/>
            </a:stretch>
          </p:blipFill>
          <p:spPr>
            <a:xfrm>
              <a:off x="2119312" y="233362"/>
              <a:ext cx="7953375" cy="6391275"/>
            </a:xfrm>
            <a:prstGeom prst="rect">
              <a:avLst/>
            </a:prstGeom>
          </p:spPr>
        </p:pic>
        <p:sp>
          <p:nvSpPr>
            <p:cNvPr id="4" name="Down Arrow 3"/>
            <p:cNvSpPr/>
            <p:nvPr/>
          </p:nvSpPr>
          <p:spPr>
            <a:xfrm rot="14420160">
              <a:off x="3140082" y="5103010"/>
              <a:ext cx="287908" cy="95131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5" name="Picture 4"/>
            <p:cNvPicPr>
              <a:picLocks noChangeAspect="1"/>
            </p:cNvPicPr>
            <p:nvPr/>
          </p:nvPicPr>
          <p:blipFill>
            <a:blip r:embed="rId4"/>
            <a:stretch>
              <a:fillRect/>
            </a:stretch>
          </p:blipFill>
          <p:spPr>
            <a:xfrm>
              <a:off x="919548" y="5790683"/>
              <a:ext cx="941561" cy="833954"/>
            </a:xfrm>
            <a:prstGeom prst="rect">
              <a:avLst/>
            </a:prstGeom>
          </p:spPr>
        </p:pic>
        <p:sp>
          <p:nvSpPr>
            <p:cNvPr id="6" name="Rectangle 5"/>
            <p:cNvSpPr/>
            <p:nvPr/>
          </p:nvSpPr>
          <p:spPr>
            <a:xfrm>
              <a:off x="31958" y="4892754"/>
              <a:ext cx="2716743" cy="830997"/>
            </a:xfrm>
            <a:prstGeom prst="rect">
              <a:avLst/>
            </a:prstGeom>
          </p:spPr>
          <p:txBody>
            <a:bodyPr wrap="square">
              <a:spAutoFit/>
            </a:bodyPr>
            <a:lstStyle/>
            <a:p>
              <a:r>
                <a:rPr lang="en-US" sz="1600" dirty="0"/>
                <a:t>Insert and secure deep grove ball bearings (inner diameter 8mm, outer diameter 12mm)</a:t>
              </a:r>
              <a:endParaRPr lang="pl-PL" sz="1600" dirty="0"/>
            </a:p>
          </p:txBody>
        </p:sp>
        <p:cxnSp>
          <p:nvCxnSpPr>
            <p:cNvPr id="7" name="Straight Arrow Connector 6"/>
            <p:cNvCxnSpPr/>
            <p:nvPr/>
          </p:nvCxnSpPr>
          <p:spPr>
            <a:xfrm>
              <a:off x="3903678" y="3240076"/>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884307" y="2824681"/>
              <a:ext cx="0" cy="2466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5887" y="4375083"/>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908944" y="3839296"/>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8869244" y="2733973"/>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861109" y="1648549"/>
              <a:ext cx="2716743" cy="1077218"/>
            </a:xfrm>
            <a:prstGeom prst="rect">
              <a:avLst/>
            </a:prstGeom>
          </p:spPr>
          <p:txBody>
            <a:bodyPr wrap="square">
              <a:spAutoFit/>
            </a:bodyPr>
            <a:lstStyle/>
            <a:p>
              <a:r>
                <a:rPr lang="en-US" sz="1600" dirty="0"/>
                <a:t>Secure the stage top cover with M2 cap screws </a:t>
              </a:r>
              <a:r>
                <a:rPr lang="pl-PL" sz="1600" dirty="0">
                  <a:cs typeface="Times New Roman" panose="02020603050405020304" pitchFamily="18" charset="0"/>
                </a:rPr>
                <a:t>×</a:t>
              </a:r>
              <a:r>
                <a:rPr lang="en-GB" sz="1600" dirty="0">
                  <a:cs typeface="Times New Roman" panose="02020603050405020304" pitchFamily="18" charset="0"/>
                </a:rPr>
                <a:t> 8 as indicated by the red arrows (not all shown)</a:t>
              </a:r>
              <a:r>
                <a:rPr lang="en-US" sz="1600" dirty="0"/>
                <a:t> </a:t>
              </a:r>
              <a:endParaRPr lang="pl-PL" sz="1600" dirty="0"/>
            </a:p>
          </p:txBody>
        </p:sp>
        <p:sp>
          <p:nvSpPr>
            <p:cNvPr id="18" name="Rectangle 17"/>
            <p:cNvSpPr/>
            <p:nvPr/>
          </p:nvSpPr>
          <p:spPr>
            <a:xfrm>
              <a:off x="10072687" y="2770187"/>
              <a:ext cx="1751089" cy="1323439"/>
            </a:xfrm>
            <a:prstGeom prst="rect">
              <a:avLst/>
            </a:prstGeom>
          </p:spPr>
          <p:txBody>
            <a:bodyPr wrap="square">
              <a:spAutoFit/>
            </a:bodyPr>
            <a:lstStyle/>
            <a:p>
              <a:r>
                <a:rPr lang="en-US" sz="1600" dirty="0"/>
                <a:t>Secure the stage rear cover with M3 cap screws </a:t>
              </a:r>
              <a:r>
                <a:rPr lang="pl-PL" sz="1600" dirty="0">
                  <a:cs typeface="Times New Roman" panose="02020603050405020304" pitchFamily="18" charset="0"/>
                </a:rPr>
                <a:t>×</a:t>
              </a:r>
              <a:r>
                <a:rPr lang="en-GB" sz="1600" dirty="0">
                  <a:cs typeface="Times New Roman" panose="02020603050405020304" pitchFamily="18" charset="0"/>
                </a:rPr>
                <a:t> 4 as indicated by the blue arrows</a:t>
              </a:r>
              <a:r>
                <a:rPr lang="en-US" sz="1600" dirty="0"/>
                <a:t> </a:t>
              </a:r>
              <a:endParaRPr lang="pl-PL" sz="1600" dirty="0"/>
            </a:p>
          </p:txBody>
        </p:sp>
        <p:cxnSp>
          <p:nvCxnSpPr>
            <p:cNvPr id="19" name="Straight Arrow Connector 18"/>
            <p:cNvCxnSpPr/>
            <p:nvPr/>
          </p:nvCxnSpPr>
          <p:spPr>
            <a:xfrm flipH="1">
              <a:off x="9818025" y="3071375"/>
              <a:ext cx="221753" cy="12717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9737890" y="2824681"/>
              <a:ext cx="221753" cy="12717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7725166" y="1495665"/>
              <a:ext cx="221753" cy="12717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7946919" y="1650220"/>
              <a:ext cx="221753" cy="12717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0714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20" name="Rectangle 19"/>
          <p:cNvSpPr/>
          <p:nvPr/>
        </p:nvSpPr>
        <p:spPr>
          <a:xfrm>
            <a:off x="88971" y="4515"/>
            <a:ext cx="2019207" cy="369332"/>
          </a:xfrm>
          <a:prstGeom prst="rect">
            <a:avLst/>
          </a:prstGeom>
        </p:spPr>
        <p:txBody>
          <a:bodyPr wrap="none">
            <a:spAutoFit/>
          </a:bodyPr>
          <a:lstStyle/>
          <a:p>
            <a:r>
              <a:rPr lang="pl-PL" dirty="0"/>
              <a:t>STAGE </a:t>
            </a:r>
            <a:r>
              <a:rPr lang="en-GB" dirty="0"/>
              <a:t>2</a:t>
            </a:r>
            <a:r>
              <a:rPr lang="pl-PL" dirty="0"/>
              <a:t> COMPLETE</a:t>
            </a:r>
          </a:p>
        </p:txBody>
      </p:sp>
      <p:grpSp>
        <p:nvGrpSpPr>
          <p:cNvPr id="14" name="Group 13"/>
          <p:cNvGrpSpPr/>
          <p:nvPr/>
        </p:nvGrpSpPr>
        <p:grpSpPr>
          <a:xfrm>
            <a:off x="167198" y="925716"/>
            <a:ext cx="11857603" cy="5006567"/>
            <a:chOff x="183923" y="1131859"/>
            <a:chExt cx="10399108" cy="4390755"/>
          </a:xfrm>
        </p:grpSpPr>
        <p:pic>
          <p:nvPicPr>
            <p:cNvPr id="9" name="Picture 8"/>
            <p:cNvPicPr>
              <a:picLocks noChangeAspect="1"/>
            </p:cNvPicPr>
            <p:nvPr/>
          </p:nvPicPr>
          <p:blipFill>
            <a:blip r:embed="rId3"/>
            <a:stretch>
              <a:fillRect/>
            </a:stretch>
          </p:blipFill>
          <p:spPr>
            <a:xfrm>
              <a:off x="183923" y="1397064"/>
              <a:ext cx="5311578" cy="3929769"/>
            </a:xfrm>
            <a:prstGeom prst="rect">
              <a:avLst/>
            </a:prstGeom>
          </p:spPr>
        </p:pic>
        <p:pic>
          <p:nvPicPr>
            <p:cNvPr id="10" name="Picture 9"/>
            <p:cNvPicPr>
              <a:picLocks noChangeAspect="1"/>
            </p:cNvPicPr>
            <p:nvPr/>
          </p:nvPicPr>
          <p:blipFill>
            <a:blip r:embed="rId4"/>
            <a:stretch>
              <a:fillRect/>
            </a:stretch>
          </p:blipFill>
          <p:spPr>
            <a:xfrm>
              <a:off x="5395913" y="1131859"/>
              <a:ext cx="5187118" cy="4390755"/>
            </a:xfrm>
            <a:prstGeom prst="rect">
              <a:avLst/>
            </a:prstGeom>
          </p:spPr>
        </p:pic>
      </p:grpSp>
    </p:spTree>
    <p:extLst>
      <p:ext uri="{BB962C8B-B14F-4D97-AF65-F5344CB8AC3E}">
        <p14:creationId xmlns:p14="http://schemas.microsoft.com/office/powerpoint/2010/main" val="2452934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20" name="Rectangle 19"/>
          <p:cNvSpPr/>
          <p:nvPr/>
        </p:nvSpPr>
        <p:spPr>
          <a:xfrm>
            <a:off x="88971" y="4515"/>
            <a:ext cx="2019207" cy="369332"/>
          </a:xfrm>
          <a:prstGeom prst="rect">
            <a:avLst/>
          </a:prstGeom>
        </p:spPr>
        <p:txBody>
          <a:bodyPr wrap="none">
            <a:spAutoFit/>
          </a:bodyPr>
          <a:lstStyle/>
          <a:p>
            <a:r>
              <a:rPr lang="pl-PL" dirty="0"/>
              <a:t>STAGE </a:t>
            </a:r>
            <a:r>
              <a:rPr lang="en-GB" dirty="0"/>
              <a:t>2</a:t>
            </a:r>
            <a:r>
              <a:rPr lang="pl-PL" dirty="0"/>
              <a:t> COMPLETE</a:t>
            </a:r>
          </a:p>
        </p:txBody>
      </p:sp>
      <p:grpSp>
        <p:nvGrpSpPr>
          <p:cNvPr id="5" name="Group 4"/>
          <p:cNvGrpSpPr/>
          <p:nvPr/>
        </p:nvGrpSpPr>
        <p:grpSpPr>
          <a:xfrm>
            <a:off x="57341" y="819527"/>
            <a:ext cx="12077318" cy="4911316"/>
            <a:chOff x="0" y="448335"/>
            <a:chExt cx="12077318" cy="4911316"/>
          </a:xfrm>
        </p:grpSpPr>
        <p:pic>
          <p:nvPicPr>
            <p:cNvPr id="2" name="Picture 1"/>
            <p:cNvPicPr>
              <a:picLocks noChangeAspect="1"/>
            </p:cNvPicPr>
            <p:nvPr/>
          </p:nvPicPr>
          <p:blipFill>
            <a:blip r:embed="rId3"/>
            <a:stretch>
              <a:fillRect/>
            </a:stretch>
          </p:blipFill>
          <p:spPr>
            <a:xfrm>
              <a:off x="0" y="699663"/>
              <a:ext cx="5726921" cy="4659988"/>
            </a:xfrm>
            <a:prstGeom prst="rect">
              <a:avLst/>
            </a:prstGeom>
          </p:spPr>
        </p:pic>
        <p:pic>
          <p:nvPicPr>
            <p:cNvPr id="4" name="Picture 3"/>
            <p:cNvPicPr>
              <a:picLocks noChangeAspect="1"/>
            </p:cNvPicPr>
            <p:nvPr/>
          </p:nvPicPr>
          <p:blipFill>
            <a:blip r:embed="rId4"/>
            <a:stretch>
              <a:fillRect/>
            </a:stretch>
          </p:blipFill>
          <p:spPr>
            <a:xfrm>
              <a:off x="5841602" y="448335"/>
              <a:ext cx="6235716" cy="4911316"/>
            </a:xfrm>
            <a:prstGeom prst="rect">
              <a:avLst/>
            </a:prstGeom>
          </p:spPr>
        </p:pic>
      </p:grpSp>
    </p:spTree>
    <p:extLst>
      <p:ext uri="{BB962C8B-B14F-4D97-AF65-F5344CB8AC3E}">
        <p14:creationId xmlns:p14="http://schemas.microsoft.com/office/powerpoint/2010/main" val="1480786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20" name="Picture 19"/>
          <p:cNvPicPr>
            <a:picLocks noChangeAspect="1"/>
          </p:cNvPicPr>
          <p:nvPr/>
        </p:nvPicPr>
        <p:blipFill>
          <a:blip r:embed="rId3"/>
          <a:stretch>
            <a:fillRect/>
          </a:stretch>
        </p:blipFill>
        <p:spPr>
          <a:xfrm>
            <a:off x="323897" y="1041254"/>
            <a:ext cx="4781059" cy="5149339"/>
          </a:xfrm>
          <a:prstGeom prst="rect">
            <a:avLst/>
          </a:prstGeom>
        </p:spPr>
      </p:pic>
      <p:pic>
        <p:nvPicPr>
          <p:cNvPr id="9" name="Picture 8"/>
          <p:cNvPicPr>
            <a:picLocks noChangeAspect="1"/>
          </p:cNvPicPr>
          <p:nvPr/>
        </p:nvPicPr>
        <p:blipFill>
          <a:blip r:embed="rId4"/>
          <a:stretch>
            <a:fillRect/>
          </a:stretch>
        </p:blipFill>
        <p:spPr>
          <a:xfrm>
            <a:off x="5346212" y="1504293"/>
            <a:ext cx="6334125" cy="4686300"/>
          </a:xfrm>
          <a:prstGeom prst="rect">
            <a:avLst/>
          </a:prstGeom>
        </p:spPr>
      </p:pic>
      <p:sp>
        <p:nvSpPr>
          <p:cNvPr id="10" name="Rectangle 9"/>
          <p:cNvSpPr/>
          <p:nvPr/>
        </p:nvSpPr>
        <p:spPr>
          <a:xfrm>
            <a:off x="0" y="0"/>
            <a:ext cx="2216825" cy="646331"/>
          </a:xfrm>
          <a:prstGeom prst="rect">
            <a:avLst/>
          </a:prstGeom>
        </p:spPr>
        <p:txBody>
          <a:bodyPr wrap="none">
            <a:spAutoFit/>
          </a:bodyPr>
          <a:lstStyle/>
          <a:p>
            <a:r>
              <a:rPr lang="pl-PL" dirty="0"/>
              <a:t>1 </a:t>
            </a:r>
            <a:r>
              <a:rPr lang="pl-PL" dirty="0">
                <a:cs typeface="Times New Roman" panose="02020603050405020304" pitchFamily="18" charset="0"/>
              </a:rPr>
              <a:t>× </a:t>
            </a:r>
            <a:r>
              <a:rPr lang="pl-PL" dirty="0"/>
              <a:t>STAGE </a:t>
            </a:r>
            <a:r>
              <a:rPr lang="en-GB" dirty="0"/>
              <a:t>1 assembly</a:t>
            </a:r>
          </a:p>
          <a:p>
            <a:r>
              <a:rPr lang="pl-PL" dirty="0"/>
              <a:t>1 </a:t>
            </a:r>
            <a:r>
              <a:rPr lang="pl-PL" dirty="0">
                <a:cs typeface="Times New Roman" panose="02020603050405020304" pitchFamily="18" charset="0"/>
              </a:rPr>
              <a:t>×</a:t>
            </a:r>
            <a:r>
              <a:rPr lang="pl-PL" dirty="0"/>
              <a:t> </a:t>
            </a:r>
            <a:r>
              <a:rPr lang="en-GB" dirty="0"/>
              <a:t>STAGE 2 assembly</a:t>
            </a:r>
            <a:endParaRPr lang="pl-PL" dirty="0"/>
          </a:p>
        </p:txBody>
      </p:sp>
    </p:spTree>
    <p:extLst>
      <p:ext uri="{BB962C8B-B14F-4D97-AF65-F5344CB8AC3E}">
        <p14:creationId xmlns:p14="http://schemas.microsoft.com/office/powerpoint/2010/main" val="3365512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4" name="Picture 3"/>
          <p:cNvPicPr>
            <a:picLocks noChangeAspect="1"/>
          </p:cNvPicPr>
          <p:nvPr/>
        </p:nvPicPr>
        <p:blipFill>
          <a:blip r:embed="rId3"/>
          <a:stretch>
            <a:fillRect/>
          </a:stretch>
        </p:blipFill>
        <p:spPr>
          <a:xfrm>
            <a:off x="6626527" y="803044"/>
            <a:ext cx="3433784" cy="4400724"/>
          </a:xfrm>
          <a:prstGeom prst="rect">
            <a:avLst/>
          </a:prstGeom>
        </p:spPr>
      </p:pic>
      <p:grpSp>
        <p:nvGrpSpPr>
          <p:cNvPr id="7" name="Group 6"/>
          <p:cNvGrpSpPr/>
          <p:nvPr/>
        </p:nvGrpSpPr>
        <p:grpSpPr>
          <a:xfrm>
            <a:off x="2247900" y="847725"/>
            <a:ext cx="4581004" cy="5162550"/>
            <a:chOff x="2190750" y="790575"/>
            <a:chExt cx="4581004" cy="5162550"/>
          </a:xfrm>
        </p:grpSpPr>
        <p:pic>
          <p:nvPicPr>
            <p:cNvPr id="2" name="Picture 1"/>
            <p:cNvPicPr>
              <a:picLocks noChangeAspect="1"/>
            </p:cNvPicPr>
            <p:nvPr/>
          </p:nvPicPr>
          <p:blipFill rotWithShape="1">
            <a:blip r:embed="rId4"/>
            <a:srcRect r="42799"/>
            <a:stretch/>
          </p:blipFill>
          <p:spPr>
            <a:xfrm>
              <a:off x="2190750" y="790575"/>
              <a:ext cx="4402282" cy="5162550"/>
            </a:xfrm>
            <a:prstGeom prst="rect">
              <a:avLst/>
            </a:prstGeom>
          </p:spPr>
        </p:pic>
        <p:sp>
          <p:nvSpPr>
            <p:cNvPr id="5" name="Down Arrow 4"/>
            <p:cNvSpPr/>
            <p:nvPr/>
          </p:nvSpPr>
          <p:spPr>
            <a:xfrm rot="5400000" flipH="1">
              <a:off x="6430233" y="4430328"/>
              <a:ext cx="167653" cy="51538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Down Arrow 5"/>
            <p:cNvSpPr/>
            <p:nvPr/>
          </p:nvSpPr>
          <p:spPr>
            <a:xfrm rot="5400000" flipH="1">
              <a:off x="6430232" y="2828991"/>
              <a:ext cx="167653" cy="51538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Tree>
    <p:extLst>
      <p:ext uri="{BB962C8B-B14F-4D97-AF65-F5344CB8AC3E}">
        <p14:creationId xmlns:p14="http://schemas.microsoft.com/office/powerpoint/2010/main" val="2595469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2552699" y="199228"/>
            <a:ext cx="7086602" cy="6459544"/>
          </a:xfrm>
          <a:prstGeom prst="rect">
            <a:avLst/>
          </a:prstGeom>
        </p:spPr>
      </p:pic>
      <p:sp>
        <p:nvSpPr>
          <p:cNvPr id="4" name="Down Arrow 3"/>
          <p:cNvSpPr/>
          <p:nvPr/>
        </p:nvSpPr>
        <p:spPr>
          <a:xfrm flipH="1">
            <a:off x="4203878" y="3269343"/>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Down Arrow 4"/>
          <p:cNvSpPr/>
          <p:nvPr/>
        </p:nvSpPr>
        <p:spPr>
          <a:xfrm flipH="1">
            <a:off x="4613972" y="3035603"/>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Down Arrow 5"/>
          <p:cNvSpPr/>
          <p:nvPr/>
        </p:nvSpPr>
        <p:spPr>
          <a:xfrm flipH="1">
            <a:off x="5835943" y="2332776"/>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464333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7" name="Picture 6"/>
          <p:cNvPicPr>
            <a:picLocks noChangeAspect="1"/>
          </p:cNvPicPr>
          <p:nvPr/>
        </p:nvPicPr>
        <p:blipFill>
          <a:blip r:embed="rId3"/>
          <a:stretch>
            <a:fillRect/>
          </a:stretch>
        </p:blipFill>
        <p:spPr>
          <a:xfrm>
            <a:off x="2295525" y="723900"/>
            <a:ext cx="7600950" cy="5410200"/>
          </a:xfrm>
          <a:prstGeom prst="rect">
            <a:avLst/>
          </a:prstGeom>
        </p:spPr>
      </p:pic>
      <p:sp>
        <p:nvSpPr>
          <p:cNvPr id="8" name="Rectangle 7"/>
          <p:cNvSpPr/>
          <p:nvPr/>
        </p:nvSpPr>
        <p:spPr>
          <a:xfrm>
            <a:off x="0" y="0"/>
            <a:ext cx="2998193" cy="369332"/>
          </a:xfrm>
          <a:prstGeom prst="rect">
            <a:avLst/>
          </a:prstGeom>
        </p:spPr>
        <p:txBody>
          <a:bodyPr wrap="none">
            <a:spAutoFit/>
          </a:bodyPr>
          <a:lstStyle/>
          <a:p>
            <a:r>
              <a:rPr lang="pl-PL" dirty="0"/>
              <a:t>STAGE 1 + STAGE 2 COMPLETE</a:t>
            </a:r>
          </a:p>
        </p:txBody>
      </p:sp>
    </p:spTree>
    <p:extLst>
      <p:ext uri="{BB962C8B-B14F-4D97-AF65-F5344CB8AC3E}">
        <p14:creationId xmlns:p14="http://schemas.microsoft.com/office/powerpoint/2010/main" val="3730114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1344942" cy="2031325"/>
          </a:xfrm>
          <a:prstGeom prst="rect">
            <a:avLst/>
          </a:prstGeom>
          <a:noFill/>
        </p:spPr>
        <p:txBody>
          <a:bodyPr wrap="square" rtlCol="0">
            <a:spAutoFit/>
          </a:bodyPr>
          <a:lstStyle/>
          <a:p>
            <a:r>
              <a:rPr lang="pl-PL" dirty="0"/>
              <a:t>1 </a:t>
            </a:r>
            <a:r>
              <a:rPr lang="pl-PL" dirty="0">
                <a:cs typeface="Times New Roman" panose="02020603050405020304" pitchFamily="18" charset="0"/>
              </a:rPr>
              <a:t>× </a:t>
            </a:r>
            <a:r>
              <a:rPr lang="pl-PL" dirty="0"/>
              <a:t>23_FDML_stimfix_dichroic_board</a:t>
            </a:r>
            <a:endParaRPr lang="en-US" dirty="0"/>
          </a:p>
          <a:p>
            <a:r>
              <a:rPr lang="pl-PL" dirty="0"/>
              <a:t>1 </a:t>
            </a:r>
            <a:r>
              <a:rPr lang="pl-PL" dirty="0">
                <a:cs typeface="Times New Roman" panose="02020603050405020304" pitchFamily="18" charset="0"/>
              </a:rPr>
              <a:t>×</a:t>
            </a:r>
            <a:r>
              <a:rPr lang="en-US" dirty="0">
                <a:cs typeface="Times New Roman" panose="02020603050405020304" pitchFamily="18" charset="0"/>
              </a:rPr>
              <a:t> 24_FDML_stimfix_dichroic_holder</a:t>
            </a:r>
            <a:endParaRPr lang="en-US" dirty="0"/>
          </a:p>
          <a:p>
            <a:r>
              <a:rPr lang="pl-PL" dirty="0"/>
              <a:t>1 </a:t>
            </a:r>
            <a:r>
              <a:rPr lang="pl-PL" dirty="0">
                <a:cs typeface="Times New Roman" panose="02020603050405020304" pitchFamily="18" charset="0"/>
              </a:rPr>
              <a:t>×</a:t>
            </a:r>
            <a:r>
              <a:rPr lang="en-US" dirty="0">
                <a:cs typeface="Times New Roman" panose="02020603050405020304" pitchFamily="18" charset="0"/>
              </a:rPr>
              <a:t> 25_FDML_rods_guiding_addon</a:t>
            </a:r>
            <a:endParaRPr lang="en-US" dirty="0"/>
          </a:p>
          <a:p>
            <a:r>
              <a:rPr lang="en-US" dirty="0"/>
              <a:t>4 </a:t>
            </a:r>
            <a:r>
              <a:rPr lang="pl-PL" dirty="0">
                <a:cs typeface="Times New Roman" panose="02020603050405020304" pitchFamily="18" charset="0"/>
              </a:rPr>
              <a:t>× model_06_linear_ball_bearing_6mm</a:t>
            </a:r>
            <a:endParaRPr lang="en-US" dirty="0">
              <a:cs typeface="Times New Roman" panose="02020603050405020304" pitchFamily="18" charset="0"/>
            </a:endParaRPr>
          </a:p>
          <a:p>
            <a:r>
              <a:rPr lang="en-US" dirty="0">
                <a:cs typeface="Times New Roman" panose="02020603050405020304" pitchFamily="18" charset="0"/>
              </a:rPr>
              <a:t>1</a:t>
            </a:r>
            <a:r>
              <a:rPr lang="en-US" dirty="0"/>
              <a:t> </a:t>
            </a:r>
            <a:r>
              <a:rPr lang="pl-PL" dirty="0">
                <a:cs typeface="Times New Roman" panose="02020603050405020304" pitchFamily="18" charset="0"/>
              </a:rPr>
              <a:t>× </a:t>
            </a:r>
            <a:r>
              <a:rPr lang="en-US" dirty="0">
                <a:cs typeface="Times New Roman" panose="02020603050405020304" pitchFamily="18" charset="0"/>
              </a:rPr>
              <a:t>EdmundOptics_54996</a:t>
            </a:r>
            <a:endParaRPr lang="pl-PL" dirty="0"/>
          </a:p>
          <a:p>
            <a:br>
              <a:rPr lang="pl-PL" dirty="0">
                <a:cs typeface="Times New Roman" panose="02020603050405020304" pitchFamily="18" charset="0"/>
              </a:rPr>
            </a:br>
            <a:endParaRPr lang="pl-PL" dirty="0"/>
          </a:p>
        </p:txBody>
      </p:sp>
      <p:pic>
        <p:nvPicPr>
          <p:cNvPr id="23" name="Picture 22"/>
          <p:cNvPicPr>
            <a:picLocks noChangeAspect="1"/>
          </p:cNvPicPr>
          <p:nvPr/>
        </p:nvPicPr>
        <p:blipFill>
          <a:blip r:embed="rId3"/>
          <a:stretch>
            <a:fillRect/>
          </a:stretch>
        </p:blipFill>
        <p:spPr>
          <a:xfrm>
            <a:off x="6145192" y="2049533"/>
            <a:ext cx="862760" cy="755869"/>
          </a:xfrm>
          <a:prstGeom prst="rect">
            <a:avLst/>
          </a:prstGeom>
        </p:spPr>
      </p:pic>
      <p:pic>
        <p:nvPicPr>
          <p:cNvPr id="24" name="Picture 23"/>
          <p:cNvPicPr>
            <a:picLocks noChangeAspect="1"/>
          </p:cNvPicPr>
          <p:nvPr/>
        </p:nvPicPr>
        <p:blipFill>
          <a:blip r:embed="rId3"/>
          <a:stretch>
            <a:fillRect/>
          </a:stretch>
        </p:blipFill>
        <p:spPr>
          <a:xfrm>
            <a:off x="7513901" y="2049533"/>
            <a:ext cx="862760" cy="755869"/>
          </a:xfrm>
          <a:prstGeom prst="rect">
            <a:avLst/>
          </a:prstGeom>
        </p:spPr>
      </p:pic>
      <p:pic>
        <p:nvPicPr>
          <p:cNvPr id="25" name="Picture 24"/>
          <p:cNvPicPr>
            <a:picLocks noChangeAspect="1"/>
          </p:cNvPicPr>
          <p:nvPr/>
        </p:nvPicPr>
        <p:blipFill>
          <a:blip r:embed="rId3"/>
          <a:stretch>
            <a:fillRect/>
          </a:stretch>
        </p:blipFill>
        <p:spPr>
          <a:xfrm>
            <a:off x="8993430" y="2049533"/>
            <a:ext cx="862760" cy="755869"/>
          </a:xfrm>
          <a:prstGeom prst="rect">
            <a:avLst/>
          </a:prstGeom>
        </p:spPr>
      </p:pic>
      <p:pic>
        <p:nvPicPr>
          <p:cNvPr id="26" name="Picture 25"/>
          <p:cNvPicPr>
            <a:picLocks noChangeAspect="1"/>
          </p:cNvPicPr>
          <p:nvPr/>
        </p:nvPicPr>
        <p:blipFill>
          <a:blip r:embed="rId3"/>
          <a:stretch>
            <a:fillRect/>
          </a:stretch>
        </p:blipFill>
        <p:spPr>
          <a:xfrm>
            <a:off x="10482180" y="2005370"/>
            <a:ext cx="862760" cy="755869"/>
          </a:xfrm>
          <a:prstGeom prst="rect">
            <a:avLst/>
          </a:prstGeom>
        </p:spPr>
      </p:pic>
      <p:pic>
        <p:nvPicPr>
          <p:cNvPr id="27" name="Picture 26"/>
          <p:cNvPicPr>
            <a:picLocks noChangeAspect="1"/>
          </p:cNvPicPr>
          <p:nvPr/>
        </p:nvPicPr>
        <p:blipFill rotWithShape="1">
          <a:blip r:embed="rId4"/>
          <a:srcRect l="4236" r="4395"/>
          <a:stretch/>
        </p:blipFill>
        <p:spPr>
          <a:xfrm>
            <a:off x="138964" y="3128663"/>
            <a:ext cx="5378334" cy="3600450"/>
          </a:xfrm>
          <a:prstGeom prst="rect">
            <a:avLst/>
          </a:prstGeom>
          <a:ln>
            <a:solidFill>
              <a:srgbClr val="FF0000"/>
            </a:solidFill>
          </a:ln>
        </p:spPr>
      </p:pic>
      <p:pic>
        <p:nvPicPr>
          <p:cNvPr id="28" name="Picture 27"/>
          <p:cNvPicPr>
            <a:picLocks noChangeAspect="1"/>
          </p:cNvPicPr>
          <p:nvPr/>
        </p:nvPicPr>
        <p:blipFill>
          <a:blip r:embed="rId5"/>
          <a:stretch>
            <a:fillRect/>
          </a:stretch>
        </p:blipFill>
        <p:spPr>
          <a:xfrm>
            <a:off x="8769553" y="3310643"/>
            <a:ext cx="3258964" cy="3236489"/>
          </a:xfrm>
          <a:prstGeom prst="rect">
            <a:avLst/>
          </a:prstGeom>
        </p:spPr>
      </p:pic>
      <p:pic>
        <p:nvPicPr>
          <p:cNvPr id="29" name="Picture 28"/>
          <p:cNvPicPr>
            <a:picLocks noChangeAspect="1"/>
          </p:cNvPicPr>
          <p:nvPr/>
        </p:nvPicPr>
        <p:blipFill>
          <a:blip r:embed="rId6"/>
          <a:stretch>
            <a:fillRect/>
          </a:stretch>
        </p:blipFill>
        <p:spPr>
          <a:xfrm>
            <a:off x="5576932" y="3310643"/>
            <a:ext cx="3250276" cy="3280652"/>
          </a:xfrm>
          <a:prstGeom prst="rect">
            <a:avLst/>
          </a:prstGeom>
        </p:spPr>
      </p:pic>
      <p:pic>
        <p:nvPicPr>
          <p:cNvPr id="30" name="Picture 29"/>
          <p:cNvPicPr>
            <a:picLocks noChangeAspect="1"/>
          </p:cNvPicPr>
          <p:nvPr/>
        </p:nvPicPr>
        <p:blipFill>
          <a:blip r:embed="rId7"/>
          <a:stretch>
            <a:fillRect/>
          </a:stretch>
        </p:blipFill>
        <p:spPr>
          <a:xfrm>
            <a:off x="3885075" y="1557196"/>
            <a:ext cx="1477212" cy="1486742"/>
          </a:xfrm>
          <a:prstGeom prst="rect">
            <a:avLst/>
          </a:prstGeom>
        </p:spPr>
      </p:pic>
      <p:sp>
        <p:nvSpPr>
          <p:cNvPr id="33" name="Rectangle 32"/>
          <p:cNvSpPr/>
          <p:nvPr/>
        </p:nvSpPr>
        <p:spPr>
          <a:xfrm>
            <a:off x="605144" y="1474804"/>
            <a:ext cx="2980102" cy="1200329"/>
          </a:xfrm>
          <a:prstGeom prst="rect">
            <a:avLst/>
          </a:prstGeom>
        </p:spPr>
        <p:txBody>
          <a:bodyPr wrap="square">
            <a:spAutoFit/>
          </a:bodyPr>
          <a:lstStyle/>
          <a:p>
            <a:r>
              <a:rPr lang="pl-PL" dirty="0">
                <a:solidFill>
                  <a:srgbClr val="FF0000"/>
                </a:solidFill>
              </a:rPr>
              <a:t>Attach element 23 to the STAGE 1 + STAGE 2 assembly first. Then proceed as the instructions indicate.</a:t>
            </a:r>
          </a:p>
        </p:txBody>
      </p:sp>
      <p:cxnSp>
        <p:nvCxnSpPr>
          <p:cNvPr id="35" name="Straight Arrow Connector 34"/>
          <p:cNvCxnSpPr/>
          <p:nvPr/>
        </p:nvCxnSpPr>
        <p:spPr>
          <a:xfrm>
            <a:off x="1828800" y="2643811"/>
            <a:ext cx="0" cy="3975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a:off x="2981356" y="3706827"/>
            <a:ext cx="282135" cy="2332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628225" y="3469527"/>
            <a:ext cx="1889073" cy="707886"/>
          </a:xfrm>
          <a:prstGeom prst="rect">
            <a:avLst/>
          </a:prstGeom>
          <a:noFill/>
        </p:spPr>
        <p:txBody>
          <a:bodyPr wrap="square" rtlCol="0">
            <a:spAutoFit/>
          </a:bodyPr>
          <a:lstStyle/>
          <a:p>
            <a:r>
              <a:rPr lang="en-US" sz="1000" dirty="0"/>
              <a:t>Mold </a:t>
            </a:r>
            <a:r>
              <a:rPr lang="pl-PL" sz="1000" dirty="0"/>
              <a:t>from the bottom </a:t>
            </a:r>
            <a:r>
              <a:rPr lang="en-US" sz="1000" dirty="0"/>
              <a:t>M</a:t>
            </a:r>
            <a:r>
              <a:rPr lang="pl-PL" sz="1000" dirty="0"/>
              <a:t>6</a:t>
            </a:r>
            <a:r>
              <a:rPr lang="en-US" sz="1000" dirty="0"/>
              <a:t> threaded insert</a:t>
            </a:r>
            <a:r>
              <a:rPr lang="pl-PL" sz="1000" dirty="0"/>
              <a:t>s</a:t>
            </a:r>
            <a:r>
              <a:rPr lang="en-US" sz="1000" dirty="0"/>
              <a:t> into the designated hole</a:t>
            </a:r>
            <a:r>
              <a:rPr lang="pl-PL" sz="1000" dirty="0"/>
              <a:t>s</a:t>
            </a:r>
            <a:r>
              <a:rPr lang="en-US" sz="1000" dirty="0"/>
              <a:t> indicated by the </a:t>
            </a:r>
            <a:r>
              <a:rPr lang="pl-PL" sz="1000" dirty="0"/>
              <a:t>red</a:t>
            </a:r>
            <a:r>
              <a:rPr lang="en-US" sz="1000" dirty="0"/>
              <a:t> arrow</a:t>
            </a:r>
            <a:r>
              <a:rPr lang="pl-PL" sz="1000" dirty="0"/>
              <a:t>s</a:t>
            </a:r>
          </a:p>
        </p:txBody>
      </p:sp>
      <p:cxnSp>
        <p:nvCxnSpPr>
          <p:cNvPr id="42" name="Straight Arrow Connector 41"/>
          <p:cNvCxnSpPr/>
          <p:nvPr/>
        </p:nvCxnSpPr>
        <p:spPr>
          <a:xfrm flipH="1">
            <a:off x="4302263" y="4484490"/>
            <a:ext cx="282135" cy="2332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4982434" y="4812243"/>
            <a:ext cx="282135" cy="2332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570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32923" y="0"/>
            <a:ext cx="12192000" cy="6858000"/>
          </a:xfrm>
          <a:prstGeom prst="rect">
            <a:avLst/>
          </a:prstGeom>
        </p:spPr>
      </p:pic>
      <p:pic>
        <p:nvPicPr>
          <p:cNvPr id="16" name="Picture 15"/>
          <p:cNvPicPr>
            <a:picLocks noChangeAspect="1"/>
          </p:cNvPicPr>
          <p:nvPr/>
        </p:nvPicPr>
        <p:blipFill>
          <a:blip r:embed="rId3"/>
          <a:stretch>
            <a:fillRect/>
          </a:stretch>
        </p:blipFill>
        <p:spPr>
          <a:xfrm>
            <a:off x="332059" y="157911"/>
            <a:ext cx="2541520" cy="2534987"/>
          </a:xfrm>
          <a:prstGeom prst="rect">
            <a:avLst/>
          </a:prstGeom>
        </p:spPr>
      </p:pic>
      <p:cxnSp>
        <p:nvCxnSpPr>
          <p:cNvPr id="6" name="Straight Arrow Connector 5"/>
          <p:cNvCxnSpPr/>
          <p:nvPr/>
        </p:nvCxnSpPr>
        <p:spPr>
          <a:xfrm flipV="1">
            <a:off x="117471" y="1594692"/>
            <a:ext cx="217883" cy="125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flipV="1">
            <a:off x="2382355" y="207485"/>
            <a:ext cx="217883" cy="125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903461" y="1861078"/>
            <a:ext cx="1940235" cy="553998"/>
          </a:xfrm>
          <a:prstGeom prst="rect">
            <a:avLst/>
          </a:prstGeom>
          <a:noFill/>
        </p:spPr>
        <p:txBody>
          <a:bodyPr wrap="square" rtlCol="0">
            <a:spAutoFit/>
          </a:bodyPr>
          <a:lstStyle/>
          <a:p>
            <a:r>
              <a:rPr lang="en-US" sz="1000" dirty="0"/>
              <a:t>Mold M3 threaded insert into the designated hole indicated by the blue arrow</a:t>
            </a:r>
            <a:endParaRPr lang="pl-PL" sz="1000" dirty="0"/>
          </a:p>
        </p:txBody>
      </p:sp>
      <p:sp>
        <p:nvSpPr>
          <p:cNvPr id="8" name="TextBox 7"/>
          <p:cNvSpPr txBox="1"/>
          <p:nvPr/>
        </p:nvSpPr>
        <p:spPr>
          <a:xfrm>
            <a:off x="2873580" y="161098"/>
            <a:ext cx="1351008" cy="938719"/>
          </a:xfrm>
          <a:prstGeom prst="rect">
            <a:avLst/>
          </a:prstGeom>
          <a:noFill/>
        </p:spPr>
        <p:txBody>
          <a:bodyPr wrap="square" rtlCol="0">
            <a:spAutoFit/>
          </a:bodyPr>
          <a:lstStyle/>
          <a:p>
            <a:r>
              <a:rPr lang="en-US" sz="1100" dirty="0"/>
              <a:t>Mold the </a:t>
            </a:r>
            <a:r>
              <a:rPr lang="pl-PL" sz="1100" dirty="0"/>
              <a:t>M</a:t>
            </a:r>
            <a:r>
              <a:rPr lang="en-GB" sz="1100" dirty="0"/>
              <a:t>2 </a:t>
            </a:r>
            <a:r>
              <a:rPr lang="en-US" sz="1100" dirty="0"/>
              <a:t>threaded inserts into the holes designated by the red arrows</a:t>
            </a:r>
            <a:endParaRPr lang="pl-PL" sz="1100" dirty="0"/>
          </a:p>
        </p:txBody>
      </p:sp>
      <p:cxnSp>
        <p:nvCxnSpPr>
          <p:cNvPr id="5" name="Straight Arrow Connector 4"/>
          <p:cNvCxnSpPr/>
          <p:nvPr/>
        </p:nvCxnSpPr>
        <p:spPr>
          <a:xfrm rot="10800000">
            <a:off x="1804489" y="1801498"/>
            <a:ext cx="0" cy="33740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4"/>
          <a:stretch>
            <a:fillRect/>
          </a:stretch>
        </p:blipFill>
        <p:spPr>
          <a:xfrm>
            <a:off x="4255774" y="125352"/>
            <a:ext cx="3714435" cy="2600104"/>
          </a:xfrm>
          <a:prstGeom prst="rect">
            <a:avLst/>
          </a:prstGeom>
        </p:spPr>
      </p:pic>
      <p:sp>
        <p:nvSpPr>
          <p:cNvPr id="18" name="Rectangle 17"/>
          <p:cNvSpPr/>
          <p:nvPr/>
        </p:nvSpPr>
        <p:spPr>
          <a:xfrm>
            <a:off x="66876" y="-13850"/>
            <a:ext cx="301686" cy="369332"/>
          </a:xfrm>
          <a:prstGeom prst="rect">
            <a:avLst/>
          </a:prstGeom>
        </p:spPr>
        <p:txBody>
          <a:bodyPr wrap="none">
            <a:spAutoFit/>
          </a:bodyPr>
          <a:lstStyle/>
          <a:p>
            <a:r>
              <a:rPr lang="pl-PL" dirty="0"/>
              <a:t>1</a:t>
            </a:r>
          </a:p>
        </p:txBody>
      </p:sp>
      <p:cxnSp>
        <p:nvCxnSpPr>
          <p:cNvPr id="19" name="Straight Connector 18"/>
          <p:cNvCxnSpPr/>
          <p:nvPr/>
        </p:nvCxnSpPr>
        <p:spPr>
          <a:xfrm>
            <a:off x="4130566" y="-13850"/>
            <a:ext cx="0" cy="6871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152570" y="-13850"/>
            <a:ext cx="301686" cy="369332"/>
          </a:xfrm>
          <a:prstGeom prst="rect">
            <a:avLst/>
          </a:prstGeom>
        </p:spPr>
        <p:txBody>
          <a:bodyPr wrap="none">
            <a:spAutoFit/>
          </a:bodyPr>
          <a:lstStyle/>
          <a:p>
            <a:r>
              <a:rPr lang="en-US" dirty="0"/>
              <a:t>2</a:t>
            </a:r>
            <a:endParaRPr lang="pl-PL" dirty="0"/>
          </a:p>
        </p:txBody>
      </p:sp>
      <p:sp>
        <p:nvSpPr>
          <p:cNvPr id="22" name="Down Arrow 21"/>
          <p:cNvSpPr/>
          <p:nvPr/>
        </p:nvSpPr>
        <p:spPr>
          <a:xfrm rot="7200000" flipH="1">
            <a:off x="5471857" y="1653433"/>
            <a:ext cx="108000" cy="360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Down Arrow 22"/>
          <p:cNvSpPr/>
          <p:nvPr/>
        </p:nvSpPr>
        <p:spPr>
          <a:xfrm rot="7200000" flipH="1">
            <a:off x="6894258" y="849099"/>
            <a:ext cx="108000" cy="360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24" name="Straight Connector 23"/>
          <p:cNvCxnSpPr/>
          <p:nvPr/>
        </p:nvCxnSpPr>
        <p:spPr>
          <a:xfrm flipH="1">
            <a:off x="-32923" y="2869324"/>
            <a:ext cx="122249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5"/>
          <a:stretch>
            <a:fillRect/>
          </a:stretch>
        </p:blipFill>
        <p:spPr>
          <a:xfrm>
            <a:off x="8272756" y="207485"/>
            <a:ext cx="3893335" cy="2642123"/>
          </a:xfrm>
          <a:prstGeom prst="rect">
            <a:avLst/>
          </a:prstGeom>
        </p:spPr>
      </p:pic>
      <p:sp>
        <p:nvSpPr>
          <p:cNvPr id="29" name="Rectangle 28"/>
          <p:cNvSpPr/>
          <p:nvPr/>
        </p:nvSpPr>
        <p:spPr>
          <a:xfrm>
            <a:off x="8058486" y="-26755"/>
            <a:ext cx="277817" cy="369332"/>
          </a:xfrm>
          <a:prstGeom prst="rect">
            <a:avLst/>
          </a:prstGeom>
        </p:spPr>
        <p:txBody>
          <a:bodyPr wrap="square">
            <a:spAutoFit/>
          </a:bodyPr>
          <a:lstStyle/>
          <a:p>
            <a:r>
              <a:rPr lang="en-US" dirty="0"/>
              <a:t>3</a:t>
            </a:r>
            <a:endParaRPr lang="pl-PL" dirty="0"/>
          </a:p>
        </p:txBody>
      </p:sp>
      <p:sp>
        <p:nvSpPr>
          <p:cNvPr id="30" name="TextBox 29"/>
          <p:cNvSpPr txBox="1"/>
          <p:nvPr/>
        </p:nvSpPr>
        <p:spPr>
          <a:xfrm>
            <a:off x="6124878" y="1457494"/>
            <a:ext cx="1477282" cy="707886"/>
          </a:xfrm>
          <a:prstGeom prst="rect">
            <a:avLst/>
          </a:prstGeom>
          <a:noFill/>
        </p:spPr>
        <p:txBody>
          <a:bodyPr wrap="square" rtlCol="0">
            <a:spAutoFit/>
          </a:bodyPr>
          <a:lstStyle/>
          <a:p>
            <a:r>
              <a:rPr lang="en-US" sz="1000" dirty="0"/>
              <a:t>Insert the ball bearings into the designated slots, ensuring a tight fit</a:t>
            </a:r>
            <a:endParaRPr lang="pl-PL" sz="1000" dirty="0"/>
          </a:p>
          <a:p>
            <a:endParaRPr lang="pl-PL" sz="1000" dirty="0"/>
          </a:p>
        </p:txBody>
      </p:sp>
      <p:sp>
        <p:nvSpPr>
          <p:cNvPr id="32" name="Down Arrow 31"/>
          <p:cNvSpPr/>
          <p:nvPr/>
        </p:nvSpPr>
        <p:spPr>
          <a:xfrm rot="7200000" flipH="1">
            <a:off x="9508362" y="1853945"/>
            <a:ext cx="108000" cy="360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Down Arrow 32"/>
          <p:cNvSpPr/>
          <p:nvPr/>
        </p:nvSpPr>
        <p:spPr>
          <a:xfrm rot="7200000" flipH="1">
            <a:off x="10986829" y="935056"/>
            <a:ext cx="108000" cy="360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TextBox 33"/>
          <p:cNvSpPr txBox="1"/>
          <p:nvPr/>
        </p:nvSpPr>
        <p:spPr>
          <a:xfrm>
            <a:off x="10688809" y="1941882"/>
            <a:ext cx="1477282" cy="707886"/>
          </a:xfrm>
          <a:prstGeom prst="rect">
            <a:avLst/>
          </a:prstGeom>
          <a:noFill/>
        </p:spPr>
        <p:txBody>
          <a:bodyPr wrap="square" rtlCol="0">
            <a:spAutoFit/>
          </a:bodyPr>
          <a:lstStyle/>
          <a:p>
            <a:r>
              <a:rPr lang="en-US" sz="1000" dirty="0"/>
              <a:t>Insert the ball bearings into the designated slots, ensuring a tight fit</a:t>
            </a:r>
            <a:endParaRPr lang="pl-PL" sz="1000" dirty="0"/>
          </a:p>
          <a:p>
            <a:endParaRPr lang="pl-PL" sz="1000" dirty="0"/>
          </a:p>
        </p:txBody>
      </p:sp>
      <p:cxnSp>
        <p:nvCxnSpPr>
          <p:cNvPr id="35" name="Straight Arrow Connector 34"/>
          <p:cNvCxnSpPr/>
          <p:nvPr/>
        </p:nvCxnSpPr>
        <p:spPr>
          <a:xfrm flipV="1">
            <a:off x="8055933" y="1778635"/>
            <a:ext cx="217883" cy="125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0800000" flipV="1">
            <a:off x="10587969" y="230442"/>
            <a:ext cx="217883" cy="125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8483947" y="40865"/>
            <a:ext cx="1351008" cy="938719"/>
          </a:xfrm>
          <a:prstGeom prst="rect">
            <a:avLst/>
          </a:prstGeom>
          <a:noFill/>
        </p:spPr>
        <p:txBody>
          <a:bodyPr wrap="square" rtlCol="0">
            <a:spAutoFit/>
          </a:bodyPr>
          <a:lstStyle/>
          <a:p>
            <a:r>
              <a:rPr lang="en-US" sz="1100" dirty="0"/>
              <a:t>Mold the </a:t>
            </a:r>
            <a:r>
              <a:rPr lang="pl-PL" sz="1100" dirty="0"/>
              <a:t>M</a:t>
            </a:r>
            <a:r>
              <a:rPr lang="en-GB" sz="1100" dirty="0"/>
              <a:t>2 </a:t>
            </a:r>
            <a:r>
              <a:rPr lang="en-US" sz="1100" dirty="0"/>
              <a:t>threaded inserts into the holes designated by the red arrows</a:t>
            </a:r>
            <a:endParaRPr lang="pl-PL" sz="1100" dirty="0"/>
          </a:p>
        </p:txBody>
      </p:sp>
      <p:pic>
        <p:nvPicPr>
          <p:cNvPr id="38" name="Picture 37"/>
          <p:cNvPicPr>
            <a:picLocks noChangeAspect="1"/>
          </p:cNvPicPr>
          <p:nvPr/>
        </p:nvPicPr>
        <p:blipFill>
          <a:blip r:embed="rId6"/>
          <a:stretch>
            <a:fillRect/>
          </a:stretch>
        </p:blipFill>
        <p:spPr>
          <a:xfrm>
            <a:off x="154516" y="2994676"/>
            <a:ext cx="3940062" cy="3670375"/>
          </a:xfrm>
          <a:prstGeom prst="rect">
            <a:avLst/>
          </a:prstGeom>
        </p:spPr>
      </p:pic>
      <p:sp>
        <p:nvSpPr>
          <p:cNvPr id="39" name="Down Arrow 38"/>
          <p:cNvSpPr/>
          <p:nvPr/>
        </p:nvSpPr>
        <p:spPr>
          <a:xfrm flipH="1">
            <a:off x="1223230" y="4418323"/>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0" name="Down Arrow 39"/>
          <p:cNvSpPr/>
          <p:nvPr/>
        </p:nvSpPr>
        <p:spPr>
          <a:xfrm flipH="1">
            <a:off x="2537996" y="5280384"/>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1" name="Rectangle 40"/>
          <p:cNvSpPr/>
          <p:nvPr/>
        </p:nvSpPr>
        <p:spPr>
          <a:xfrm>
            <a:off x="66876" y="2869960"/>
            <a:ext cx="301686" cy="369332"/>
          </a:xfrm>
          <a:prstGeom prst="rect">
            <a:avLst/>
          </a:prstGeom>
        </p:spPr>
        <p:txBody>
          <a:bodyPr wrap="none">
            <a:spAutoFit/>
          </a:bodyPr>
          <a:lstStyle/>
          <a:p>
            <a:r>
              <a:rPr lang="en-US" dirty="0"/>
              <a:t>4</a:t>
            </a:r>
            <a:endParaRPr lang="pl-PL" dirty="0"/>
          </a:p>
        </p:txBody>
      </p:sp>
      <p:pic>
        <p:nvPicPr>
          <p:cNvPr id="42" name="Picture 41"/>
          <p:cNvPicPr>
            <a:picLocks noChangeAspect="1"/>
          </p:cNvPicPr>
          <p:nvPr/>
        </p:nvPicPr>
        <p:blipFill>
          <a:blip r:embed="rId7"/>
          <a:stretch>
            <a:fillRect/>
          </a:stretch>
        </p:blipFill>
        <p:spPr>
          <a:xfrm>
            <a:off x="4157753" y="3261909"/>
            <a:ext cx="3831118" cy="3010625"/>
          </a:xfrm>
          <a:prstGeom prst="rect">
            <a:avLst/>
          </a:prstGeom>
        </p:spPr>
      </p:pic>
      <p:sp>
        <p:nvSpPr>
          <p:cNvPr id="45" name="Rectangle 44"/>
          <p:cNvSpPr/>
          <p:nvPr/>
        </p:nvSpPr>
        <p:spPr>
          <a:xfrm>
            <a:off x="4154278" y="2869960"/>
            <a:ext cx="301686" cy="369332"/>
          </a:xfrm>
          <a:prstGeom prst="rect">
            <a:avLst/>
          </a:prstGeom>
        </p:spPr>
        <p:txBody>
          <a:bodyPr wrap="none">
            <a:spAutoFit/>
          </a:bodyPr>
          <a:lstStyle/>
          <a:p>
            <a:r>
              <a:rPr lang="en-US" dirty="0"/>
              <a:t>5</a:t>
            </a:r>
            <a:endParaRPr lang="pl-PL" dirty="0"/>
          </a:p>
        </p:txBody>
      </p:sp>
      <p:sp>
        <p:nvSpPr>
          <p:cNvPr id="46" name="Down Arrow 45"/>
          <p:cNvSpPr/>
          <p:nvPr/>
        </p:nvSpPr>
        <p:spPr>
          <a:xfrm flipH="1">
            <a:off x="6551455" y="4099009"/>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7" name="Down Arrow 46"/>
          <p:cNvSpPr/>
          <p:nvPr/>
        </p:nvSpPr>
        <p:spPr>
          <a:xfrm rot="10800000" flipH="1">
            <a:off x="6551455" y="6341894"/>
            <a:ext cx="133686" cy="31931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52" name="Straight Connector 51"/>
          <p:cNvCxnSpPr/>
          <p:nvPr/>
        </p:nvCxnSpPr>
        <p:spPr>
          <a:xfrm>
            <a:off x="7998244" y="-6925"/>
            <a:ext cx="0" cy="6871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52"/>
          <p:cNvPicPr>
            <a:picLocks noChangeAspect="1"/>
          </p:cNvPicPr>
          <p:nvPr/>
        </p:nvPicPr>
        <p:blipFill>
          <a:blip r:embed="rId8"/>
          <a:stretch>
            <a:fillRect/>
          </a:stretch>
        </p:blipFill>
        <p:spPr>
          <a:xfrm>
            <a:off x="8374405" y="3380011"/>
            <a:ext cx="3655133" cy="3005331"/>
          </a:xfrm>
          <a:prstGeom prst="rect">
            <a:avLst/>
          </a:prstGeom>
        </p:spPr>
      </p:pic>
      <p:sp>
        <p:nvSpPr>
          <p:cNvPr id="56" name="Rectangle 55"/>
          <p:cNvSpPr/>
          <p:nvPr/>
        </p:nvSpPr>
        <p:spPr>
          <a:xfrm>
            <a:off x="8046551" y="2869960"/>
            <a:ext cx="301686" cy="369332"/>
          </a:xfrm>
          <a:prstGeom prst="rect">
            <a:avLst/>
          </a:prstGeom>
        </p:spPr>
        <p:txBody>
          <a:bodyPr wrap="none">
            <a:spAutoFit/>
          </a:bodyPr>
          <a:lstStyle/>
          <a:p>
            <a:r>
              <a:rPr lang="en-US" dirty="0"/>
              <a:t>6</a:t>
            </a:r>
            <a:endParaRPr lang="pl-PL" dirty="0"/>
          </a:p>
        </p:txBody>
      </p:sp>
      <p:cxnSp>
        <p:nvCxnSpPr>
          <p:cNvPr id="58" name="Straight Arrow Connector 57"/>
          <p:cNvCxnSpPr/>
          <p:nvPr/>
        </p:nvCxnSpPr>
        <p:spPr>
          <a:xfrm rot="10800000">
            <a:off x="9265184" y="6108343"/>
            <a:ext cx="0" cy="33740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9268501" y="4010536"/>
            <a:ext cx="0" cy="59339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8396543" y="3031963"/>
            <a:ext cx="1940235" cy="1015663"/>
          </a:xfrm>
          <a:prstGeom prst="rect">
            <a:avLst/>
          </a:prstGeom>
          <a:noFill/>
        </p:spPr>
        <p:txBody>
          <a:bodyPr wrap="square" rtlCol="0">
            <a:spAutoFit/>
          </a:bodyPr>
          <a:lstStyle/>
          <a:p>
            <a:r>
              <a:rPr lang="pl-PL" sz="1000" dirty="0"/>
              <a:t>Secure with an M6 cap screw from the bottom. Element 24 will be sandwiched between the board and the </a:t>
            </a:r>
            <a:r>
              <a:rPr lang="en-US" sz="1000" dirty="0">
                <a:cs typeface="Times New Roman" panose="02020603050405020304" pitchFamily="18" charset="0"/>
              </a:rPr>
              <a:t>EdmundOptics_54996</a:t>
            </a:r>
            <a:endParaRPr lang="pl-PL" sz="1000" dirty="0"/>
          </a:p>
          <a:p>
            <a:r>
              <a:rPr lang="pl-PL" sz="1000" dirty="0"/>
              <a:t>element </a:t>
            </a:r>
          </a:p>
        </p:txBody>
      </p:sp>
    </p:spTree>
    <p:extLst>
      <p:ext uri="{BB962C8B-B14F-4D97-AF65-F5344CB8AC3E}">
        <p14:creationId xmlns:p14="http://schemas.microsoft.com/office/powerpoint/2010/main" val="3189748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5" name="Picture 4"/>
          <p:cNvPicPr>
            <a:picLocks noChangeAspect="1"/>
          </p:cNvPicPr>
          <p:nvPr/>
        </p:nvPicPr>
        <p:blipFill>
          <a:blip r:embed="rId3"/>
          <a:stretch>
            <a:fillRect/>
          </a:stretch>
        </p:blipFill>
        <p:spPr>
          <a:xfrm>
            <a:off x="1762125" y="233362"/>
            <a:ext cx="8667750" cy="6391275"/>
          </a:xfrm>
          <a:prstGeom prst="rect">
            <a:avLst/>
          </a:prstGeom>
        </p:spPr>
      </p:pic>
      <p:sp>
        <p:nvSpPr>
          <p:cNvPr id="8" name="Rectangle 7"/>
          <p:cNvSpPr/>
          <p:nvPr/>
        </p:nvSpPr>
        <p:spPr>
          <a:xfrm>
            <a:off x="0" y="0"/>
            <a:ext cx="3977179" cy="369332"/>
          </a:xfrm>
          <a:prstGeom prst="rect">
            <a:avLst/>
          </a:prstGeom>
        </p:spPr>
        <p:txBody>
          <a:bodyPr wrap="none">
            <a:spAutoFit/>
          </a:bodyPr>
          <a:lstStyle/>
          <a:p>
            <a:r>
              <a:rPr lang="pl-PL" dirty="0"/>
              <a:t>STAGE 1 + STAGE 2 + STAGE 3 COMPLETE</a:t>
            </a:r>
          </a:p>
        </p:txBody>
      </p:sp>
    </p:spTree>
    <p:extLst>
      <p:ext uri="{BB962C8B-B14F-4D97-AF65-F5344CB8AC3E}">
        <p14:creationId xmlns:p14="http://schemas.microsoft.com/office/powerpoint/2010/main" val="375427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8" name="Rectangle 7"/>
          <p:cNvSpPr/>
          <p:nvPr/>
        </p:nvSpPr>
        <p:spPr>
          <a:xfrm>
            <a:off x="0" y="0"/>
            <a:ext cx="3977179" cy="369332"/>
          </a:xfrm>
          <a:prstGeom prst="rect">
            <a:avLst/>
          </a:prstGeom>
        </p:spPr>
        <p:txBody>
          <a:bodyPr wrap="none">
            <a:spAutoFit/>
          </a:bodyPr>
          <a:lstStyle/>
          <a:p>
            <a:r>
              <a:rPr lang="pl-PL" dirty="0"/>
              <a:t>STAGE 1 + STAGE 2 + STAGE 3 COMPLETE</a:t>
            </a:r>
          </a:p>
        </p:txBody>
      </p:sp>
      <p:pic>
        <p:nvPicPr>
          <p:cNvPr id="2" name="Picture 1"/>
          <p:cNvPicPr>
            <a:picLocks noChangeAspect="1"/>
          </p:cNvPicPr>
          <p:nvPr/>
        </p:nvPicPr>
        <p:blipFill>
          <a:blip r:embed="rId3"/>
          <a:stretch>
            <a:fillRect/>
          </a:stretch>
        </p:blipFill>
        <p:spPr>
          <a:xfrm>
            <a:off x="593655" y="748605"/>
            <a:ext cx="9096375" cy="4724400"/>
          </a:xfrm>
          <a:prstGeom prst="rect">
            <a:avLst/>
          </a:prstGeom>
        </p:spPr>
      </p:pic>
      <p:sp>
        <p:nvSpPr>
          <p:cNvPr id="4" name="Rectangle 3"/>
          <p:cNvSpPr/>
          <p:nvPr/>
        </p:nvSpPr>
        <p:spPr>
          <a:xfrm>
            <a:off x="4986130" y="5664731"/>
            <a:ext cx="6096000" cy="646331"/>
          </a:xfrm>
          <a:prstGeom prst="rect">
            <a:avLst/>
          </a:prstGeom>
        </p:spPr>
        <p:txBody>
          <a:bodyPr>
            <a:spAutoFit/>
          </a:bodyPr>
          <a:lstStyle/>
          <a:p>
            <a:r>
              <a:rPr lang="pl-PL" dirty="0">
                <a:solidFill>
                  <a:srgbClr val="FF0000"/>
                </a:solidFill>
              </a:rPr>
              <a:t>Before proceeding to STAGE 4 ensure to mold M6 threaded inserts into the holes designated by the red arrows</a:t>
            </a:r>
          </a:p>
        </p:txBody>
      </p:sp>
      <p:sp>
        <p:nvSpPr>
          <p:cNvPr id="7" name="Down Arrow 6"/>
          <p:cNvSpPr/>
          <p:nvPr/>
        </p:nvSpPr>
        <p:spPr>
          <a:xfrm rot="10800000" flipH="1">
            <a:off x="6696493" y="2292366"/>
            <a:ext cx="180000" cy="3600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Down Arrow 8"/>
          <p:cNvSpPr/>
          <p:nvPr/>
        </p:nvSpPr>
        <p:spPr>
          <a:xfrm rot="10800000" flipH="1">
            <a:off x="7268286" y="2292366"/>
            <a:ext cx="180000" cy="3600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Down Arrow 9"/>
          <p:cNvSpPr/>
          <p:nvPr/>
        </p:nvSpPr>
        <p:spPr>
          <a:xfrm rot="10800000" flipH="1">
            <a:off x="7840078" y="2292366"/>
            <a:ext cx="180000" cy="3600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927119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1344942" cy="2031325"/>
          </a:xfrm>
          <a:prstGeom prst="rect">
            <a:avLst/>
          </a:prstGeom>
          <a:noFill/>
        </p:spPr>
        <p:txBody>
          <a:bodyPr wrap="square" rtlCol="0">
            <a:spAutoFit/>
          </a:bodyPr>
          <a:lstStyle/>
          <a:p>
            <a:r>
              <a:rPr lang="pl-PL" dirty="0"/>
              <a:t>1 </a:t>
            </a:r>
            <a:r>
              <a:rPr lang="pl-PL" dirty="0">
                <a:cs typeface="Times New Roman" panose="02020603050405020304" pitchFamily="18" charset="0"/>
              </a:rPr>
              <a:t>× </a:t>
            </a:r>
            <a:r>
              <a:rPr lang="pl-PL" dirty="0"/>
              <a:t>26_FDML_stimfix_stimulus_board</a:t>
            </a:r>
          </a:p>
          <a:p>
            <a:r>
              <a:rPr lang="pl-PL" dirty="0"/>
              <a:t>1 </a:t>
            </a:r>
            <a:r>
              <a:rPr lang="pl-PL" dirty="0">
                <a:cs typeface="Times New Roman" panose="02020603050405020304" pitchFamily="18" charset="0"/>
              </a:rPr>
              <a:t>× 28_FDML_stimfix_stimulus_cage_system_insert</a:t>
            </a:r>
          </a:p>
          <a:p>
            <a:r>
              <a:rPr lang="pl-PL" dirty="0"/>
              <a:t>1 </a:t>
            </a:r>
            <a:r>
              <a:rPr lang="pl-PL" dirty="0">
                <a:cs typeface="Times New Roman" panose="02020603050405020304" pitchFamily="18" charset="0"/>
              </a:rPr>
              <a:t>× Thorlabs_AC254-075-A (</a:t>
            </a:r>
            <a:r>
              <a:rPr lang="pl-PL" dirty="0">
                <a:cs typeface="Times New Roman" panose="02020603050405020304" pitchFamily="18" charset="0"/>
                <a:hlinkClick r:id="rId3"/>
              </a:rPr>
              <a:t>https://www.thorlabs.com/thorproduct.cfm?partnumber=AC254-075-A</a:t>
            </a:r>
            <a:r>
              <a:rPr lang="pl-PL" dirty="0">
                <a:cs typeface="Times New Roman" panose="02020603050405020304" pitchFamily="18" charset="0"/>
              </a:rPr>
              <a:t>)</a:t>
            </a:r>
          </a:p>
          <a:p>
            <a:r>
              <a:rPr lang="pl-PL" dirty="0"/>
              <a:t>1 </a:t>
            </a:r>
            <a:r>
              <a:rPr lang="pl-PL" dirty="0">
                <a:cs typeface="Times New Roman" panose="02020603050405020304" pitchFamily="18" charset="0"/>
              </a:rPr>
              <a:t>× Thorlabs_SM1RR (https://www.thorlabs.com/thorproduct.cfm?partnumber=SM1RR)</a:t>
            </a:r>
            <a:endParaRPr lang="pl-PL" dirty="0"/>
          </a:p>
          <a:p>
            <a:r>
              <a:rPr lang="pl-PL" dirty="0"/>
              <a:t>1 </a:t>
            </a:r>
            <a:r>
              <a:rPr lang="pl-PL" dirty="0">
                <a:cs typeface="Times New Roman" panose="02020603050405020304" pitchFamily="18" charset="0"/>
              </a:rPr>
              <a:t>× 27_FDML_stimfix_cage_system_insert_iris_holder</a:t>
            </a:r>
          </a:p>
          <a:p>
            <a:r>
              <a:rPr lang="pl-PL" dirty="0"/>
              <a:t>1 </a:t>
            </a:r>
            <a:r>
              <a:rPr lang="pl-PL" dirty="0">
                <a:cs typeface="Times New Roman" panose="02020603050405020304" pitchFamily="18" charset="0"/>
              </a:rPr>
              <a:t>× Thorlabs_CP20D (</a:t>
            </a:r>
            <a:r>
              <a:rPr lang="pl-PL" dirty="0">
                <a:cs typeface="Times New Roman" panose="02020603050405020304" pitchFamily="18" charset="0"/>
                <a:hlinkClick r:id="rId4"/>
              </a:rPr>
              <a:t>https://www.thorlabs.com/thorproduct.cfm?partnumber=CP20D</a:t>
            </a:r>
            <a:r>
              <a:rPr lang="pl-PL" dirty="0">
                <a:cs typeface="Times New Roman" panose="02020603050405020304" pitchFamily="18" charset="0"/>
              </a:rPr>
              <a:t>)</a:t>
            </a:r>
          </a:p>
          <a:p>
            <a:r>
              <a:rPr lang="pl-PL" dirty="0">
                <a:cs typeface="Times New Roman" panose="02020603050405020304" pitchFamily="18" charset="0"/>
              </a:rPr>
              <a:t>2 × 11_FDML_stimfix_iris_mounting_rod</a:t>
            </a:r>
            <a:endParaRPr lang="pl-PL" dirty="0"/>
          </a:p>
        </p:txBody>
      </p:sp>
      <p:pic>
        <p:nvPicPr>
          <p:cNvPr id="2" name="Picture 1"/>
          <p:cNvPicPr>
            <a:picLocks noChangeAspect="1"/>
          </p:cNvPicPr>
          <p:nvPr/>
        </p:nvPicPr>
        <p:blipFill>
          <a:blip r:embed="rId5"/>
          <a:stretch>
            <a:fillRect/>
          </a:stretch>
        </p:blipFill>
        <p:spPr>
          <a:xfrm>
            <a:off x="0" y="2193649"/>
            <a:ext cx="6200775" cy="4438650"/>
          </a:xfrm>
          <a:prstGeom prst="rect">
            <a:avLst/>
          </a:prstGeom>
        </p:spPr>
      </p:pic>
      <p:pic>
        <p:nvPicPr>
          <p:cNvPr id="4" name="Picture 3"/>
          <p:cNvPicPr>
            <a:picLocks noChangeAspect="1"/>
          </p:cNvPicPr>
          <p:nvPr/>
        </p:nvPicPr>
        <p:blipFill>
          <a:blip r:embed="rId6"/>
          <a:stretch>
            <a:fillRect/>
          </a:stretch>
        </p:blipFill>
        <p:spPr>
          <a:xfrm>
            <a:off x="8558755" y="3251186"/>
            <a:ext cx="1521101" cy="1645043"/>
          </a:xfrm>
          <a:prstGeom prst="rect">
            <a:avLst/>
          </a:prstGeom>
        </p:spPr>
      </p:pic>
      <p:pic>
        <p:nvPicPr>
          <p:cNvPr id="5" name="Picture 4"/>
          <p:cNvPicPr>
            <a:picLocks noChangeAspect="1"/>
          </p:cNvPicPr>
          <p:nvPr/>
        </p:nvPicPr>
        <p:blipFill>
          <a:blip r:embed="rId7"/>
          <a:stretch>
            <a:fillRect/>
          </a:stretch>
        </p:blipFill>
        <p:spPr>
          <a:xfrm>
            <a:off x="5629147" y="2584258"/>
            <a:ext cx="1903317" cy="2311971"/>
          </a:xfrm>
          <a:prstGeom prst="rect">
            <a:avLst/>
          </a:prstGeom>
        </p:spPr>
      </p:pic>
      <p:pic>
        <p:nvPicPr>
          <p:cNvPr id="6" name="Picture 5"/>
          <p:cNvPicPr>
            <a:picLocks noChangeAspect="1"/>
          </p:cNvPicPr>
          <p:nvPr/>
        </p:nvPicPr>
        <p:blipFill>
          <a:blip r:embed="rId8"/>
          <a:stretch>
            <a:fillRect/>
          </a:stretch>
        </p:blipFill>
        <p:spPr>
          <a:xfrm>
            <a:off x="10142145" y="3175582"/>
            <a:ext cx="1175302" cy="1661012"/>
          </a:xfrm>
          <a:prstGeom prst="rect">
            <a:avLst/>
          </a:prstGeom>
        </p:spPr>
      </p:pic>
      <p:pic>
        <p:nvPicPr>
          <p:cNvPr id="7" name="Picture 6"/>
          <p:cNvPicPr>
            <a:picLocks noChangeAspect="1"/>
          </p:cNvPicPr>
          <p:nvPr/>
        </p:nvPicPr>
        <p:blipFill>
          <a:blip r:embed="rId9"/>
          <a:stretch>
            <a:fillRect/>
          </a:stretch>
        </p:blipFill>
        <p:spPr>
          <a:xfrm>
            <a:off x="7595601" y="2893676"/>
            <a:ext cx="904487" cy="941658"/>
          </a:xfrm>
          <a:prstGeom prst="rect">
            <a:avLst/>
          </a:prstGeom>
        </p:spPr>
      </p:pic>
      <p:pic>
        <p:nvPicPr>
          <p:cNvPr id="9" name="Picture 8"/>
          <p:cNvPicPr>
            <a:picLocks noChangeAspect="1"/>
          </p:cNvPicPr>
          <p:nvPr/>
        </p:nvPicPr>
        <p:blipFill>
          <a:blip r:embed="rId10"/>
          <a:stretch>
            <a:fillRect/>
          </a:stretch>
        </p:blipFill>
        <p:spPr>
          <a:xfrm>
            <a:off x="11550612" y="4246524"/>
            <a:ext cx="335333" cy="650031"/>
          </a:xfrm>
          <a:prstGeom prst="rect">
            <a:avLst/>
          </a:prstGeom>
        </p:spPr>
      </p:pic>
      <p:pic>
        <p:nvPicPr>
          <p:cNvPr id="10" name="Picture 9"/>
          <p:cNvPicPr>
            <a:picLocks noChangeAspect="1"/>
          </p:cNvPicPr>
          <p:nvPr/>
        </p:nvPicPr>
        <p:blipFill>
          <a:blip r:embed="rId10"/>
          <a:stretch>
            <a:fillRect/>
          </a:stretch>
        </p:blipFill>
        <p:spPr>
          <a:xfrm>
            <a:off x="11550612" y="3251186"/>
            <a:ext cx="335333" cy="650031"/>
          </a:xfrm>
          <a:prstGeom prst="rect">
            <a:avLst/>
          </a:prstGeom>
        </p:spPr>
      </p:pic>
      <p:pic>
        <p:nvPicPr>
          <p:cNvPr id="8" name="Picture 7"/>
          <p:cNvPicPr>
            <a:picLocks noChangeAspect="1"/>
          </p:cNvPicPr>
          <p:nvPr/>
        </p:nvPicPr>
        <p:blipFill>
          <a:blip r:embed="rId11"/>
          <a:stretch>
            <a:fillRect/>
          </a:stretch>
        </p:blipFill>
        <p:spPr>
          <a:xfrm>
            <a:off x="7670162" y="4246524"/>
            <a:ext cx="743152" cy="926194"/>
          </a:xfrm>
          <a:prstGeom prst="rect">
            <a:avLst/>
          </a:prstGeom>
        </p:spPr>
      </p:pic>
    </p:spTree>
    <p:extLst>
      <p:ext uri="{BB962C8B-B14F-4D97-AF65-F5344CB8AC3E}">
        <p14:creationId xmlns:p14="http://schemas.microsoft.com/office/powerpoint/2010/main" val="40155107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18" name="Rectangle 17"/>
          <p:cNvSpPr/>
          <p:nvPr/>
        </p:nvSpPr>
        <p:spPr>
          <a:xfrm>
            <a:off x="28776" y="-20410"/>
            <a:ext cx="301686" cy="369332"/>
          </a:xfrm>
          <a:prstGeom prst="rect">
            <a:avLst/>
          </a:prstGeom>
        </p:spPr>
        <p:txBody>
          <a:bodyPr wrap="none">
            <a:spAutoFit/>
          </a:bodyPr>
          <a:lstStyle/>
          <a:p>
            <a:r>
              <a:rPr lang="pl-PL" dirty="0"/>
              <a:t>1</a:t>
            </a:r>
          </a:p>
        </p:txBody>
      </p:sp>
      <p:cxnSp>
        <p:nvCxnSpPr>
          <p:cNvPr id="19" name="Straight Connector 18"/>
          <p:cNvCxnSpPr/>
          <p:nvPr/>
        </p:nvCxnSpPr>
        <p:spPr>
          <a:xfrm>
            <a:off x="5422655" y="-13850"/>
            <a:ext cx="0" cy="28831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0" y="2869324"/>
            <a:ext cx="12192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9261108" y="0"/>
            <a:ext cx="0" cy="2869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152098" y="298513"/>
            <a:ext cx="2319810" cy="2363662"/>
          </a:xfrm>
          <a:prstGeom prst="rect">
            <a:avLst/>
          </a:prstGeom>
        </p:spPr>
      </p:pic>
      <p:pic>
        <p:nvPicPr>
          <p:cNvPr id="17" name="Picture 16"/>
          <p:cNvPicPr>
            <a:picLocks noChangeAspect="1"/>
          </p:cNvPicPr>
          <p:nvPr/>
        </p:nvPicPr>
        <p:blipFill>
          <a:blip r:embed="rId4"/>
          <a:stretch>
            <a:fillRect/>
          </a:stretch>
        </p:blipFill>
        <p:spPr>
          <a:xfrm>
            <a:off x="2640947" y="0"/>
            <a:ext cx="2476883" cy="2181288"/>
          </a:xfrm>
          <a:prstGeom prst="rect">
            <a:avLst/>
          </a:prstGeom>
        </p:spPr>
      </p:pic>
      <p:cxnSp>
        <p:nvCxnSpPr>
          <p:cNvPr id="20" name="Straight Arrow Connector 19"/>
          <p:cNvCxnSpPr/>
          <p:nvPr/>
        </p:nvCxnSpPr>
        <p:spPr>
          <a:xfrm flipH="1" flipV="1">
            <a:off x="3587523" y="1146633"/>
            <a:ext cx="292302" cy="17288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2286955" y="2306266"/>
            <a:ext cx="263165" cy="18192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09310" y="1800401"/>
            <a:ext cx="1296045" cy="1015663"/>
          </a:xfrm>
          <a:prstGeom prst="rect">
            <a:avLst/>
          </a:prstGeom>
          <a:noFill/>
        </p:spPr>
        <p:txBody>
          <a:bodyPr wrap="square" rtlCol="0">
            <a:spAutoFit/>
          </a:bodyPr>
          <a:lstStyle/>
          <a:p>
            <a:r>
              <a:rPr lang="en-US" sz="1000" dirty="0"/>
              <a:t>Mold </a:t>
            </a:r>
            <a:r>
              <a:rPr lang="pl-PL" sz="1000" dirty="0"/>
              <a:t>M2 and M3</a:t>
            </a:r>
            <a:r>
              <a:rPr lang="en-US" sz="1000" dirty="0"/>
              <a:t> threaded inserts into the designated holes indicated by </a:t>
            </a:r>
            <a:r>
              <a:rPr lang="pl-PL" sz="1000" dirty="0"/>
              <a:t>red arrows (M2) and blue arrows (M3).</a:t>
            </a:r>
          </a:p>
        </p:txBody>
      </p:sp>
      <p:cxnSp>
        <p:nvCxnSpPr>
          <p:cNvPr id="28" name="Straight Arrow Connector 27"/>
          <p:cNvCxnSpPr/>
          <p:nvPr/>
        </p:nvCxnSpPr>
        <p:spPr>
          <a:xfrm>
            <a:off x="4540027" y="140624"/>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a:off x="4455964" y="2000487"/>
            <a:ext cx="0" cy="337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40327" y="2271712"/>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0327" y="1959669"/>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80560" y="1959669"/>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80560" y="1647626"/>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10800000" flipV="1">
            <a:off x="2066791" y="1226194"/>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0800000" flipV="1">
            <a:off x="2066791" y="914151"/>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0800000" flipV="1">
            <a:off x="1607024" y="914151"/>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0800000" flipV="1">
            <a:off x="1607024" y="602108"/>
            <a:ext cx="165637" cy="138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p:cNvPicPr>
            <a:picLocks noChangeAspect="1"/>
          </p:cNvPicPr>
          <p:nvPr/>
        </p:nvPicPr>
        <p:blipFill>
          <a:blip r:embed="rId5"/>
          <a:stretch>
            <a:fillRect/>
          </a:stretch>
        </p:blipFill>
        <p:spPr>
          <a:xfrm>
            <a:off x="5672770" y="81435"/>
            <a:ext cx="3077167" cy="2668480"/>
          </a:xfrm>
          <a:prstGeom prst="rect">
            <a:avLst/>
          </a:prstGeom>
        </p:spPr>
      </p:pic>
      <p:sp>
        <p:nvSpPr>
          <p:cNvPr id="42" name="Down Arrow 41"/>
          <p:cNvSpPr/>
          <p:nvPr/>
        </p:nvSpPr>
        <p:spPr>
          <a:xfrm rot="7218441" flipH="1">
            <a:off x="7657747" y="1602535"/>
            <a:ext cx="181322" cy="433096"/>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3" name="TextBox 42"/>
          <p:cNvSpPr txBox="1"/>
          <p:nvPr/>
        </p:nvSpPr>
        <p:spPr>
          <a:xfrm>
            <a:off x="7804775" y="275503"/>
            <a:ext cx="1296045" cy="707886"/>
          </a:xfrm>
          <a:prstGeom prst="rect">
            <a:avLst/>
          </a:prstGeom>
          <a:noFill/>
        </p:spPr>
        <p:txBody>
          <a:bodyPr wrap="square" rtlCol="0">
            <a:spAutoFit/>
          </a:bodyPr>
          <a:lstStyle/>
          <a:p>
            <a:r>
              <a:rPr lang="pl-PL" sz="1000" dirty="0"/>
              <a:t>Insert the lens into the tube until you feel resistance from the retaining ledge.</a:t>
            </a:r>
          </a:p>
        </p:txBody>
      </p:sp>
      <p:sp>
        <p:nvSpPr>
          <p:cNvPr id="21" name="Rectangle 20"/>
          <p:cNvSpPr/>
          <p:nvPr/>
        </p:nvSpPr>
        <p:spPr>
          <a:xfrm>
            <a:off x="5484415" y="-20410"/>
            <a:ext cx="301686" cy="369332"/>
          </a:xfrm>
          <a:prstGeom prst="rect">
            <a:avLst/>
          </a:prstGeom>
        </p:spPr>
        <p:txBody>
          <a:bodyPr wrap="none">
            <a:spAutoFit/>
          </a:bodyPr>
          <a:lstStyle/>
          <a:p>
            <a:r>
              <a:rPr lang="en-US" dirty="0"/>
              <a:t>2</a:t>
            </a:r>
            <a:endParaRPr lang="pl-PL" dirty="0"/>
          </a:p>
        </p:txBody>
      </p:sp>
      <p:pic>
        <p:nvPicPr>
          <p:cNvPr id="53" name="Picture 52"/>
          <p:cNvPicPr>
            <a:picLocks noChangeAspect="1"/>
          </p:cNvPicPr>
          <p:nvPr/>
        </p:nvPicPr>
        <p:blipFill>
          <a:blip r:embed="rId6"/>
          <a:stretch>
            <a:fillRect/>
          </a:stretch>
        </p:blipFill>
        <p:spPr>
          <a:xfrm>
            <a:off x="9425346" y="129763"/>
            <a:ext cx="2766653" cy="2607594"/>
          </a:xfrm>
          <a:prstGeom prst="rect">
            <a:avLst/>
          </a:prstGeom>
        </p:spPr>
      </p:pic>
      <p:sp>
        <p:nvSpPr>
          <p:cNvPr id="29" name="Rectangle 28"/>
          <p:cNvSpPr/>
          <p:nvPr/>
        </p:nvSpPr>
        <p:spPr>
          <a:xfrm>
            <a:off x="9303334" y="-20410"/>
            <a:ext cx="277817" cy="369332"/>
          </a:xfrm>
          <a:prstGeom prst="rect">
            <a:avLst/>
          </a:prstGeom>
        </p:spPr>
        <p:txBody>
          <a:bodyPr wrap="square">
            <a:spAutoFit/>
          </a:bodyPr>
          <a:lstStyle/>
          <a:p>
            <a:r>
              <a:rPr lang="en-US" dirty="0"/>
              <a:t>3</a:t>
            </a:r>
            <a:endParaRPr lang="pl-PL" dirty="0"/>
          </a:p>
        </p:txBody>
      </p:sp>
      <p:sp>
        <p:nvSpPr>
          <p:cNvPr id="46" name="Arc 45"/>
          <p:cNvSpPr/>
          <p:nvPr/>
        </p:nvSpPr>
        <p:spPr>
          <a:xfrm>
            <a:off x="11226742" y="1507969"/>
            <a:ext cx="912307" cy="985035"/>
          </a:xfrm>
          <a:prstGeom prst="arc">
            <a:avLst>
              <a:gd name="adj1" fmla="val 1148833"/>
              <a:gd name="adj2" fmla="val 5448478"/>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50" name="Arc 49"/>
          <p:cNvSpPr/>
          <p:nvPr/>
        </p:nvSpPr>
        <p:spPr>
          <a:xfrm flipH="1" flipV="1">
            <a:off x="11468048" y="1540271"/>
            <a:ext cx="912307" cy="985035"/>
          </a:xfrm>
          <a:prstGeom prst="arc">
            <a:avLst>
              <a:gd name="adj1" fmla="val 1148833"/>
              <a:gd name="adj2" fmla="val 5448478"/>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51" name="Down Arrow 50"/>
          <p:cNvSpPr/>
          <p:nvPr/>
        </p:nvSpPr>
        <p:spPr>
          <a:xfrm rot="7218441" flipH="1">
            <a:off x="11202978" y="1649874"/>
            <a:ext cx="181322" cy="22362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4" name="Down Arrow 53"/>
          <p:cNvSpPr/>
          <p:nvPr/>
        </p:nvSpPr>
        <p:spPr>
          <a:xfrm rot="7218441" flipH="1">
            <a:off x="11691259" y="1917346"/>
            <a:ext cx="181322" cy="223625"/>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5" name="TextBox 54"/>
          <p:cNvSpPr txBox="1"/>
          <p:nvPr/>
        </p:nvSpPr>
        <p:spPr>
          <a:xfrm>
            <a:off x="11119494" y="298513"/>
            <a:ext cx="977876" cy="553998"/>
          </a:xfrm>
          <a:prstGeom prst="rect">
            <a:avLst/>
          </a:prstGeom>
          <a:noFill/>
        </p:spPr>
        <p:txBody>
          <a:bodyPr wrap="square" rtlCol="0">
            <a:spAutoFit/>
          </a:bodyPr>
          <a:lstStyle/>
          <a:p>
            <a:r>
              <a:rPr lang="pl-PL" sz="1000" dirty="0"/>
              <a:t>Secure the lens using the retaining ring.</a:t>
            </a:r>
          </a:p>
        </p:txBody>
      </p:sp>
      <p:pic>
        <p:nvPicPr>
          <p:cNvPr id="49" name="Picture 48"/>
          <p:cNvPicPr>
            <a:picLocks noChangeAspect="1"/>
          </p:cNvPicPr>
          <p:nvPr/>
        </p:nvPicPr>
        <p:blipFill>
          <a:blip r:embed="rId7"/>
          <a:stretch>
            <a:fillRect/>
          </a:stretch>
        </p:blipFill>
        <p:spPr>
          <a:xfrm>
            <a:off x="188497" y="2922585"/>
            <a:ext cx="3636474" cy="3655920"/>
          </a:xfrm>
          <a:prstGeom prst="rect">
            <a:avLst/>
          </a:prstGeom>
        </p:spPr>
      </p:pic>
      <p:sp>
        <p:nvSpPr>
          <p:cNvPr id="45" name="Rectangle 44"/>
          <p:cNvSpPr/>
          <p:nvPr/>
        </p:nvSpPr>
        <p:spPr>
          <a:xfrm>
            <a:off x="4498862" y="2859383"/>
            <a:ext cx="301686" cy="369332"/>
          </a:xfrm>
          <a:prstGeom prst="rect">
            <a:avLst/>
          </a:prstGeom>
        </p:spPr>
        <p:txBody>
          <a:bodyPr wrap="none">
            <a:spAutoFit/>
          </a:bodyPr>
          <a:lstStyle/>
          <a:p>
            <a:r>
              <a:rPr lang="en-US" dirty="0"/>
              <a:t>5</a:t>
            </a:r>
            <a:endParaRPr lang="pl-PL" dirty="0"/>
          </a:p>
        </p:txBody>
      </p:sp>
      <p:sp>
        <p:nvSpPr>
          <p:cNvPr id="56" name="Rectangle 55"/>
          <p:cNvSpPr/>
          <p:nvPr/>
        </p:nvSpPr>
        <p:spPr>
          <a:xfrm>
            <a:off x="8448251" y="2868198"/>
            <a:ext cx="301686" cy="369332"/>
          </a:xfrm>
          <a:prstGeom prst="rect">
            <a:avLst/>
          </a:prstGeom>
        </p:spPr>
        <p:txBody>
          <a:bodyPr wrap="none">
            <a:spAutoFit/>
          </a:bodyPr>
          <a:lstStyle/>
          <a:p>
            <a:r>
              <a:rPr lang="en-US" dirty="0"/>
              <a:t>6</a:t>
            </a:r>
            <a:endParaRPr lang="pl-PL" dirty="0"/>
          </a:p>
        </p:txBody>
      </p:sp>
      <p:sp>
        <p:nvSpPr>
          <p:cNvPr id="59" name="Down Arrow 58"/>
          <p:cNvSpPr/>
          <p:nvPr/>
        </p:nvSpPr>
        <p:spPr>
          <a:xfrm>
            <a:off x="1243062" y="4828416"/>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0" name="Down Arrow 59"/>
          <p:cNvSpPr/>
          <p:nvPr/>
        </p:nvSpPr>
        <p:spPr>
          <a:xfrm>
            <a:off x="2463454" y="4168012"/>
            <a:ext cx="134869" cy="32214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61" name="Straight Arrow Connector 60"/>
          <p:cNvCxnSpPr/>
          <p:nvPr/>
        </p:nvCxnSpPr>
        <p:spPr>
          <a:xfrm>
            <a:off x="1315520" y="5537748"/>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2530889" y="4923740"/>
            <a:ext cx="0" cy="2390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3088596" y="2988734"/>
            <a:ext cx="1442734" cy="1785104"/>
          </a:xfrm>
          <a:prstGeom prst="rect">
            <a:avLst/>
          </a:prstGeom>
          <a:noFill/>
        </p:spPr>
        <p:txBody>
          <a:bodyPr wrap="square" rtlCol="0">
            <a:spAutoFit/>
          </a:bodyPr>
          <a:lstStyle/>
          <a:p>
            <a:r>
              <a:rPr lang="pl-PL" sz="1000" dirty="0"/>
              <a:t>Insert both cage inserts firmly into the dedicated slots, ensuring correct orientation.</a:t>
            </a:r>
          </a:p>
          <a:p>
            <a:endParaRPr lang="pl-PL" sz="1000" dirty="0"/>
          </a:p>
          <a:p>
            <a:r>
              <a:rPr lang="pl-PL" sz="1000" dirty="0"/>
              <a:t>Secure them with M3 cap screws inserted from the bottom, as indicated by the blue arrows.</a:t>
            </a:r>
          </a:p>
        </p:txBody>
      </p:sp>
      <p:cxnSp>
        <p:nvCxnSpPr>
          <p:cNvPr id="64" name="Straight Arrow Connector 63"/>
          <p:cNvCxnSpPr/>
          <p:nvPr/>
        </p:nvCxnSpPr>
        <p:spPr>
          <a:xfrm rot="10800000">
            <a:off x="2524605" y="5992831"/>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10800000">
            <a:off x="1315666" y="6521413"/>
            <a:ext cx="0" cy="2390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28776" y="2859383"/>
            <a:ext cx="301686" cy="369332"/>
          </a:xfrm>
          <a:prstGeom prst="rect">
            <a:avLst/>
          </a:prstGeom>
        </p:spPr>
        <p:txBody>
          <a:bodyPr wrap="none">
            <a:spAutoFit/>
          </a:bodyPr>
          <a:lstStyle/>
          <a:p>
            <a:r>
              <a:rPr lang="en-US" dirty="0"/>
              <a:t>4</a:t>
            </a:r>
            <a:endParaRPr lang="pl-PL" dirty="0"/>
          </a:p>
        </p:txBody>
      </p:sp>
      <p:cxnSp>
        <p:nvCxnSpPr>
          <p:cNvPr id="66" name="Straight Connector 65"/>
          <p:cNvCxnSpPr/>
          <p:nvPr/>
        </p:nvCxnSpPr>
        <p:spPr>
          <a:xfrm>
            <a:off x="4517878" y="2869324"/>
            <a:ext cx="0" cy="3988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Picture 68"/>
          <p:cNvPicPr>
            <a:picLocks noChangeAspect="1"/>
          </p:cNvPicPr>
          <p:nvPr/>
        </p:nvPicPr>
        <p:blipFill>
          <a:blip r:embed="rId8"/>
          <a:stretch>
            <a:fillRect/>
          </a:stretch>
        </p:blipFill>
        <p:spPr>
          <a:xfrm>
            <a:off x="4656135" y="3435864"/>
            <a:ext cx="3638550" cy="3124749"/>
          </a:xfrm>
          <a:prstGeom prst="rect">
            <a:avLst/>
          </a:prstGeom>
        </p:spPr>
      </p:pic>
      <p:cxnSp>
        <p:nvCxnSpPr>
          <p:cNvPr id="70" name="Straight Arrow Connector 69"/>
          <p:cNvCxnSpPr/>
          <p:nvPr/>
        </p:nvCxnSpPr>
        <p:spPr>
          <a:xfrm flipH="1" flipV="1">
            <a:off x="6102942" y="5194344"/>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10800000" flipH="1" flipV="1">
            <a:off x="5199232" y="4745008"/>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 name="Down Arrow 74"/>
          <p:cNvSpPr/>
          <p:nvPr/>
        </p:nvSpPr>
        <p:spPr>
          <a:xfrm rot="3619832" flipH="1">
            <a:off x="6198499" y="4870078"/>
            <a:ext cx="104323" cy="20442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Down Arrow 75"/>
          <p:cNvSpPr/>
          <p:nvPr/>
        </p:nvSpPr>
        <p:spPr>
          <a:xfrm rot="3619832" flipH="1">
            <a:off x="5789277" y="4702210"/>
            <a:ext cx="104323" cy="20442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7" name="Down Arrow 76"/>
          <p:cNvSpPr/>
          <p:nvPr/>
        </p:nvSpPr>
        <p:spPr>
          <a:xfrm rot="14419832" flipH="1">
            <a:off x="5270632" y="4991942"/>
            <a:ext cx="104323" cy="20442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Down Arrow 78"/>
          <p:cNvSpPr/>
          <p:nvPr/>
        </p:nvSpPr>
        <p:spPr>
          <a:xfrm rot="14419832" flipH="1">
            <a:off x="5659333" y="5183779"/>
            <a:ext cx="104323" cy="204428"/>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TextBox 79"/>
          <p:cNvSpPr txBox="1"/>
          <p:nvPr/>
        </p:nvSpPr>
        <p:spPr>
          <a:xfrm>
            <a:off x="4750338" y="2899277"/>
            <a:ext cx="1442734" cy="1631216"/>
          </a:xfrm>
          <a:prstGeom prst="rect">
            <a:avLst/>
          </a:prstGeom>
          <a:noFill/>
        </p:spPr>
        <p:txBody>
          <a:bodyPr wrap="square" rtlCol="0">
            <a:spAutoFit/>
          </a:bodyPr>
          <a:lstStyle/>
          <a:p>
            <a:r>
              <a:rPr lang="pl-PL" sz="1000" dirty="0"/>
              <a:t>Insert iris mounting rods so that their ends are flush with the front cage insert surface. Secure them with M2 cap screws, as shown by the red arrows. Slide the iris onto the protruding rods as indicated.</a:t>
            </a:r>
          </a:p>
        </p:txBody>
      </p:sp>
      <p:pic>
        <p:nvPicPr>
          <p:cNvPr id="81" name="Picture 80"/>
          <p:cNvPicPr>
            <a:picLocks noChangeAspect="1"/>
          </p:cNvPicPr>
          <p:nvPr/>
        </p:nvPicPr>
        <p:blipFill>
          <a:blip r:embed="rId9"/>
          <a:stretch>
            <a:fillRect/>
          </a:stretch>
        </p:blipFill>
        <p:spPr>
          <a:xfrm>
            <a:off x="8462757" y="3457742"/>
            <a:ext cx="3690224" cy="3094078"/>
          </a:xfrm>
          <a:prstGeom prst="rect">
            <a:avLst/>
          </a:prstGeom>
        </p:spPr>
      </p:pic>
      <p:cxnSp>
        <p:nvCxnSpPr>
          <p:cNvPr id="82" name="Straight Connector 81"/>
          <p:cNvCxnSpPr/>
          <p:nvPr/>
        </p:nvCxnSpPr>
        <p:spPr>
          <a:xfrm>
            <a:off x="8406222" y="2869324"/>
            <a:ext cx="0" cy="3988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flipV="1">
            <a:off x="10019838" y="5091743"/>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rot="10800000" flipH="1" flipV="1">
            <a:off x="9047548" y="4595963"/>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8828141" y="3360942"/>
            <a:ext cx="1442734" cy="707886"/>
          </a:xfrm>
          <a:prstGeom prst="rect">
            <a:avLst/>
          </a:prstGeom>
          <a:noFill/>
        </p:spPr>
        <p:txBody>
          <a:bodyPr wrap="square" rtlCol="0">
            <a:spAutoFit/>
          </a:bodyPr>
          <a:lstStyle/>
          <a:p>
            <a:r>
              <a:rPr lang="pl-PL" sz="1000" dirty="0"/>
              <a:t>Tighten the cage rod locking set screws, as indicated by the red arrows.</a:t>
            </a:r>
          </a:p>
        </p:txBody>
      </p:sp>
    </p:spTree>
    <p:extLst>
      <p:ext uri="{BB962C8B-B14F-4D97-AF65-F5344CB8AC3E}">
        <p14:creationId xmlns:p14="http://schemas.microsoft.com/office/powerpoint/2010/main" val="3671957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2192002" cy="1754326"/>
          </a:xfrm>
          <a:prstGeom prst="rect">
            <a:avLst/>
          </a:prstGeom>
          <a:noFill/>
        </p:spPr>
        <p:txBody>
          <a:bodyPr wrap="square" rtlCol="0">
            <a:spAutoFit/>
          </a:bodyPr>
          <a:lstStyle/>
          <a:p>
            <a:r>
              <a:rPr lang="pl-PL" dirty="0"/>
              <a:t>4 </a:t>
            </a:r>
            <a:r>
              <a:rPr lang="pl-PL" dirty="0">
                <a:cs typeface="Times New Roman" panose="02020603050405020304" pitchFamily="18" charset="0"/>
              </a:rPr>
              <a:t>× </a:t>
            </a:r>
            <a:r>
              <a:rPr lang="pl-PL" dirty="0"/>
              <a:t>Thorlabs_ER3 (</a:t>
            </a:r>
            <a:r>
              <a:rPr lang="pl-PL" dirty="0">
                <a:hlinkClick r:id="rId3"/>
              </a:rPr>
              <a:t>https://www.thorlabs.com/thorproduct.cfm?partnumber=ER3-P4</a:t>
            </a:r>
            <a:r>
              <a:rPr lang="pl-PL" dirty="0"/>
              <a:t>)</a:t>
            </a:r>
          </a:p>
          <a:p>
            <a:r>
              <a:rPr lang="pl-PL" dirty="0"/>
              <a:t>1 </a:t>
            </a:r>
            <a:r>
              <a:rPr lang="pl-PL" dirty="0">
                <a:cs typeface="Times New Roman" panose="02020603050405020304" pitchFamily="18" charset="0"/>
              </a:rPr>
              <a:t>× </a:t>
            </a:r>
            <a:r>
              <a:rPr lang="pl-PL" dirty="0"/>
              <a:t>EdmundOptics_49656 (</a:t>
            </a:r>
            <a:r>
              <a:rPr lang="pl-PL" dirty="0">
                <a:hlinkClick r:id="rId4"/>
              </a:rPr>
              <a:t>https://www.meetoptics.com/lenses/achromatic/aspherized-achromat/s/edmund-optics/p/49-656</a:t>
            </a:r>
            <a:r>
              <a:rPr lang="pl-PL" dirty="0"/>
              <a:t>)</a:t>
            </a:r>
          </a:p>
          <a:p>
            <a:r>
              <a:rPr lang="pl-PL" dirty="0"/>
              <a:t>1 </a:t>
            </a:r>
            <a:r>
              <a:rPr lang="pl-PL" dirty="0">
                <a:cs typeface="Times New Roman" panose="02020603050405020304" pitchFamily="18" charset="0"/>
              </a:rPr>
              <a:t>× </a:t>
            </a:r>
            <a:r>
              <a:rPr lang="pl-PL" dirty="0"/>
              <a:t>29_FDML_collimator_lens_holder_tube</a:t>
            </a:r>
          </a:p>
          <a:p>
            <a:r>
              <a:rPr lang="pl-PL" dirty="0"/>
              <a:t>1 </a:t>
            </a:r>
            <a:r>
              <a:rPr lang="pl-PL" dirty="0">
                <a:cs typeface="Times New Roman" panose="02020603050405020304" pitchFamily="18" charset="0"/>
              </a:rPr>
              <a:t>× </a:t>
            </a:r>
            <a:r>
              <a:rPr lang="pl-PL" dirty="0"/>
              <a:t>Thorlabs_CP1XY (</a:t>
            </a:r>
            <a:r>
              <a:rPr lang="pl-PL" dirty="0">
                <a:hlinkClick r:id="rId5"/>
              </a:rPr>
              <a:t>https://www.thorlabs.com/thorproduct.cfm?partnumber=CP1XY#ad-image-0</a:t>
            </a:r>
            <a:r>
              <a:rPr lang="pl-PL" dirty="0"/>
              <a:t>)</a:t>
            </a:r>
          </a:p>
          <a:p>
            <a:r>
              <a:rPr lang="pl-PL" dirty="0"/>
              <a:t>1 </a:t>
            </a:r>
            <a:r>
              <a:rPr lang="pl-PL" dirty="0">
                <a:cs typeface="Times New Roman" panose="02020603050405020304" pitchFamily="18" charset="0"/>
              </a:rPr>
              <a:t>× </a:t>
            </a:r>
            <a:r>
              <a:rPr lang="pl-PL" dirty="0"/>
              <a:t>Thorlabs_SM05SMA (</a:t>
            </a:r>
            <a:r>
              <a:rPr lang="pl-PL" dirty="0">
                <a:hlinkClick r:id="rId6"/>
              </a:rPr>
              <a:t>https://www.thorlabs.com/thorproduct.cfm?partnumber=SM05SMA#ad-image-0</a:t>
            </a:r>
            <a:r>
              <a:rPr lang="pl-PL" dirty="0"/>
              <a:t>)</a:t>
            </a:r>
          </a:p>
          <a:p>
            <a:r>
              <a:rPr lang="pl-PL" dirty="0"/>
              <a:t>1 </a:t>
            </a:r>
            <a:r>
              <a:rPr lang="pl-PL" dirty="0">
                <a:cs typeface="Times New Roman" panose="02020603050405020304" pitchFamily="18" charset="0"/>
              </a:rPr>
              <a:t>× </a:t>
            </a:r>
            <a:r>
              <a:rPr lang="pl-PL" dirty="0"/>
              <a:t>Thorlabs_SM1ZA (</a:t>
            </a:r>
            <a:r>
              <a:rPr lang="pl-PL" dirty="0">
                <a:hlinkClick r:id="rId7"/>
              </a:rPr>
              <a:t>https://www.thorlabs.com/thorproduct.cfm?partnumber=SM1ZA</a:t>
            </a:r>
            <a:r>
              <a:rPr lang="pl-PL" dirty="0"/>
              <a:t>)</a:t>
            </a:r>
          </a:p>
        </p:txBody>
      </p:sp>
      <p:pic>
        <p:nvPicPr>
          <p:cNvPr id="13" name="Picture 12"/>
          <p:cNvPicPr>
            <a:picLocks noChangeAspect="1"/>
          </p:cNvPicPr>
          <p:nvPr/>
        </p:nvPicPr>
        <p:blipFill>
          <a:blip r:embed="rId8"/>
          <a:stretch>
            <a:fillRect/>
          </a:stretch>
        </p:blipFill>
        <p:spPr>
          <a:xfrm>
            <a:off x="48722" y="1978207"/>
            <a:ext cx="5624718" cy="4716060"/>
          </a:xfrm>
          <a:prstGeom prst="rect">
            <a:avLst/>
          </a:prstGeom>
        </p:spPr>
      </p:pic>
      <p:pic>
        <p:nvPicPr>
          <p:cNvPr id="14" name="Picture 13"/>
          <p:cNvPicPr>
            <a:picLocks noChangeAspect="1"/>
          </p:cNvPicPr>
          <p:nvPr/>
        </p:nvPicPr>
        <p:blipFill>
          <a:blip r:embed="rId9"/>
          <a:stretch>
            <a:fillRect/>
          </a:stretch>
        </p:blipFill>
        <p:spPr>
          <a:xfrm>
            <a:off x="6076950" y="4610100"/>
            <a:ext cx="2958764" cy="1838325"/>
          </a:xfrm>
          <a:prstGeom prst="rect">
            <a:avLst/>
          </a:prstGeom>
        </p:spPr>
      </p:pic>
      <p:pic>
        <p:nvPicPr>
          <p:cNvPr id="16" name="Picture 15"/>
          <p:cNvPicPr>
            <a:picLocks noChangeAspect="1"/>
          </p:cNvPicPr>
          <p:nvPr/>
        </p:nvPicPr>
        <p:blipFill>
          <a:blip r:embed="rId10"/>
          <a:stretch>
            <a:fillRect/>
          </a:stretch>
        </p:blipFill>
        <p:spPr>
          <a:xfrm>
            <a:off x="9571177" y="4374021"/>
            <a:ext cx="1572036" cy="1963009"/>
          </a:xfrm>
          <a:prstGeom prst="rect">
            <a:avLst/>
          </a:prstGeom>
        </p:spPr>
      </p:pic>
      <p:pic>
        <p:nvPicPr>
          <p:cNvPr id="17" name="Picture 16"/>
          <p:cNvPicPr>
            <a:picLocks noChangeAspect="1"/>
          </p:cNvPicPr>
          <p:nvPr/>
        </p:nvPicPr>
        <p:blipFill>
          <a:blip r:embed="rId11"/>
          <a:stretch>
            <a:fillRect/>
          </a:stretch>
        </p:blipFill>
        <p:spPr>
          <a:xfrm>
            <a:off x="10019058" y="3209200"/>
            <a:ext cx="676275" cy="643851"/>
          </a:xfrm>
          <a:prstGeom prst="rect">
            <a:avLst/>
          </a:prstGeom>
        </p:spPr>
      </p:pic>
      <p:pic>
        <p:nvPicPr>
          <p:cNvPr id="18" name="Picture 17"/>
          <p:cNvPicPr>
            <a:picLocks noChangeAspect="1"/>
          </p:cNvPicPr>
          <p:nvPr/>
        </p:nvPicPr>
        <p:blipFill>
          <a:blip r:embed="rId12"/>
          <a:stretch>
            <a:fillRect/>
          </a:stretch>
        </p:blipFill>
        <p:spPr>
          <a:xfrm>
            <a:off x="11244262" y="3201887"/>
            <a:ext cx="704850" cy="658478"/>
          </a:xfrm>
          <a:prstGeom prst="rect">
            <a:avLst/>
          </a:prstGeom>
        </p:spPr>
      </p:pic>
      <p:pic>
        <p:nvPicPr>
          <p:cNvPr id="19" name="Picture 18"/>
          <p:cNvPicPr>
            <a:picLocks noChangeAspect="1"/>
          </p:cNvPicPr>
          <p:nvPr/>
        </p:nvPicPr>
        <p:blipFill>
          <a:blip r:embed="rId13"/>
          <a:stretch>
            <a:fillRect/>
          </a:stretch>
        </p:blipFill>
        <p:spPr>
          <a:xfrm>
            <a:off x="8633539" y="2887397"/>
            <a:ext cx="1090038" cy="1313128"/>
          </a:xfrm>
          <a:prstGeom prst="rect">
            <a:avLst/>
          </a:prstGeom>
        </p:spPr>
      </p:pic>
      <p:pic>
        <p:nvPicPr>
          <p:cNvPr id="20" name="Picture 19"/>
          <p:cNvPicPr>
            <a:picLocks noChangeAspect="1"/>
          </p:cNvPicPr>
          <p:nvPr/>
        </p:nvPicPr>
        <p:blipFill>
          <a:blip r:embed="rId14"/>
          <a:stretch>
            <a:fillRect/>
          </a:stretch>
        </p:blipFill>
        <p:spPr>
          <a:xfrm>
            <a:off x="5601115" y="1978868"/>
            <a:ext cx="2400506" cy="2529681"/>
          </a:xfrm>
          <a:prstGeom prst="rect">
            <a:avLst/>
          </a:prstGeom>
        </p:spPr>
      </p:pic>
    </p:spTree>
    <p:extLst>
      <p:ext uri="{BB962C8B-B14F-4D97-AF65-F5344CB8AC3E}">
        <p14:creationId xmlns:p14="http://schemas.microsoft.com/office/powerpoint/2010/main" val="1706202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18" name="Rectangle 17"/>
          <p:cNvSpPr/>
          <p:nvPr/>
        </p:nvSpPr>
        <p:spPr>
          <a:xfrm>
            <a:off x="28776" y="-20410"/>
            <a:ext cx="301686" cy="369332"/>
          </a:xfrm>
          <a:prstGeom prst="rect">
            <a:avLst/>
          </a:prstGeom>
        </p:spPr>
        <p:txBody>
          <a:bodyPr wrap="none">
            <a:spAutoFit/>
          </a:bodyPr>
          <a:lstStyle/>
          <a:p>
            <a:r>
              <a:rPr lang="pl-PL" dirty="0"/>
              <a:t>1</a:t>
            </a:r>
          </a:p>
        </p:txBody>
      </p:sp>
      <p:cxnSp>
        <p:nvCxnSpPr>
          <p:cNvPr id="24" name="Straight Connector 23"/>
          <p:cNvCxnSpPr/>
          <p:nvPr/>
        </p:nvCxnSpPr>
        <p:spPr>
          <a:xfrm flipH="1">
            <a:off x="0" y="2869324"/>
            <a:ext cx="12192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414606" y="-41866"/>
            <a:ext cx="277817" cy="369332"/>
          </a:xfrm>
          <a:prstGeom prst="rect">
            <a:avLst/>
          </a:prstGeom>
        </p:spPr>
        <p:txBody>
          <a:bodyPr wrap="square">
            <a:spAutoFit/>
          </a:bodyPr>
          <a:lstStyle/>
          <a:p>
            <a:r>
              <a:rPr lang="en-US" dirty="0"/>
              <a:t>3</a:t>
            </a:r>
            <a:endParaRPr lang="pl-PL" dirty="0"/>
          </a:p>
        </p:txBody>
      </p:sp>
      <p:sp>
        <p:nvSpPr>
          <p:cNvPr id="56" name="Rectangle 55"/>
          <p:cNvSpPr/>
          <p:nvPr/>
        </p:nvSpPr>
        <p:spPr>
          <a:xfrm>
            <a:off x="3597205" y="2885267"/>
            <a:ext cx="301686" cy="369332"/>
          </a:xfrm>
          <a:prstGeom prst="rect">
            <a:avLst/>
          </a:prstGeom>
        </p:spPr>
        <p:txBody>
          <a:bodyPr wrap="none">
            <a:spAutoFit/>
          </a:bodyPr>
          <a:lstStyle/>
          <a:p>
            <a:r>
              <a:rPr lang="en-US" dirty="0"/>
              <a:t>6</a:t>
            </a:r>
            <a:endParaRPr lang="pl-PL" dirty="0"/>
          </a:p>
        </p:txBody>
      </p:sp>
      <p:pic>
        <p:nvPicPr>
          <p:cNvPr id="4" name="Picture 3"/>
          <p:cNvPicPr>
            <a:picLocks noChangeAspect="1"/>
          </p:cNvPicPr>
          <p:nvPr/>
        </p:nvPicPr>
        <p:blipFill>
          <a:blip r:embed="rId3"/>
          <a:stretch>
            <a:fillRect/>
          </a:stretch>
        </p:blipFill>
        <p:spPr>
          <a:xfrm>
            <a:off x="359238" y="136255"/>
            <a:ext cx="2982707" cy="2582963"/>
          </a:xfrm>
          <a:prstGeom prst="rect">
            <a:avLst/>
          </a:prstGeom>
        </p:spPr>
      </p:pic>
      <p:pic>
        <p:nvPicPr>
          <p:cNvPr id="5" name="Picture 4"/>
          <p:cNvPicPr>
            <a:picLocks noChangeAspect="1"/>
          </p:cNvPicPr>
          <p:nvPr/>
        </p:nvPicPr>
        <p:blipFill>
          <a:blip r:embed="rId4"/>
          <a:stretch>
            <a:fillRect/>
          </a:stretch>
        </p:blipFill>
        <p:spPr>
          <a:xfrm>
            <a:off x="6666526" y="276959"/>
            <a:ext cx="2524125" cy="2295525"/>
          </a:xfrm>
          <a:prstGeom prst="rect">
            <a:avLst/>
          </a:prstGeom>
        </p:spPr>
      </p:pic>
      <p:cxnSp>
        <p:nvCxnSpPr>
          <p:cNvPr id="19" name="Straight Connector 18"/>
          <p:cNvCxnSpPr/>
          <p:nvPr/>
        </p:nvCxnSpPr>
        <p:spPr>
          <a:xfrm>
            <a:off x="6403730"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5"/>
          <a:stretch>
            <a:fillRect/>
          </a:stretch>
        </p:blipFill>
        <p:spPr>
          <a:xfrm>
            <a:off x="9285686" y="327466"/>
            <a:ext cx="1761237" cy="1942627"/>
          </a:xfrm>
          <a:prstGeom prst="rect">
            <a:avLst/>
          </a:prstGeom>
        </p:spPr>
      </p:pic>
      <p:pic>
        <p:nvPicPr>
          <p:cNvPr id="7" name="Picture 6"/>
          <p:cNvPicPr>
            <a:picLocks noChangeAspect="1"/>
          </p:cNvPicPr>
          <p:nvPr/>
        </p:nvPicPr>
        <p:blipFill>
          <a:blip r:embed="rId6"/>
          <a:stretch>
            <a:fillRect/>
          </a:stretch>
        </p:blipFill>
        <p:spPr>
          <a:xfrm>
            <a:off x="11340374" y="348531"/>
            <a:ext cx="592470" cy="1917448"/>
          </a:xfrm>
          <a:prstGeom prst="rect">
            <a:avLst/>
          </a:prstGeom>
        </p:spPr>
      </p:pic>
      <p:pic>
        <p:nvPicPr>
          <p:cNvPr id="8" name="Picture 7"/>
          <p:cNvPicPr>
            <a:picLocks noChangeAspect="1"/>
          </p:cNvPicPr>
          <p:nvPr/>
        </p:nvPicPr>
        <p:blipFill>
          <a:blip r:embed="rId7"/>
          <a:stretch>
            <a:fillRect/>
          </a:stretch>
        </p:blipFill>
        <p:spPr>
          <a:xfrm>
            <a:off x="3898891" y="201712"/>
            <a:ext cx="2000820" cy="2465901"/>
          </a:xfrm>
          <a:prstGeom prst="rect">
            <a:avLst/>
          </a:prstGeom>
        </p:spPr>
      </p:pic>
      <p:pic>
        <p:nvPicPr>
          <p:cNvPr id="9" name="Picture 8"/>
          <p:cNvPicPr>
            <a:picLocks noChangeAspect="1"/>
          </p:cNvPicPr>
          <p:nvPr/>
        </p:nvPicPr>
        <p:blipFill>
          <a:blip r:embed="rId8"/>
          <a:stretch>
            <a:fillRect/>
          </a:stretch>
        </p:blipFill>
        <p:spPr>
          <a:xfrm>
            <a:off x="330462" y="2943375"/>
            <a:ext cx="3162326" cy="3475159"/>
          </a:xfrm>
          <a:prstGeom prst="rect">
            <a:avLst/>
          </a:prstGeom>
        </p:spPr>
      </p:pic>
      <p:pic>
        <p:nvPicPr>
          <p:cNvPr id="10" name="Picture 9"/>
          <p:cNvPicPr>
            <a:picLocks noChangeAspect="1"/>
          </p:cNvPicPr>
          <p:nvPr/>
        </p:nvPicPr>
        <p:blipFill>
          <a:blip r:embed="rId9"/>
          <a:stretch>
            <a:fillRect/>
          </a:stretch>
        </p:blipFill>
        <p:spPr>
          <a:xfrm>
            <a:off x="4044157" y="2889735"/>
            <a:ext cx="2226537" cy="3690787"/>
          </a:xfrm>
          <a:prstGeom prst="rect">
            <a:avLst/>
          </a:prstGeom>
        </p:spPr>
      </p:pic>
      <p:cxnSp>
        <p:nvCxnSpPr>
          <p:cNvPr id="67" name="Straight Connector 66"/>
          <p:cNvCxnSpPr/>
          <p:nvPr/>
        </p:nvCxnSpPr>
        <p:spPr>
          <a:xfrm>
            <a:off x="357480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574804" y="-41866"/>
            <a:ext cx="301686" cy="369332"/>
          </a:xfrm>
          <a:prstGeom prst="rect">
            <a:avLst/>
          </a:prstGeom>
        </p:spPr>
        <p:txBody>
          <a:bodyPr wrap="none">
            <a:spAutoFit/>
          </a:bodyPr>
          <a:lstStyle/>
          <a:p>
            <a:r>
              <a:rPr lang="en-US" dirty="0"/>
              <a:t>2</a:t>
            </a:r>
            <a:endParaRPr lang="pl-PL" dirty="0"/>
          </a:p>
        </p:txBody>
      </p:sp>
      <p:cxnSp>
        <p:nvCxnSpPr>
          <p:cNvPr id="68" name="Straight Connector 67"/>
          <p:cNvCxnSpPr/>
          <p:nvPr/>
        </p:nvCxnSpPr>
        <p:spPr>
          <a:xfrm>
            <a:off x="9190651" y="-13850"/>
            <a:ext cx="0" cy="2873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9197262" y="-41866"/>
            <a:ext cx="301686" cy="369332"/>
          </a:xfrm>
          <a:prstGeom prst="rect">
            <a:avLst/>
          </a:prstGeom>
        </p:spPr>
        <p:txBody>
          <a:bodyPr wrap="none">
            <a:spAutoFit/>
          </a:bodyPr>
          <a:lstStyle/>
          <a:p>
            <a:r>
              <a:rPr lang="en-US" dirty="0"/>
              <a:t>4</a:t>
            </a:r>
            <a:endParaRPr lang="pl-PL" dirty="0"/>
          </a:p>
        </p:txBody>
      </p:sp>
      <p:sp>
        <p:nvSpPr>
          <p:cNvPr id="71" name="Rectangle 70"/>
          <p:cNvSpPr/>
          <p:nvPr/>
        </p:nvSpPr>
        <p:spPr>
          <a:xfrm>
            <a:off x="28776" y="2885267"/>
            <a:ext cx="301686" cy="369332"/>
          </a:xfrm>
          <a:prstGeom prst="rect">
            <a:avLst/>
          </a:prstGeom>
        </p:spPr>
        <p:txBody>
          <a:bodyPr wrap="none">
            <a:spAutoFit/>
          </a:bodyPr>
          <a:lstStyle/>
          <a:p>
            <a:r>
              <a:rPr lang="pl-PL" dirty="0"/>
              <a:t>5</a:t>
            </a:r>
          </a:p>
        </p:txBody>
      </p:sp>
      <p:pic>
        <p:nvPicPr>
          <p:cNvPr id="23" name="Picture 22"/>
          <p:cNvPicPr>
            <a:picLocks noChangeAspect="1"/>
          </p:cNvPicPr>
          <p:nvPr/>
        </p:nvPicPr>
        <p:blipFill>
          <a:blip r:embed="rId10"/>
          <a:stretch>
            <a:fillRect/>
          </a:stretch>
        </p:blipFill>
        <p:spPr>
          <a:xfrm>
            <a:off x="7219319" y="2960219"/>
            <a:ext cx="4223545" cy="3844261"/>
          </a:xfrm>
          <a:prstGeom prst="rect">
            <a:avLst/>
          </a:prstGeom>
        </p:spPr>
      </p:pic>
      <p:sp>
        <p:nvSpPr>
          <p:cNvPr id="78" name="Down Arrow 77"/>
          <p:cNvSpPr/>
          <p:nvPr/>
        </p:nvSpPr>
        <p:spPr>
          <a:xfrm rot="3491034" flipH="1">
            <a:off x="2417048" y="798179"/>
            <a:ext cx="181322" cy="3417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Arc 85"/>
          <p:cNvSpPr/>
          <p:nvPr/>
        </p:nvSpPr>
        <p:spPr>
          <a:xfrm flipH="1" flipV="1">
            <a:off x="2470262" y="348531"/>
            <a:ext cx="811307" cy="875984"/>
          </a:xfrm>
          <a:prstGeom prst="arc">
            <a:avLst>
              <a:gd name="adj1" fmla="val 3916840"/>
              <a:gd name="adj2" fmla="val 12602089"/>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87" name="Down Arrow 86"/>
          <p:cNvSpPr/>
          <p:nvPr/>
        </p:nvSpPr>
        <p:spPr>
          <a:xfrm rot="14291034" flipH="1">
            <a:off x="7513522" y="1557330"/>
            <a:ext cx="181322" cy="3417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Down Arrow 87"/>
          <p:cNvSpPr/>
          <p:nvPr/>
        </p:nvSpPr>
        <p:spPr>
          <a:xfrm rot="14291034" flipH="1">
            <a:off x="1666619" y="5437399"/>
            <a:ext cx="181322" cy="302287"/>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Arc 88"/>
          <p:cNvSpPr/>
          <p:nvPr/>
        </p:nvSpPr>
        <p:spPr>
          <a:xfrm flipH="1" flipV="1">
            <a:off x="732253" y="5211515"/>
            <a:ext cx="912734" cy="1054267"/>
          </a:xfrm>
          <a:prstGeom prst="arc">
            <a:avLst>
              <a:gd name="adj1" fmla="val 4379102"/>
              <a:gd name="adj2" fmla="val 8426325"/>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90" name="Arc 89"/>
          <p:cNvSpPr/>
          <p:nvPr/>
        </p:nvSpPr>
        <p:spPr>
          <a:xfrm rot="10800000" flipH="1" flipV="1">
            <a:off x="844545" y="5400165"/>
            <a:ext cx="912734" cy="1054267"/>
          </a:xfrm>
          <a:prstGeom prst="arc">
            <a:avLst>
              <a:gd name="adj1" fmla="val 4379102"/>
              <a:gd name="adj2" fmla="val 8426325"/>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cxnSp>
        <p:nvCxnSpPr>
          <p:cNvPr id="91" name="Straight Arrow Connector 90"/>
          <p:cNvCxnSpPr/>
          <p:nvPr/>
        </p:nvCxnSpPr>
        <p:spPr>
          <a:xfrm flipH="1" flipV="1">
            <a:off x="10503883" y="3915414"/>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rot="10800000" flipH="1" flipV="1">
            <a:off x="9603609" y="3342640"/>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flipH="1" flipV="1">
            <a:off x="10298689" y="3995240"/>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flipH="1" flipV="1">
            <a:off x="10606479" y="4274255"/>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flipH="1" flipV="1">
            <a:off x="10402956" y="4375537"/>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rot="10800000" flipH="1" flipV="1">
            <a:off x="9411710" y="3461472"/>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rot="10800000" flipH="1" flipV="1">
            <a:off x="9337318" y="3679931"/>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rot="10800000" flipH="1" flipV="1">
            <a:off x="9145419" y="3798763"/>
            <a:ext cx="205193" cy="1188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2361690" y="1275186"/>
            <a:ext cx="1296045" cy="861774"/>
          </a:xfrm>
          <a:prstGeom prst="rect">
            <a:avLst/>
          </a:prstGeom>
          <a:noFill/>
        </p:spPr>
        <p:txBody>
          <a:bodyPr wrap="square" rtlCol="0">
            <a:spAutoFit/>
          </a:bodyPr>
          <a:lstStyle/>
          <a:p>
            <a:r>
              <a:rPr lang="pl-PL" sz="1000" dirty="0"/>
              <a:t>Screw Thorlabs_SM05SMA fiber adapter onto the Thorlabs_CP1XY flex plate </a:t>
            </a:r>
          </a:p>
        </p:txBody>
      </p:sp>
      <p:sp>
        <p:nvSpPr>
          <p:cNvPr id="101" name="TextBox 100"/>
          <p:cNvSpPr txBox="1"/>
          <p:nvPr/>
        </p:nvSpPr>
        <p:spPr>
          <a:xfrm>
            <a:off x="6426990" y="307349"/>
            <a:ext cx="1296045" cy="1323439"/>
          </a:xfrm>
          <a:prstGeom prst="rect">
            <a:avLst/>
          </a:prstGeom>
          <a:noFill/>
        </p:spPr>
        <p:txBody>
          <a:bodyPr wrap="square" rtlCol="0">
            <a:spAutoFit/>
          </a:bodyPr>
          <a:lstStyle/>
          <a:p>
            <a:r>
              <a:rPr lang="pl-PL" sz="1000" dirty="0"/>
              <a:t>Insert the collimating lens into the holder until you feel resistance by the retaining ledge. The flat side of the lens should face the ledge.</a:t>
            </a:r>
          </a:p>
        </p:txBody>
      </p:sp>
      <p:sp>
        <p:nvSpPr>
          <p:cNvPr id="102" name="TextBox 101"/>
          <p:cNvSpPr txBox="1"/>
          <p:nvPr/>
        </p:nvSpPr>
        <p:spPr>
          <a:xfrm>
            <a:off x="1630737" y="5929293"/>
            <a:ext cx="1296045" cy="861774"/>
          </a:xfrm>
          <a:prstGeom prst="rect">
            <a:avLst/>
          </a:prstGeom>
          <a:noFill/>
        </p:spPr>
        <p:txBody>
          <a:bodyPr wrap="square" rtlCol="0">
            <a:spAutoFit/>
          </a:bodyPr>
          <a:lstStyle/>
          <a:p>
            <a:r>
              <a:rPr lang="pl-PL" sz="1000" dirty="0"/>
              <a:t>Screw the adapter-lens assembly onto the Thorlabs_SM1ZA z-translation cage mount.</a:t>
            </a:r>
          </a:p>
        </p:txBody>
      </p:sp>
      <p:sp>
        <p:nvSpPr>
          <p:cNvPr id="103" name="TextBox 102"/>
          <p:cNvSpPr txBox="1"/>
          <p:nvPr/>
        </p:nvSpPr>
        <p:spPr>
          <a:xfrm>
            <a:off x="6878085" y="3077976"/>
            <a:ext cx="1539701" cy="861774"/>
          </a:xfrm>
          <a:prstGeom prst="rect">
            <a:avLst/>
          </a:prstGeom>
          <a:noFill/>
        </p:spPr>
        <p:txBody>
          <a:bodyPr wrap="square" rtlCol="0">
            <a:spAutoFit/>
          </a:bodyPr>
          <a:lstStyle/>
          <a:p>
            <a:r>
              <a:rPr lang="pl-PL" sz="1000" dirty="0"/>
              <a:t>Insert four ER3 rods into the cage insert as shown, and secure them with M2 screws at the positions marked by red arrows.</a:t>
            </a:r>
          </a:p>
        </p:txBody>
      </p:sp>
      <p:sp>
        <p:nvSpPr>
          <p:cNvPr id="104" name="Rectangle 103"/>
          <p:cNvSpPr/>
          <p:nvPr/>
        </p:nvSpPr>
        <p:spPr>
          <a:xfrm>
            <a:off x="6412370" y="2879266"/>
            <a:ext cx="301686" cy="369332"/>
          </a:xfrm>
          <a:prstGeom prst="rect">
            <a:avLst/>
          </a:prstGeom>
        </p:spPr>
        <p:txBody>
          <a:bodyPr wrap="none">
            <a:spAutoFit/>
          </a:bodyPr>
          <a:lstStyle/>
          <a:p>
            <a:r>
              <a:rPr lang="pl-PL" dirty="0"/>
              <a:t>7</a:t>
            </a:r>
          </a:p>
        </p:txBody>
      </p:sp>
      <p:sp>
        <p:nvSpPr>
          <p:cNvPr id="105" name="TextBox 104"/>
          <p:cNvSpPr txBox="1"/>
          <p:nvPr/>
        </p:nvSpPr>
        <p:spPr>
          <a:xfrm>
            <a:off x="10482608" y="2223336"/>
            <a:ext cx="1296045" cy="400110"/>
          </a:xfrm>
          <a:prstGeom prst="rect">
            <a:avLst/>
          </a:prstGeom>
          <a:noFill/>
        </p:spPr>
        <p:txBody>
          <a:bodyPr wrap="square" rtlCol="0">
            <a:spAutoFit/>
          </a:bodyPr>
          <a:lstStyle/>
          <a:p>
            <a:r>
              <a:rPr lang="pl-PL" sz="1000" dirty="0"/>
              <a:t>Confirm the lens is fully seated.</a:t>
            </a:r>
          </a:p>
        </p:txBody>
      </p:sp>
    </p:spTree>
    <p:extLst>
      <p:ext uri="{BB962C8B-B14F-4D97-AF65-F5344CB8AC3E}">
        <p14:creationId xmlns:p14="http://schemas.microsoft.com/office/powerpoint/2010/main" val="3695417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18" name="Rectangle 17"/>
          <p:cNvSpPr/>
          <p:nvPr/>
        </p:nvSpPr>
        <p:spPr>
          <a:xfrm>
            <a:off x="28776" y="-31138"/>
            <a:ext cx="301686" cy="369332"/>
          </a:xfrm>
          <a:prstGeom prst="rect">
            <a:avLst/>
          </a:prstGeom>
        </p:spPr>
        <p:txBody>
          <a:bodyPr wrap="none">
            <a:spAutoFit/>
          </a:bodyPr>
          <a:lstStyle/>
          <a:p>
            <a:r>
              <a:rPr lang="pl-PL" dirty="0"/>
              <a:t>1</a:t>
            </a:r>
          </a:p>
        </p:txBody>
      </p:sp>
      <p:sp>
        <p:nvSpPr>
          <p:cNvPr id="29" name="Rectangle 28"/>
          <p:cNvSpPr/>
          <p:nvPr/>
        </p:nvSpPr>
        <p:spPr>
          <a:xfrm>
            <a:off x="6203591" y="-31138"/>
            <a:ext cx="277817" cy="369332"/>
          </a:xfrm>
          <a:prstGeom prst="rect">
            <a:avLst/>
          </a:prstGeom>
        </p:spPr>
        <p:txBody>
          <a:bodyPr wrap="square">
            <a:spAutoFit/>
          </a:bodyPr>
          <a:lstStyle/>
          <a:p>
            <a:r>
              <a:rPr lang="pl-PL" dirty="0"/>
              <a:t>2</a:t>
            </a:r>
          </a:p>
        </p:txBody>
      </p:sp>
      <p:pic>
        <p:nvPicPr>
          <p:cNvPr id="2" name="Picture 1"/>
          <p:cNvPicPr>
            <a:picLocks noChangeAspect="1"/>
          </p:cNvPicPr>
          <p:nvPr/>
        </p:nvPicPr>
        <p:blipFill>
          <a:blip r:embed="rId3"/>
          <a:stretch>
            <a:fillRect/>
          </a:stretch>
        </p:blipFill>
        <p:spPr>
          <a:xfrm>
            <a:off x="199786" y="390788"/>
            <a:ext cx="5964061" cy="5809150"/>
          </a:xfrm>
          <a:prstGeom prst="rect">
            <a:avLst/>
          </a:prstGeom>
        </p:spPr>
      </p:pic>
      <p:pic>
        <p:nvPicPr>
          <p:cNvPr id="11" name="Picture 10"/>
          <p:cNvPicPr>
            <a:picLocks noChangeAspect="1"/>
          </p:cNvPicPr>
          <p:nvPr/>
        </p:nvPicPr>
        <p:blipFill>
          <a:blip r:embed="rId4"/>
          <a:stretch>
            <a:fillRect/>
          </a:stretch>
        </p:blipFill>
        <p:spPr>
          <a:xfrm>
            <a:off x="6193312" y="519271"/>
            <a:ext cx="5998688" cy="5552184"/>
          </a:xfrm>
          <a:prstGeom prst="rect">
            <a:avLst/>
          </a:prstGeom>
        </p:spPr>
      </p:pic>
      <p:cxnSp>
        <p:nvCxnSpPr>
          <p:cNvPr id="19" name="Straight Connector 18"/>
          <p:cNvCxnSpPr/>
          <p:nvPr/>
        </p:nvCxnSpPr>
        <p:spPr>
          <a:xfrm>
            <a:off x="6150510"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Down Arrow 24"/>
          <p:cNvSpPr/>
          <p:nvPr/>
        </p:nvSpPr>
        <p:spPr>
          <a:xfrm rot="3491034" flipH="1">
            <a:off x="5228341" y="2140596"/>
            <a:ext cx="181322" cy="3417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Down Arrow 25"/>
          <p:cNvSpPr/>
          <p:nvPr/>
        </p:nvSpPr>
        <p:spPr>
          <a:xfrm rot="3491034" flipH="1">
            <a:off x="5228340" y="1610941"/>
            <a:ext cx="181322" cy="3417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Down Arrow 26"/>
          <p:cNvSpPr/>
          <p:nvPr/>
        </p:nvSpPr>
        <p:spPr>
          <a:xfrm rot="3491034" flipH="1">
            <a:off x="4716081" y="1276680"/>
            <a:ext cx="181322" cy="34178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TextBox 29"/>
          <p:cNvSpPr txBox="1"/>
          <p:nvPr/>
        </p:nvSpPr>
        <p:spPr>
          <a:xfrm>
            <a:off x="698353" y="534553"/>
            <a:ext cx="2010713" cy="954107"/>
          </a:xfrm>
          <a:prstGeom prst="rect">
            <a:avLst/>
          </a:prstGeom>
          <a:noFill/>
        </p:spPr>
        <p:txBody>
          <a:bodyPr wrap="square" rtlCol="0">
            <a:spAutoFit/>
          </a:bodyPr>
          <a:lstStyle/>
          <a:p>
            <a:r>
              <a:rPr lang="pl-PL" sz="1400" dirty="0"/>
              <a:t>Mount the Z-translation cage with the collimation lens onto the previously secured ER3 rods.</a:t>
            </a:r>
          </a:p>
        </p:txBody>
      </p:sp>
      <p:sp>
        <p:nvSpPr>
          <p:cNvPr id="31" name="TextBox 30"/>
          <p:cNvSpPr txBox="1"/>
          <p:nvPr/>
        </p:nvSpPr>
        <p:spPr>
          <a:xfrm>
            <a:off x="6531738" y="538258"/>
            <a:ext cx="1997376" cy="954107"/>
          </a:xfrm>
          <a:prstGeom prst="rect">
            <a:avLst/>
          </a:prstGeom>
          <a:noFill/>
        </p:spPr>
        <p:txBody>
          <a:bodyPr wrap="square" rtlCol="0">
            <a:spAutoFit/>
          </a:bodyPr>
          <a:lstStyle/>
          <a:p>
            <a:r>
              <a:rPr lang="pl-PL" sz="1400" dirty="0"/>
              <a:t>Then do the same with the flex plate containing the mounted fiber adapter.</a:t>
            </a:r>
          </a:p>
        </p:txBody>
      </p:sp>
      <p:sp>
        <p:nvSpPr>
          <p:cNvPr id="35" name="Down Arrow 34"/>
          <p:cNvSpPr/>
          <p:nvPr/>
        </p:nvSpPr>
        <p:spPr>
          <a:xfrm rot="3491034" flipH="1">
            <a:off x="11092999" y="1491928"/>
            <a:ext cx="180000" cy="342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6" name="Down Arrow 35"/>
          <p:cNvSpPr/>
          <p:nvPr/>
        </p:nvSpPr>
        <p:spPr>
          <a:xfrm rot="3491034" flipH="1">
            <a:off x="11092998" y="945588"/>
            <a:ext cx="180000" cy="342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Down Arrow 36"/>
          <p:cNvSpPr/>
          <p:nvPr/>
        </p:nvSpPr>
        <p:spPr>
          <a:xfrm rot="3491034" flipH="1">
            <a:off x="11594685" y="1782784"/>
            <a:ext cx="180000" cy="342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8" name="Down Arrow 37"/>
          <p:cNvSpPr/>
          <p:nvPr/>
        </p:nvSpPr>
        <p:spPr>
          <a:xfrm rot="3491034" flipH="1">
            <a:off x="11619328" y="1198875"/>
            <a:ext cx="180000" cy="34200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885763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4" name="Picture 3"/>
          <p:cNvPicPr>
            <a:picLocks noChangeAspect="1"/>
          </p:cNvPicPr>
          <p:nvPr/>
        </p:nvPicPr>
        <p:blipFill>
          <a:blip r:embed="rId3"/>
          <a:stretch>
            <a:fillRect/>
          </a:stretch>
        </p:blipFill>
        <p:spPr>
          <a:xfrm>
            <a:off x="136427" y="759655"/>
            <a:ext cx="5464820" cy="5525157"/>
          </a:xfrm>
          <a:prstGeom prst="rect">
            <a:avLst/>
          </a:prstGeom>
        </p:spPr>
      </p:pic>
      <p:pic>
        <p:nvPicPr>
          <p:cNvPr id="5" name="Picture 4"/>
          <p:cNvPicPr>
            <a:picLocks noChangeAspect="1"/>
          </p:cNvPicPr>
          <p:nvPr/>
        </p:nvPicPr>
        <p:blipFill>
          <a:blip r:embed="rId4"/>
          <a:stretch>
            <a:fillRect/>
          </a:stretch>
        </p:blipFill>
        <p:spPr>
          <a:xfrm>
            <a:off x="5601247" y="1601137"/>
            <a:ext cx="6590753" cy="4210550"/>
          </a:xfrm>
          <a:prstGeom prst="rect">
            <a:avLst/>
          </a:prstGeom>
        </p:spPr>
      </p:pic>
      <p:sp>
        <p:nvSpPr>
          <p:cNvPr id="10" name="Rectangle 9"/>
          <p:cNvSpPr/>
          <p:nvPr/>
        </p:nvSpPr>
        <p:spPr>
          <a:xfrm>
            <a:off x="0" y="0"/>
            <a:ext cx="2019207" cy="369332"/>
          </a:xfrm>
          <a:prstGeom prst="rect">
            <a:avLst/>
          </a:prstGeom>
        </p:spPr>
        <p:txBody>
          <a:bodyPr wrap="none">
            <a:spAutoFit/>
          </a:bodyPr>
          <a:lstStyle/>
          <a:p>
            <a:r>
              <a:rPr lang="pl-PL" dirty="0"/>
              <a:t>STAGE 4 COMPLETE</a:t>
            </a:r>
          </a:p>
        </p:txBody>
      </p:sp>
    </p:spTree>
    <p:extLst>
      <p:ext uri="{BB962C8B-B14F-4D97-AF65-F5344CB8AC3E}">
        <p14:creationId xmlns:p14="http://schemas.microsoft.com/office/powerpoint/2010/main" val="526494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sp>
        <p:nvSpPr>
          <p:cNvPr id="10" name="Rectangle 9"/>
          <p:cNvSpPr/>
          <p:nvPr/>
        </p:nvSpPr>
        <p:spPr>
          <a:xfrm>
            <a:off x="0" y="0"/>
            <a:ext cx="4174797" cy="646331"/>
          </a:xfrm>
          <a:prstGeom prst="rect">
            <a:avLst/>
          </a:prstGeom>
        </p:spPr>
        <p:txBody>
          <a:bodyPr wrap="none">
            <a:spAutoFit/>
          </a:bodyPr>
          <a:lstStyle/>
          <a:p>
            <a:r>
              <a:rPr lang="pl-PL" dirty="0"/>
              <a:t>1 </a:t>
            </a:r>
            <a:r>
              <a:rPr lang="pl-PL" dirty="0">
                <a:cs typeface="Times New Roman" panose="02020603050405020304" pitchFamily="18" charset="0"/>
              </a:rPr>
              <a:t>× </a:t>
            </a:r>
            <a:r>
              <a:rPr lang="pl-PL" dirty="0"/>
              <a:t>STAGE 1 + STAGE 2 + STAGE 3 assembly</a:t>
            </a:r>
          </a:p>
          <a:p>
            <a:r>
              <a:rPr lang="pl-PL" dirty="0"/>
              <a:t>1 </a:t>
            </a:r>
            <a:r>
              <a:rPr lang="pl-PL" dirty="0">
                <a:cs typeface="Times New Roman" panose="02020603050405020304" pitchFamily="18" charset="0"/>
              </a:rPr>
              <a:t>×</a:t>
            </a:r>
            <a:r>
              <a:rPr lang="pl-PL" dirty="0"/>
              <a:t> </a:t>
            </a:r>
            <a:r>
              <a:rPr lang="en-GB" dirty="0"/>
              <a:t>STAGE </a:t>
            </a:r>
            <a:r>
              <a:rPr lang="pl-PL" dirty="0"/>
              <a:t>4</a:t>
            </a:r>
            <a:r>
              <a:rPr lang="en-GB" dirty="0"/>
              <a:t> assembly</a:t>
            </a:r>
            <a:endParaRPr lang="pl-PL" dirty="0"/>
          </a:p>
        </p:txBody>
      </p:sp>
      <p:pic>
        <p:nvPicPr>
          <p:cNvPr id="6" name="Picture 5"/>
          <p:cNvPicPr>
            <a:picLocks noChangeAspect="1"/>
          </p:cNvPicPr>
          <p:nvPr/>
        </p:nvPicPr>
        <p:blipFill>
          <a:blip r:embed="rId3"/>
          <a:stretch>
            <a:fillRect/>
          </a:stretch>
        </p:blipFill>
        <p:spPr>
          <a:xfrm>
            <a:off x="6848808" y="967601"/>
            <a:ext cx="4566045" cy="4616459"/>
          </a:xfrm>
          <a:prstGeom prst="rect">
            <a:avLst/>
          </a:prstGeom>
        </p:spPr>
      </p:pic>
      <p:pic>
        <p:nvPicPr>
          <p:cNvPr id="2" name="Picture 1"/>
          <p:cNvPicPr>
            <a:picLocks noChangeAspect="1"/>
          </p:cNvPicPr>
          <p:nvPr/>
        </p:nvPicPr>
        <p:blipFill>
          <a:blip r:embed="rId4"/>
          <a:stretch>
            <a:fillRect/>
          </a:stretch>
        </p:blipFill>
        <p:spPr>
          <a:xfrm>
            <a:off x="132564" y="1409262"/>
            <a:ext cx="6583680" cy="5247291"/>
          </a:xfrm>
          <a:prstGeom prst="rect">
            <a:avLst/>
          </a:prstGeom>
        </p:spPr>
      </p:pic>
    </p:spTree>
    <p:extLst>
      <p:ext uri="{BB962C8B-B14F-4D97-AF65-F5344CB8AC3E}">
        <p14:creationId xmlns:p14="http://schemas.microsoft.com/office/powerpoint/2010/main" val="40788393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6" name="Picture 5"/>
          <p:cNvPicPr>
            <a:picLocks noChangeAspect="1"/>
          </p:cNvPicPr>
          <p:nvPr/>
        </p:nvPicPr>
        <p:blipFill>
          <a:blip r:embed="rId3"/>
          <a:stretch>
            <a:fillRect/>
          </a:stretch>
        </p:blipFill>
        <p:spPr>
          <a:xfrm>
            <a:off x="821023" y="386379"/>
            <a:ext cx="10162052" cy="6085241"/>
          </a:xfrm>
          <a:prstGeom prst="rect">
            <a:avLst/>
          </a:prstGeom>
        </p:spPr>
      </p:pic>
      <p:sp>
        <p:nvSpPr>
          <p:cNvPr id="12" name="TextBox 11"/>
          <p:cNvSpPr txBox="1"/>
          <p:nvPr/>
        </p:nvSpPr>
        <p:spPr>
          <a:xfrm>
            <a:off x="4448421" y="2137322"/>
            <a:ext cx="2010713" cy="1169551"/>
          </a:xfrm>
          <a:prstGeom prst="rect">
            <a:avLst/>
          </a:prstGeom>
          <a:noFill/>
        </p:spPr>
        <p:txBody>
          <a:bodyPr wrap="square" rtlCol="0">
            <a:spAutoFit/>
          </a:bodyPr>
          <a:lstStyle/>
          <a:p>
            <a:r>
              <a:rPr lang="pl-PL" sz="1400" dirty="0"/>
              <a:t>Slide the STAGE 4 assembly into the rest of the setup, aligning it with the matching slots as indicated.</a:t>
            </a:r>
          </a:p>
        </p:txBody>
      </p:sp>
      <p:sp>
        <p:nvSpPr>
          <p:cNvPr id="13" name="Down Arrow 12"/>
          <p:cNvSpPr/>
          <p:nvPr/>
        </p:nvSpPr>
        <p:spPr>
          <a:xfrm rot="16200000" flipH="1">
            <a:off x="6086392" y="4151988"/>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Down Arrow 13"/>
          <p:cNvSpPr/>
          <p:nvPr/>
        </p:nvSpPr>
        <p:spPr>
          <a:xfrm rot="16200000" flipH="1">
            <a:off x="6086392" y="4573737"/>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Down Arrow 14"/>
          <p:cNvSpPr/>
          <p:nvPr/>
        </p:nvSpPr>
        <p:spPr>
          <a:xfrm rot="16200000" flipH="1">
            <a:off x="6086392" y="4965929"/>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282537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5" name="Picture 4"/>
          <p:cNvPicPr>
            <a:picLocks noChangeAspect="1"/>
          </p:cNvPicPr>
          <p:nvPr/>
        </p:nvPicPr>
        <p:blipFill>
          <a:blip r:embed="rId3"/>
          <a:stretch>
            <a:fillRect/>
          </a:stretch>
        </p:blipFill>
        <p:spPr>
          <a:xfrm>
            <a:off x="1719966" y="0"/>
            <a:ext cx="7381006" cy="6616355"/>
          </a:xfrm>
          <a:prstGeom prst="rect">
            <a:avLst/>
          </a:prstGeom>
        </p:spPr>
      </p:pic>
      <p:sp>
        <p:nvSpPr>
          <p:cNvPr id="12" name="TextBox 11"/>
          <p:cNvSpPr txBox="1"/>
          <p:nvPr/>
        </p:nvSpPr>
        <p:spPr>
          <a:xfrm>
            <a:off x="8095615" y="3382502"/>
            <a:ext cx="2010713" cy="738664"/>
          </a:xfrm>
          <a:prstGeom prst="rect">
            <a:avLst/>
          </a:prstGeom>
          <a:noFill/>
        </p:spPr>
        <p:txBody>
          <a:bodyPr wrap="square" rtlCol="0">
            <a:spAutoFit/>
          </a:bodyPr>
          <a:lstStyle/>
          <a:p>
            <a:r>
              <a:rPr lang="pl-PL" sz="1400" dirty="0"/>
              <a:t>Tightly secure with M6 cap screws as indicated with the green arrows</a:t>
            </a:r>
          </a:p>
        </p:txBody>
      </p:sp>
      <p:sp>
        <p:nvSpPr>
          <p:cNvPr id="7" name="Down Arrow 6"/>
          <p:cNvSpPr/>
          <p:nvPr/>
        </p:nvSpPr>
        <p:spPr>
          <a:xfrm rot="10800000" flipH="1">
            <a:off x="6536047" y="4121167"/>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Down Arrow 7"/>
          <p:cNvSpPr/>
          <p:nvPr/>
        </p:nvSpPr>
        <p:spPr>
          <a:xfrm rot="10800000" flipH="1">
            <a:off x="7000259" y="4121166"/>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Down Arrow 8"/>
          <p:cNvSpPr/>
          <p:nvPr/>
        </p:nvSpPr>
        <p:spPr>
          <a:xfrm rot="10800000" flipH="1">
            <a:off x="7480482" y="4121166"/>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677792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0"/>
            <a:ext cx="12192000" cy="6858000"/>
          </a:xfrm>
          <a:prstGeom prst="rect">
            <a:avLst/>
          </a:prstGeom>
        </p:spPr>
      </p:pic>
      <p:sp>
        <p:nvSpPr>
          <p:cNvPr id="3" name="TextBox 2"/>
          <p:cNvSpPr txBox="1"/>
          <p:nvPr/>
        </p:nvSpPr>
        <p:spPr>
          <a:xfrm>
            <a:off x="-2" y="0"/>
            <a:ext cx="12192002" cy="369332"/>
          </a:xfrm>
          <a:prstGeom prst="rect">
            <a:avLst/>
          </a:prstGeom>
          <a:noFill/>
        </p:spPr>
        <p:txBody>
          <a:bodyPr wrap="square" rtlCol="0">
            <a:spAutoFit/>
          </a:bodyPr>
          <a:lstStyle/>
          <a:p>
            <a:r>
              <a:rPr lang="pl-PL" dirty="0"/>
              <a:t>STAGE 1 + STAGE 2 + STAGE 3 + STAGE 4 COMPLETE</a:t>
            </a:r>
          </a:p>
        </p:txBody>
      </p:sp>
      <p:pic>
        <p:nvPicPr>
          <p:cNvPr id="4" name="Picture 3"/>
          <p:cNvPicPr>
            <a:picLocks noChangeAspect="1"/>
          </p:cNvPicPr>
          <p:nvPr/>
        </p:nvPicPr>
        <p:blipFill>
          <a:blip r:embed="rId3"/>
          <a:stretch>
            <a:fillRect/>
          </a:stretch>
        </p:blipFill>
        <p:spPr>
          <a:xfrm>
            <a:off x="1390650" y="804862"/>
            <a:ext cx="9410700" cy="5248275"/>
          </a:xfrm>
          <a:prstGeom prst="rect">
            <a:avLst/>
          </a:prstGeom>
        </p:spPr>
      </p:pic>
    </p:spTree>
    <p:extLst>
      <p:ext uri="{BB962C8B-B14F-4D97-AF65-F5344CB8AC3E}">
        <p14:creationId xmlns:p14="http://schemas.microsoft.com/office/powerpoint/2010/main" val="14195739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2" y="0"/>
            <a:ext cx="12192000" cy="6858000"/>
          </a:xfrm>
          <a:prstGeom prst="rect">
            <a:avLst/>
          </a:prstGeom>
        </p:spPr>
      </p:pic>
      <p:sp>
        <p:nvSpPr>
          <p:cNvPr id="3" name="TextBox 2"/>
          <p:cNvSpPr txBox="1"/>
          <p:nvPr/>
        </p:nvSpPr>
        <p:spPr>
          <a:xfrm>
            <a:off x="-2" y="0"/>
            <a:ext cx="12192002" cy="923330"/>
          </a:xfrm>
          <a:prstGeom prst="rect">
            <a:avLst/>
          </a:prstGeom>
          <a:noFill/>
        </p:spPr>
        <p:txBody>
          <a:bodyPr wrap="square" rtlCol="0">
            <a:spAutoFit/>
          </a:bodyPr>
          <a:lstStyle/>
          <a:p>
            <a:r>
              <a:rPr lang="pl-PL" dirty="0"/>
              <a:t>STAGE 1 + STAGE 2 + STAGE 3 + STAGE 4</a:t>
            </a:r>
          </a:p>
          <a:p>
            <a:r>
              <a:rPr lang="pl-PL" dirty="0"/>
              <a:t>30_FDML_stimfix_mounting_post_long</a:t>
            </a:r>
          </a:p>
          <a:p>
            <a:r>
              <a:rPr lang="pl-PL" dirty="0"/>
              <a:t>31_FDML_stimfix_mounting_post_short</a:t>
            </a:r>
          </a:p>
        </p:txBody>
      </p:sp>
      <p:pic>
        <p:nvPicPr>
          <p:cNvPr id="5" name="Picture 4"/>
          <p:cNvPicPr>
            <a:picLocks noChangeAspect="1"/>
          </p:cNvPicPr>
          <p:nvPr/>
        </p:nvPicPr>
        <p:blipFill>
          <a:blip r:embed="rId3"/>
          <a:stretch>
            <a:fillRect/>
          </a:stretch>
        </p:blipFill>
        <p:spPr>
          <a:xfrm>
            <a:off x="301590" y="1912706"/>
            <a:ext cx="7332110" cy="4089061"/>
          </a:xfrm>
          <a:prstGeom prst="rect">
            <a:avLst/>
          </a:prstGeom>
        </p:spPr>
      </p:pic>
      <p:grpSp>
        <p:nvGrpSpPr>
          <p:cNvPr id="7" name="Group 6"/>
          <p:cNvGrpSpPr/>
          <p:nvPr/>
        </p:nvGrpSpPr>
        <p:grpSpPr>
          <a:xfrm>
            <a:off x="7935292" y="2731665"/>
            <a:ext cx="3951136" cy="2318000"/>
            <a:chOff x="5314950" y="1647825"/>
            <a:chExt cx="6072187" cy="3562350"/>
          </a:xfrm>
        </p:grpSpPr>
        <p:pic>
          <p:nvPicPr>
            <p:cNvPr id="4" name="Picture 3"/>
            <p:cNvPicPr>
              <a:picLocks noChangeAspect="1"/>
            </p:cNvPicPr>
            <p:nvPr/>
          </p:nvPicPr>
          <p:blipFill>
            <a:blip r:embed="rId4"/>
            <a:stretch>
              <a:fillRect/>
            </a:stretch>
          </p:blipFill>
          <p:spPr>
            <a:xfrm>
              <a:off x="5314950" y="1647825"/>
              <a:ext cx="1562100" cy="3562350"/>
            </a:xfrm>
            <a:prstGeom prst="rect">
              <a:avLst/>
            </a:prstGeom>
          </p:spPr>
        </p:pic>
        <p:pic>
          <p:nvPicPr>
            <p:cNvPr id="6" name="Picture 5"/>
            <p:cNvPicPr>
              <a:picLocks noChangeAspect="1"/>
            </p:cNvPicPr>
            <p:nvPr/>
          </p:nvPicPr>
          <p:blipFill>
            <a:blip r:embed="rId5"/>
            <a:stretch>
              <a:fillRect/>
            </a:stretch>
          </p:blipFill>
          <p:spPr>
            <a:xfrm>
              <a:off x="9777412" y="1838325"/>
              <a:ext cx="1609725" cy="3371850"/>
            </a:xfrm>
            <a:prstGeom prst="rect">
              <a:avLst/>
            </a:prstGeom>
          </p:spPr>
        </p:pic>
        <p:pic>
          <p:nvPicPr>
            <p:cNvPr id="9" name="Picture 8"/>
            <p:cNvPicPr>
              <a:picLocks noChangeAspect="1"/>
            </p:cNvPicPr>
            <p:nvPr/>
          </p:nvPicPr>
          <p:blipFill>
            <a:blip r:embed="rId4"/>
            <a:stretch>
              <a:fillRect/>
            </a:stretch>
          </p:blipFill>
          <p:spPr>
            <a:xfrm>
              <a:off x="6877050" y="1647825"/>
              <a:ext cx="1562100" cy="3562350"/>
            </a:xfrm>
            <a:prstGeom prst="rect">
              <a:avLst/>
            </a:prstGeom>
          </p:spPr>
        </p:pic>
        <p:pic>
          <p:nvPicPr>
            <p:cNvPr id="11" name="Picture 10"/>
            <p:cNvPicPr>
              <a:picLocks noChangeAspect="1"/>
            </p:cNvPicPr>
            <p:nvPr/>
          </p:nvPicPr>
          <p:blipFill>
            <a:blip r:embed="rId4"/>
            <a:stretch>
              <a:fillRect/>
            </a:stretch>
          </p:blipFill>
          <p:spPr>
            <a:xfrm>
              <a:off x="8372688" y="1647825"/>
              <a:ext cx="1562100" cy="3562350"/>
            </a:xfrm>
            <a:prstGeom prst="rect">
              <a:avLst/>
            </a:prstGeom>
          </p:spPr>
        </p:pic>
      </p:grpSp>
      <p:sp>
        <p:nvSpPr>
          <p:cNvPr id="8" name="Rectangle 7"/>
          <p:cNvSpPr/>
          <p:nvPr/>
        </p:nvSpPr>
        <p:spPr>
          <a:xfrm>
            <a:off x="8279724" y="1808335"/>
            <a:ext cx="3578832" cy="923330"/>
          </a:xfrm>
          <a:prstGeom prst="rect">
            <a:avLst/>
          </a:prstGeom>
        </p:spPr>
        <p:txBody>
          <a:bodyPr wrap="square">
            <a:spAutoFit/>
          </a:bodyPr>
          <a:lstStyle/>
          <a:p>
            <a:r>
              <a:rPr lang="en-US" dirty="0">
                <a:solidFill>
                  <a:srgbClr val="FF0000"/>
                </a:solidFill>
              </a:rPr>
              <a:t>Mold M6 threaded inserts into each hole at the top of each post (insert from the top side).</a:t>
            </a:r>
            <a:endParaRPr lang="pl-PL" dirty="0">
              <a:solidFill>
                <a:srgbClr val="FF0000"/>
              </a:solidFill>
            </a:endParaRPr>
          </a:p>
        </p:txBody>
      </p:sp>
    </p:spTree>
    <p:extLst>
      <p:ext uri="{BB962C8B-B14F-4D97-AF65-F5344CB8AC3E}">
        <p14:creationId xmlns:p14="http://schemas.microsoft.com/office/powerpoint/2010/main" val="33840155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0" y="-18190"/>
            <a:ext cx="12192000" cy="6858000"/>
          </a:xfrm>
          <a:prstGeom prst="rect">
            <a:avLst/>
          </a:prstGeom>
        </p:spPr>
      </p:pic>
      <p:grpSp>
        <p:nvGrpSpPr>
          <p:cNvPr id="5" name="Group 4"/>
          <p:cNvGrpSpPr/>
          <p:nvPr/>
        </p:nvGrpSpPr>
        <p:grpSpPr>
          <a:xfrm>
            <a:off x="3068548" y="0"/>
            <a:ext cx="7904252" cy="6821620"/>
            <a:chOff x="2514600" y="338137"/>
            <a:chExt cx="7162800" cy="6181725"/>
          </a:xfrm>
        </p:grpSpPr>
        <p:pic>
          <p:nvPicPr>
            <p:cNvPr id="2" name="Picture 1"/>
            <p:cNvPicPr>
              <a:picLocks noChangeAspect="1"/>
            </p:cNvPicPr>
            <p:nvPr/>
          </p:nvPicPr>
          <p:blipFill>
            <a:blip r:embed="rId3"/>
            <a:stretch>
              <a:fillRect/>
            </a:stretch>
          </p:blipFill>
          <p:spPr>
            <a:xfrm>
              <a:off x="2514600" y="338137"/>
              <a:ext cx="7162800" cy="6181725"/>
            </a:xfrm>
            <a:prstGeom prst="rect">
              <a:avLst/>
            </a:prstGeom>
          </p:spPr>
        </p:pic>
        <p:sp>
          <p:nvSpPr>
            <p:cNvPr id="6" name="Down Arrow 5"/>
            <p:cNvSpPr/>
            <p:nvPr/>
          </p:nvSpPr>
          <p:spPr>
            <a:xfrm flipH="1">
              <a:off x="6425439" y="2836896"/>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Down Arrow 6"/>
            <p:cNvSpPr/>
            <p:nvPr/>
          </p:nvSpPr>
          <p:spPr>
            <a:xfrm flipH="1">
              <a:off x="5957096" y="3646842"/>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Down Arrow 7"/>
            <p:cNvSpPr/>
            <p:nvPr/>
          </p:nvSpPr>
          <p:spPr>
            <a:xfrm flipH="1">
              <a:off x="7615529" y="4160549"/>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Down Arrow 8"/>
            <p:cNvSpPr/>
            <p:nvPr/>
          </p:nvSpPr>
          <p:spPr>
            <a:xfrm flipH="1">
              <a:off x="4055848" y="3830635"/>
              <a:ext cx="180000" cy="360000"/>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10" name="TextBox 9"/>
          <p:cNvSpPr txBox="1"/>
          <p:nvPr/>
        </p:nvSpPr>
        <p:spPr>
          <a:xfrm>
            <a:off x="263300" y="1591485"/>
            <a:ext cx="2805248" cy="3323987"/>
          </a:xfrm>
          <a:prstGeom prst="rect">
            <a:avLst/>
          </a:prstGeom>
          <a:noFill/>
        </p:spPr>
        <p:txBody>
          <a:bodyPr wrap="square" rtlCol="0">
            <a:spAutoFit/>
          </a:bodyPr>
          <a:lstStyle/>
          <a:p>
            <a:r>
              <a:rPr lang="en-US" sz="1400" dirty="0"/>
              <a:t>The full assembly is supported by three longer posts and one shorter post (supporting the </a:t>
            </a:r>
            <a:r>
              <a:rPr lang="en-US" sz="1400" dirty="0" err="1"/>
              <a:t>Badal</a:t>
            </a:r>
            <a:r>
              <a:rPr lang="en-US" sz="1400" dirty="0"/>
              <a:t> stage). Posts can be secured to the optical table using standard optical forks. Secure the assembly to the posts using M6 cap screws inserted through the holes in the assembly, threading into the molded inserts at the top of each post.</a:t>
            </a:r>
          </a:p>
          <a:p>
            <a:r>
              <a:rPr lang="en-US" sz="1400" dirty="0"/>
              <a:t>Suggested post positions are shown on the next slide, which presents a bottom view of the assembly with precise post placement labeled (L = long, S = short).</a:t>
            </a:r>
            <a:endParaRPr lang="pl-PL" sz="1400" dirty="0"/>
          </a:p>
        </p:txBody>
      </p:sp>
    </p:spTree>
    <p:extLst>
      <p:ext uri="{BB962C8B-B14F-4D97-AF65-F5344CB8AC3E}">
        <p14:creationId xmlns:p14="http://schemas.microsoft.com/office/powerpoint/2010/main" val="3381181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3" name="Picture 2"/>
          <p:cNvPicPr>
            <a:picLocks noChangeAspect="1"/>
          </p:cNvPicPr>
          <p:nvPr/>
        </p:nvPicPr>
        <p:blipFill>
          <a:blip r:embed="rId3"/>
          <a:stretch>
            <a:fillRect/>
          </a:stretch>
        </p:blipFill>
        <p:spPr>
          <a:xfrm>
            <a:off x="2476500" y="71437"/>
            <a:ext cx="7239000" cy="6715125"/>
          </a:xfrm>
          <a:prstGeom prst="rect">
            <a:avLst/>
          </a:prstGeom>
        </p:spPr>
      </p:pic>
      <p:sp>
        <p:nvSpPr>
          <p:cNvPr id="4" name="Rectangle 3"/>
          <p:cNvSpPr/>
          <p:nvPr/>
        </p:nvSpPr>
        <p:spPr>
          <a:xfrm>
            <a:off x="5273184" y="3799139"/>
            <a:ext cx="314510" cy="461665"/>
          </a:xfrm>
          <a:prstGeom prst="rect">
            <a:avLst/>
          </a:prstGeom>
        </p:spPr>
        <p:txBody>
          <a:bodyPr wrap="none">
            <a:spAutoFit/>
          </a:bodyPr>
          <a:lstStyle/>
          <a:p>
            <a:r>
              <a:rPr lang="pl-PL" sz="2400" b="1" dirty="0">
                <a:solidFill>
                  <a:srgbClr val="FF0000"/>
                </a:solidFill>
              </a:rPr>
              <a:t>L</a:t>
            </a:r>
          </a:p>
        </p:txBody>
      </p:sp>
      <p:sp>
        <p:nvSpPr>
          <p:cNvPr id="11" name="Rectangle 10"/>
          <p:cNvSpPr/>
          <p:nvPr/>
        </p:nvSpPr>
        <p:spPr>
          <a:xfrm>
            <a:off x="7593431" y="4187845"/>
            <a:ext cx="314510" cy="461665"/>
          </a:xfrm>
          <a:prstGeom prst="rect">
            <a:avLst/>
          </a:prstGeom>
        </p:spPr>
        <p:txBody>
          <a:bodyPr wrap="none">
            <a:spAutoFit/>
          </a:bodyPr>
          <a:lstStyle/>
          <a:p>
            <a:r>
              <a:rPr lang="pl-PL" sz="2400" b="1" dirty="0">
                <a:solidFill>
                  <a:srgbClr val="FF0000"/>
                </a:solidFill>
              </a:rPr>
              <a:t>L</a:t>
            </a:r>
          </a:p>
        </p:txBody>
      </p:sp>
      <p:sp>
        <p:nvSpPr>
          <p:cNvPr id="13" name="Rectangle 12"/>
          <p:cNvSpPr/>
          <p:nvPr/>
        </p:nvSpPr>
        <p:spPr>
          <a:xfrm>
            <a:off x="4499198" y="5347112"/>
            <a:ext cx="314510" cy="461665"/>
          </a:xfrm>
          <a:prstGeom prst="rect">
            <a:avLst/>
          </a:prstGeom>
        </p:spPr>
        <p:txBody>
          <a:bodyPr wrap="none">
            <a:spAutoFit/>
          </a:bodyPr>
          <a:lstStyle/>
          <a:p>
            <a:r>
              <a:rPr lang="pl-PL" sz="2400" b="1" dirty="0">
                <a:solidFill>
                  <a:srgbClr val="FF0000"/>
                </a:solidFill>
              </a:rPr>
              <a:t>L</a:t>
            </a:r>
          </a:p>
        </p:txBody>
      </p:sp>
      <p:sp>
        <p:nvSpPr>
          <p:cNvPr id="14" name="Rectangle 13"/>
          <p:cNvSpPr/>
          <p:nvPr/>
        </p:nvSpPr>
        <p:spPr>
          <a:xfrm>
            <a:off x="3716649" y="2263153"/>
            <a:ext cx="330540" cy="461665"/>
          </a:xfrm>
          <a:prstGeom prst="rect">
            <a:avLst/>
          </a:prstGeom>
        </p:spPr>
        <p:txBody>
          <a:bodyPr wrap="none">
            <a:spAutoFit/>
          </a:bodyPr>
          <a:lstStyle/>
          <a:p>
            <a:r>
              <a:rPr lang="pl-PL" sz="2400" b="1" dirty="0">
                <a:solidFill>
                  <a:srgbClr val="FF0000"/>
                </a:solidFill>
              </a:rPr>
              <a:t>S</a:t>
            </a:r>
          </a:p>
        </p:txBody>
      </p:sp>
      <p:sp>
        <p:nvSpPr>
          <p:cNvPr id="15" name="Rectangle 14"/>
          <p:cNvSpPr/>
          <p:nvPr/>
        </p:nvSpPr>
        <p:spPr>
          <a:xfrm>
            <a:off x="1013599" y="840182"/>
            <a:ext cx="1462901" cy="646331"/>
          </a:xfrm>
          <a:prstGeom prst="rect">
            <a:avLst/>
          </a:prstGeom>
        </p:spPr>
        <p:txBody>
          <a:bodyPr wrap="none">
            <a:spAutoFit/>
          </a:bodyPr>
          <a:lstStyle/>
          <a:p>
            <a:r>
              <a:rPr lang="en-US" dirty="0"/>
              <a:t>L = long</a:t>
            </a:r>
            <a:r>
              <a:rPr lang="pl-PL" dirty="0"/>
              <a:t> post</a:t>
            </a:r>
          </a:p>
          <a:p>
            <a:r>
              <a:rPr lang="en-US" dirty="0"/>
              <a:t>S = short</a:t>
            </a:r>
            <a:r>
              <a:rPr lang="pl-PL" dirty="0"/>
              <a:t> post</a:t>
            </a:r>
          </a:p>
        </p:txBody>
      </p:sp>
    </p:spTree>
    <p:extLst>
      <p:ext uri="{BB962C8B-B14F-4D97-AF65-F5344CB8AC3E}">
        <p14:creationId xmlns:p14="http://schemas.microsoft.com/office/powerpoint/2010/main" val="3393071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1647825" y="385762"/>
            <a:ext cx="8896350" cy="6086475"/>
          </a:xfrm>
          <a:prstGeom prst="rect">
            <a:avLst/>
          </a:prstGeom>
        </p:spPr>
      </p:pic>
      <p:sp>
        <p:nvSpPr>
          <p:cNvPr id="12" name="TextBox 11"/>
          <p:cNvSpPr txBox="1"/>
          <p:nvPr/>
        </p:nvSpPr>
        <p:spPr>
          <a:xfrm>
            <a:off x="-2" y="0"/>
            <a:ext cx="12192002" cy="369332"/>
          </a:xfrm>
          <a:prstGeom prst="rect">
            <a:avLst/>
          </a:prstGeom>
          <a:noFill/>
        </p:spPr>
        <p:txBody>
          <a:bodyPr wrap="square" rtlCol="0">
            <a:spAutoFit/>
          </a:bodyPr>
          <a:lstStyle/>
          <a:p>
            <a:r>
              <a:rPr lang="pl-PL" dirty="0"/>
              <a:t>STAGE 1 + STAGE 2 + STAGE 3 + STAGE 4 + STAGE 5 COMPLETE</a:t>
            </a:r>
          </a:p>
        </p:txBody>
      </p:sp>
    </p:spTree>
    <p:extLst>
      <p:ext uri="{BB962C8B-B14F-4D97-AF65-F5344CB8AC3E}">
        <p14:creationId xmlns:p14="http://schemas.microsoft.com/office/powerpoint/2010/main" val="5968909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r="45874" b="64745"/>
          <a:stretch/>
        </p:blipFill>
        <p:spPr>
          <a:xfrm>
            <a:off x="-2" y="0"/>
            <a:ext cx="12192000" cy="6858000"/>
          </a:xfrm>
          <a:prstGeom prst="rect">
            <a:avLst/>
          </a:prstGeom>
        </p:spPr>
      </p:pic>
      <p:sp>
        <p:nvSpPr>
          <p:cNvPr id="3" name="TextBox 2"/>
          <p:cNvSpPr txBox="1"/>
          <p:nvPr/>
        </p:nvSpPr>
        <p:spPr>
          <a:xfrm>
            <a:off x="-2" y="0"/>
            <a:ext cx="12192002" cy="923330"/>
          </a:xfrm>
          <a:prstGeom prst="rect">
            <a:avLst/>
          </a:prstGeom>
          <a:noFill/>
        </p:spPr>
        <p:txBody>
          <a:bodyPr wrap="square" rtlCol="0">
            <a:spAutoFit/>
          </a:bodyPr>
          <a:lstStyle/>
          <a:p>
            <a:r>
              <a:rPr lang="pl-PL" dirty="0"/>
              <a:t>STAGE 1 + STAGE 2 + STAGE 3 + STAGE 4 + STAGE 5 assembly</a:t>
            </a:r>
          </a:p>
          <a:p>
            <a:r>
              <a:rPr lang="pl-PL" dirty="0"/>
              <a:t>1 </a:t>
            </a:r>
            <a:r>
              <a:rPr lang="pl-PL" dirty="0">
                <a:cs typeface="Times New Roman" panose="02020603050405020304" pitchFamily="18" charset="0"/>
              </a:rPr>
              <a:t>× </a:t>
            </a:r>
            <a:r>
              <a:rPr lang="pl-PL" dirty="0"/>
              <a:t>Thorlabs_M45L01 (</a:t>
            </a:r>
            <a:r>
              <a:rPr lang="pl-PL" dirty="0">
                <a:hlinkClick r:id="rId3"/>
              </a:rPr>
              <a:t>https://www.thorlabs.com/thorproduct.cfm?partnumber=M45L01</a:t>
            </a:r>
            <a:r>
              <a:rPr lang="pl-PL" dirty="0"/>
              <a:t>)</a:t>
            </a:r>
          </a:p>
          <a:p>
            <a:r>
              <a:rPr lang="pl-PL" dirty="0"/>
              <a:t>1 </a:t>
            </a:r>
            <a:r>
              <a:rPr lang="pl-PL" dirty="0">
                <a:cs typeface="Times New Roman" panose="02020603050405020304" pitchFamily="18" charset="0"/>
              </a:rPr>
              <a:t>× Chroma_dichroic_mirror (</a:t>
            </a:r>
            <a:r>
              <a:rPr lang="pl-PL" b="1" dirty="0">
                <a:solidFill>
                  <a:srgbClr val="FF0000"/>
                </a:solidFill>
                <a:cs typeface="Times New Roman" panose="02020603050405020304" pitchFamily="18" charset="0"/>
              </a:rPr>
              <a:t>PART NUMBER MISSING</a:t>
            </a:r>
            <a:r>
              <a:rPr lang="pl-PL" dirty="0">
                <a:cs typeface="Times New Roman" panose="02020603050405020304" pitchFamily="18" charset="0"/>
              </a:rPr>
              <a:t>)</a:t>
            </a:r>
            <a:endParaRPr lang="pl-PL" dirty="0"/>
          </a:p>
        </p:txBody>
      </p:sp>
      <p:pic>
        <p:nvPicPr>
          <p:cNvPr id="4" name="Picture 3"/>
          <p:cNvPicPr>
            <a:picLocks noChangeAspect="1"/>
          </p:cNvPicPr>
          <p:nvPr/>
        </p:nvPicPr>
        <p:blipFill>
          <a:blip r:embed="rId4"/>
          <a:stretch>
            <a:fillRect/>
          </a:stretch>
        </p:blipFill>
        <p:spPr>
          <a:xfrm>
            <a:off x="301912" y="1325366"/>
            <a:ext cx="6757085" cy="4622888"/>
          </a:xfrm>
          <a:prstGeom prst="rect">
            <a:avLst/>
          </a:prstGeom>
        </p:spPr>
      </p:pic>
      <p:pic>
        <p:nvPicPr>
          <p:cNvPr id="2" name="Picture 1"/>
          <p:cNvPicPr>
            <a:picLocks noChangeAspect="1"/>
          </p:cNvPicPr>
          <p:nvPr/>
        </p:nvPicPr>
        <p:blipFill>
          <a:blip r:embed="rId5"/>
          <a:stretch>
            <a:fillRect/>
          </a:stretch>
        </p:blipFill>
        <p:spPr>
          <a:xfrm>
            <a:off x="7535613" y="2517169"/>
            <a:ext cx="1645202" cy="1944330"/>
          </a:xfrm>
          <a:prstGeom prst="rect">
            <a:avLst/>
          </a:prstGeom>
        </p:spPr>
      </p:pic>
      <p:pic>
        <p:nvPicPr>
          <p:cNvPr id="5" name="Picture 4"/>
          <p:cNvPicPr>
            <a:picLocks noChangeAspect="1"/>
          </p:cNvPicPr>
          <p:nvPr/>
        </p:nvPicPr>
        <p:blipFill>
          <a:blip r:embed="rId6"/>
          <a:stretch>
            <a:fillRect/>
          </a:stretch>
        </p:blipFill>
        <p:spPr>
          <a:xfrm>
            <a:off x="6912849" y="4456579"/>
            <a:ext cx="2890730" cy="1893711"/>
          </a:xfrm>
          <a:prstGeom prst="rect">
            <a:avLst/>
          </a:prstGeom>
        </p:spPr>
      </p:pic>
    </p:spTree>
    <p:extLst>
      <p:ext uri="{BB962C8B-B14F-4D97-AF65-F5344CB8AC3E}">
        <p14:creationId xmlns:p14="http://schemas.microsoft.com/office/powerpoint/2010/main" val="2099850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2767012" y="228600"/>
            <a:ext cx="6657975" cy="6400800"/>
          </a:xfrm>
          <a:prstGeom prst="rect">
            <a:avLst/>
          </a:prstGeom>
        </p:spPr>
      </p:pic>
      <p:sp>
        <p:nvSpPr>
          <p:cNvPr id="5" name="Down Arrow 4"/>
          <p:cNvSpPr/>
          <p:nvPr/>
        </p:nvSpPr>
        <p:spPr>
          <a:xfrm flipH="1">
            <a:off x="3394726" y="2603238"/>
            <a:ext cx="198633" cy="397265"/>
          </a:xfrm>
          <a:prstGeom prst="down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6" name="Straight Arrow Connector 5"/>
          <p:cNvCxnSpPr/>
          <p:nvPr/>
        </p:nvCxnSpPr>
        <p:spPr>
          <a:xfrm flipH="1">
            <a:off x="7971367" y="1189567"/>
            <a:ext cx="198967" cy="11853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36306" y="1800174"/>
            <a:ext cx="2623354" cy="1200329"/>
          </a:xfrm>
          <a:prstGeom prst="rect">
            <a:avLst/>
          </a:prstGeom>
        </p:spPr>
        <p:txBody>
          <a:bodyPr wrap="square">
            <a:spAutoFit/>
          </a:bodyPr>
          <a:lstStyle/>
          <a:p>
            <a:r>
              <a:rPr lang="pl-PL" dirty="0"/>
              <a:t>Insert the dichroic mirror into designated holder and secure using the screws in the holder.</a:t>
            </a:r>
          </a:p>
        </p:txBody>
      </p:sp>
      <p:sp>
        <p:nvSpPr>
          <p:cNvPr id="10" name="Rectangle 9"/>
          <p:cNvSpPr/>
          <p:nvPr/>
        </p:nvSpPr>
        <p:spPr>
          <a:xfrm>
            <a:off x="8405770" y="1248833"/>
            <a:ext cx="2623354" cy="1477328"/>
          </a:xfrm>
          <a:prstGeom prst="rect">
            <a:avLst/>
          </a:prstGeom>
        </p:spPr>
        <p:txBody>
          <a:bodyPr wrap="square">
            <a:spAutoFit/>
          </a:bodyPr>
          <a:lstStyle/>
          <a:p>
            <a:r>
              <a:rPr lang="pl-PL" dirty="0"/>
              <a:t>Insert the multimode fiber tip into the entry of the stimulus channel. Tighten the screw to the fiber adapter.</a:t>
            </a:r>
          </a:p>
        </p:txBody>
      </p:sp>
      <p:sp>
        <p:nvSpPr>
          <p:cNvPr id="11" name="Rectangle 10"/>
          <p:cNvSpPr/>
          <p:nvPr/>
        </p:nvSpPr>
        <p:spPr>
          <a:xfrm>
            <a:off x="536306" y="4875074"/>
            <a:ext cx="2623354" cy="1754326"/>
          </a:xfrm>
          <a:prstGeom prst="rect">
            <a:avLst/>
          </a:prstGeom>
        </p:spPr>
        <p:txBody>
          <a:bodyPr wrap="square">
            <a:spAutoFit/>
          </a:bodyPr>
          <a:lstStyle/>
          <a:p>
            <a:r>
              <a:rPr lang="pl-PL" dirty="0"/>
              <a:t>After inserting the fiber and the dichroic mirror you may proceed to final alignment of the optics. The stimulus-fixation channel is now ready.</a:t>
            </a:r>
          </a:p>
        </p:txBody>
      </p:sp>
    </p:spTree>
    <p:extLst>
      <p:ext uri="{BB962C8B-B14F-4D97-AF65-F5344CB8AC3E}">
        <p14:creationId xmlns:p14="http://schemas.microsoft.com/office/powerpoint/2010/main" val="24572922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3" name="Picture 2"/>
          <p:cNvPicPr>
            <a:picLocks noChangeAspect="1"/>
          </p:cNvPicPr>
          <p:nvPr/>
        </p:nvPicPr>
        <p:blipFill>
          <a:blip r:embed="rId3"/>
          <a:stretch>
            <a:fillRect/>
          </a:stretch>
        </p:blipFill>
        <p:spPr>
          <a:xfrm>
            <a:off x="808666" y="0"/>
            <a:ext cx="10574668" cy="6858000"/>
          </a:xfrm>
          <a:prstGeom prst="rect">
            <a:avLst/>
          </a:prstGeom>
        </p:spPr>
      </p:pic>
      <p:sp>
        <p:nvSpPr>
          <p:cNvPr id="12" name="TextBox 11"/>
          <p:cNvSpPr txBox="1"/>
          <p:nvPr/>
        </p:nvSpPr>
        <p:spPr>
          <a:xfrm>
            <a:off x="-2" y="0"/>
            <a:ext cx="12192002" cy="369332"/>
          </a:xfrm>
          <a:prstGeom prst="rect">
            <a:avLst/>
          </a:prstGeom>
          <a:noFill/>
        </p:spPr>
        <p:txBody>
          <a:bodyPr wrap="square" rtlCol="0">
            <a:spAutoFit/>
          </a:bodyPr>
          <a:lstStyle/>
          <a:p>
            <a:r>
              <a:rPr lang="pl-PL" dirty="0"/>
              <a:t>FULL ASSEMBLY COMPLETE</a:t>
            </a:r>
          </a:p>
        </p:txBody>
      </p:sp>
    </p:spTree>
    <p:extLst>
      <p:ext uri="{BB962C8B-B14F-4D97-AF65-F5344CB8AC3E}">
        <p14:creationId xmlns:p14="http://schemas.microsoft.com/office/powerpoint/2010/main" val="3481855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2524164" y="-712"/>
            <a:ext cx="7143673" cy="6858712"/>
          </a:xfrm>
          <a:prstGeom prst="rect">
            <a:avLst/>
          </a:prstGeom>
        </p:spPr>
      </p:pic>
      <p:sp>
        <p:nvSpPr>
          <p:cNvPr id="12" name="TextBox 11"/>
          <p:cNvSpPr txBox="1"/>
          <p:nvPr/>
        </p:nvSpPr>
        <p:spPr>
          <a:xfrm>
            <a:off x="-2" y="0"/>
            <a:ext cx="12192002" cy="369332"/>
          </a:xfrm>
          <a:prstGeom prst="rect">
            <a:avLst/>
          </a:prstGeom>
          <a:noFill/>
        </p:spPr>
        <p:txBody>
          <a:bodyPr wrap="square" rtlCol="0">
            <a:spAutoFit/>
          </a:bodyPr>
          <a:lstStyle/>
          <a:p>
            <a:r>
              <a:rPr lang="pl-PL" dirty="0"/>
              <a:t>FULL ASSEMBLY COMPLETE</a:t>
            </a:r>
          </a:p>
        </p:txBody>
      </p:sp>
    </p:spTree>
    <p:extLst>
      <p:ext uri="{BB962C8B-B14F-4D97-AF65-F5344CB8AC3E}">
        <p14:creationId xmlns:p14="http://schemas.microsoft.com/office/powerpoint/2010/main" val="24914934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4" name="Picture 3"/>
          <p:cNvPicPr>
            <a:picLocks noChangeAspect="1"/>
          </p:cNvPicPr>
          <p:nvPr/>
        </p:nvPicPr>
        <p:blipFill>
          <a:blip r:embed="rId3"/>
          <a:stretch>
            <a:fillRect/>
          </a:stretch>
        </p:blipFill>
        <p:spPr>
          <a:xfrm>
            <a:off x="1057008" y="0"/>
            <a:ext cx="10077984" cy="6858000"/>
          </a:xfrm>
          <a:prstGeom prst="rect">
            <a:avLst/>
          </a:prstGeom>
        </p:spPr>
      </p:pic>
      <p:sp>
        <p:nvSpPr>
          <p:cNvPr id="12" name="TextBox 11"/>
          <p:cNvSpPr txBox="1"/>
          <p:nvPr/>
        </p:nvSpPr>
        <p:spPr>
          <a:xfrm>
            <a:off x="-2" y="0"/>
            <a:ext cx="12192002" cy="369332"/>
          </a:xfrm>
          <a:prstGeom prst="rect">
            <a:avLst/>
          </a:prstGeom>
          <a:noFill/>
        </p:spPr>
        <p:txBody>
          <a:bodyPr wrap="square" rtlCol="0">
            <a:spAutoFit/>
          </a:bodyPr>
          <a:lstStyle/>
          <a:p>
            <a:r>
              <a:rPr lang="pl-PL" dirty="0"/>
              <a:t>FULL ASSEMBLY COMPLETE</a:t>
            </a:r>
          </a:p>
        </p:txBody>
      </p:sp>
    </p:spTree>
    <p:extLst>
      <p:ext uri="{BB962C8B-B14F-4D97-AF65-F5344CB8AC3E}">
        <p14:creationId xmlns:p14="http://schemas.microsoft.com/office/powerpoint/2010/main" val="4249360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r="45874" b="64745"/>
          <a:stretch/>
        </p:blipFill>
        <p:spPr>
          <a:xfrm>
            <a:off x="0" y="0"/>
            <a:ext cx="12192000" cy="6858000"/>
          </a:xfrm>
          <a:prstGeom prst="rect">
            <a:avLst/>
          </a:prstGeom>
        </p:spPr>
      </p:pic>
      <p:pic>
        <p:nvPicPr>
          <p:cNvPr id="2" name="Picture 1"/>
          <p:cNvPicPr>
            <a:picLocks noChangeAspect="1"/>
          </p:cNvPicPr>
          <p:nvPr/>
        </p:nvPicPr>
        <p:blipFill>
          <a:blip r:embed="rId3"/>
          <a:stretch>
            <a:fillRect/>
          </a:stretch>
        </p:blipFill>
        <p:spPr>
          <a:xfrm>
            <a:off x="1877875" y="0"/>
            <a:ext cx="8436249" cy="6858000"/>
          </a:xfrm>
          <a:prstGeom prst="rect">
            <a:avLst/>
          </a:prstGeom>
        </p:spPr>
      </p:pic>
      <p:sp>
        <p:nvSpPr>
          <p:cNvPr id="12" name="TextBox 11"/>
          <p:cNvSpPr txBox="1"/>
          <p:nvPr/>
        </p:nvSpPr>
        <p:spPr>
          <a:xfrm>
            <a:off x="-2" y="0"/>
            <a:ext cx="12192002" cy="369332"/>
          </a:xfrm>
          <a:prstGeom prst="rect">
            <a:avLst/>
          </a:prstGeom>
          <a:noFill/>
        </p:spPr>
        <p:txBody>
          <a:bodyPr wrap="square" rtlCol="0">
            <a:spAutoFit/>
          </a:bodyPr>
          <a:lstStyle/>
          <a:p>
            <a:r>
              <a:rPr lang="pl-PL" dirty="0"/>
              <a:t>FULL ASSEMBLY COMPLETE</a:t>
            </a:r>
          </a:p>
        </p:txBody>
      </p:sp>
    </p:spTree>
    <p:extLst>
      <p:ext uri="{BB962C8B-B14F-4D97-AF65-F5344CB8AC3E}">
        <p14:creationId xmlns:p14="http://schemas.microsoft.com/office/powerpoint/2010/main" val="1765682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14357</TotalTime>
  <Words>2843</Words>
  <Application>Microsoft Office PowerPoint</Application>
  <PresentationFormat>Laajakuva</PresentationFormat>
  <Paragraphs>242</Paragraphs>
  <Slides>64</Slides>
  <Notes>0</Notes>
  <HiddenSlides>0</HiddenSlides>
  <MMClips>0</MMClips>
  <ScaleCrop>false</ScaleCrop>
  <HeadingPairs>
    <vt:vector size="6" baseType="variant">
      <vt:variant>
        <vt:lpstr>Käytetyt fontit</vt:lpstr>
      </vt:variant>
      <vt:variant>
        <vt:i4>4</vt:i4>
      </vt:variant>
      <vt:variant>
        <vt:lpstr>Teema</vt:lpstr>
      </vt:variant>
      <vt:variant>
        <vt:i4>1</vt:i4>
      </vt:variant>
      <vt:variant>
        <vt:lpstr>Dian otsikot</vt:lpstr>
      </vt:variant>
      <vt:variant>
        <vt:i4>64</vt:i4>
      </vt:variant>
    </vt:vector>
  </HeadingPairs>
  <TitlesOfParts>
    <vt:vector size="69" baseType="lpstr">
      <vt:lpstr>Arial</vt:lpstr>
      <vt:lpstr>Calibri</vt:lpstr>
      <vt:lpstr>Calibri Light</vt:lpstr>
      <vt:lpstr>Times New Roman</vt:lpstr>
      <vt:lpstr>Office Theme</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lpstr>PowerPoint-esitys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MMB</dc:creator>
  <cp:lastModifiedBy>Kari Vienola</cp:lastModifiedBy>
  <cp:revision>196</cp:revision>
  <dcterms:created xsi:type="dcterms:W3CDTF">2024-05-01T23:45:03Z</dcterms:created>
  <dcterms:modified xsi:type="dcterms:W3CDTF">2026-09-14T13:56:18Z</dcterms:modified>
</cp:coreProperties>
</file>